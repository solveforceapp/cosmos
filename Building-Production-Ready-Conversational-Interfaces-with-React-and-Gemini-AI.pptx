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4630400" cy="8229600"/>
  <p:notesSz cx="8229600" cy="14630400"/>
  <p:embeddedFontLst>
    <p:embeddedFont>
      <p:font typeface="Readex Pro"/>
      <p:regular r:id="rId67"/>
    </p:embeddedFont>
    <p:embeddedFont>
      <p:font typeface="Readex Pro"/>
      <p:regular r:id="rId68"/>
    </p:embeddedFont>
    <p:embeddedFont>
      <p:font typeface="Readex Pro Light"/>
      <p:regular r:id="rId69"/>
    </p:embeddedFont>
    <p:embeddedFont>
      <p:font typeface="Readex Pro Light"/>
      <p:regular r:id="rId7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 Id="rId67" Type="http://schemas.openxmlformats.org/officeDocument/2006/relationships/font" Target="fonts/font1.fntdata"/><Relationship Id="rId68" Type="http://schemas.openxmlformats.org/officeDocument/2006/relationships/font" Target="fonts/font2.fntdata"/><Relationship Id="rId69" Type="http://schemas.openxmlformats.org/officeDocument/2006/relationships/font" Target="fonts/font3.fntdata"/><Relationship Id="rId7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3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lide 3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lide 3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lide 3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lide 4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lide 4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lide 4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lide 4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lide 4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lide 4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lide 4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lide 4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lide 4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lide 4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lide 5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lide 5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lide 5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lide 5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lide 5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lide 5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lide 5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lide 5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lide 5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lide 5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lide 6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DFBFF"/>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28.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chunk.web.uri}" TargetMode="External"/><Relationship Id="rId2" Type="http://schemas.openxmlformats.org/officeDocument/2006/relationships/hyperlink" Target="{chunk.maps.uri}" TargetMode="External"/><Relationship Id="rId3" Type="http://schemas.openxmlformats.org/officeDocument/2006/relationships/slideLayout" Target="../slideLayouts/slideLayout3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7.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9.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46.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48.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slideLayout" Target="../slideLayouts/slideLayout50.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image" Target="../media/image-53-6.png"/><Relationship Id="rId7" Type="http://schemas.openxmlformats.org/officeDocument/2006/relationships/slideLayout" Target="../slideLayouts/slideLayout54.xml"/><Relationship Id="rId8"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slideLayout" Target="../slideLayouts/slideLayout57.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137535"/>
            <a:ext cx="13042821" cy="1240155"/>
          </a:xfrm>
          <a:prstGeom prst="rect">
            <a:avLst/>
          </a:prstGeom>
          <a:noFill/>
          <a:ln/>
        </p:spPr>
        <p:txBody>
          <a:bodyPr wrap="square" lIns="0" tIns="0" rIns="0" bIns="0" rtlCol="0" anchor="t"/>
          <a:lstStyle/>
          <a:p>
            <a:pPr algn="l" indent="0" marL="0">
              <a:lnSpc>
                <a:spcPts val="4850"/>
              </a:lnSpc>
              <a:buNone/>
            </a:pPr>
            <a:r>
              <a:rPr lang="en-US" sz="3900" dirty="0">
                <a:solidFill>
                  <a:srgbClr val="111111"/>
                </a:solidFill>
                <a:latin typeface="Readex Pro" pitchFamily="34" charset="0"/>
                <a:ea typeface="Readex Pro" pitchFamily="34" charset="-122"/>
                <a:cs typeface="Readex Pro" pitchFamily="34" charset="-120"/>
              </a:rPr>
              <a:t>Building Production-Ready Conversational Interfaces with React and Gemini AI</a:t>
            </a:r>
            <a:endParaRPr lang="en-US" sz="3900" dirty="0"/>
          </a:p>
        </p:txBody>
      </p:sp>
      <p:sp>
        <p:nvSpPr>
          <p:cNvPr id="3" name="Text 1"/>
          <p:cNvSpPr/>
          <p:nvPr/>
        </p:nvSpPr>
        <p:spPr>
          <a:xfrm>
            <a:off x="793790" y="477452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 comprehensive guide to implementing streaming chat experiences with grounding, location awareness, and sophisticated UI patterns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61430"/>
            <a:ext cx="4471154"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What We'll Cover Today</a:t>
            </a:r>
            <a:endParaRPr lang="en-US" sz="3100" dirty="0"/>
          </a:p>
        </p:txBody>
      </p:sp>
      <p:sp>
        <p:nvSpPr>
          <p:cNvPr id="3" name="Text 1"/>
          <p:cNvSpPr/>
          <p:nvPr/>
        </p:nvSpPr>
        <p:spPr>
          <a:xfrm>
            <a:off x="793790" y="1854398"/>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01</a:t>
            </a:r>
            <a:endParaRPr lang="en-US" sz="1550" dirty="0"/>
          </a:p>
        </p:txBody>
      </p:sp>
      <p:pic>
        <p:nvPicPr>
          <p:cNvPr id="4" name="Image 0" descr="preencoded.png">    </p:cNvPr>
          <p:cNvPicPr>
            <a:picLocks noChangeAspect="1"/>
          </p:cNvPicPr>
          <p:nvPr/>
        </p:nvPicPr>
        <p:blipFill>
          <a:blip r:embed="rId1"/>
          <a:stretch>
            <a:fillRect/>
          </a:stretch>
        </p:blipFill>
        <p:spPr>
          <a:xfrm>
            <a:off x="793790" y="2168723"/>
            <a:ext cx="6422231" cy="22860"/>
          </a:xfrm>
          <a:prstGeom prst="rect">
            <a:avLst/>
          </a:prstGeom>
        </p:spPr>
      </p:pic>
      <p:sp>
        <p:nvSpPr>
          <p:cNvPr id="5" name="Text 2"/>
          <p:cNvSpPr/>
          <p:nvPr/>
        </p:nvSpPr>
        <p:spPr>
          <a:xfrm>
            <a:off x="793790" y="2313623"/>
            <a:ext cx="2686169"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Architecture Overview</a:t>
            </a:r>
            <a:endParaRPr lang="en-US" sz="1950" dirty="0"/>
          </a:p>
        </p:txBody>
      </p:sp>
      <p:sp>
        <p:nvSpPr>
          <p:cNvPr id="6" name="Text 3"/>
          <p:cNvSpPr/>
          <p:nvPr/>
        </p:nvSpPr>
        <p:spPr>
          <a:xfrm>
            <a:off x="793790" y="2742843"/>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Understanding the conversational interface pattern and its role in modern applications</a:t>
            </a:r>
            <a:endParaRPr lang="en-US" sz="1550" dirty="0"/>
          </a:p>
        </p:txBody>
      </p:sp>
      <p:sp>
        <p:nvSpPr>
          <p:cNvPr id="7" name="Text 4"/>
          <p:cNvSpPr/>
          <p:nvPr/>
        </p:nvSpPr>
        <p:spPr>
          <a:xfrm>
            <a:off x="7414379" y="1854398"/>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02</a:t>
            </a:r>
            <a:endParaRPr lang="en-US" sz="1550" dirty="0"/>
          </a:p>
        </p:txBody>
      </p:sp>
      <p:pic>
        <p:nvPicPr>
          <p:cNvPr id="8" name="Image 1" descr="preencoded.png">    </p:cNvPr>
          <p:cNvPicPr>
            <a:picLocks noChangeAspect="1"/>
          </p:cNvPicPr>
          <p:nvPr/>
        </p:nvPicPr>
        <p:blipFill>
          <a:blip r:embed="rId2"/>
          <a:stretch>
            <a:fillRect/>
          </a:stretch>
        </p:blipFill>
        <p:spPr>
          <a:xfrm>
            <a:off x="7414379" y="2168723"/>
            <a:ext cx="6422231" cy="22860"/>
          </a:xfrm>
          <a:prstGeom prst="rect">
            <a:avLst/>
          </a:prstGeom>
        </p:spPr>
      </p:pic>
      <p:sp>
        <p:nvSpPr>
          <p:cNvPr id="9" name="Text 5"/>
          <p:cNvSpPr/>
          <p:nvPr/>
        </p:nvSpPr>
        <p:spPr>
          <a:xfrm>
            <a:off x="7414379" y="2313623"/>
            <a:ext cx="255079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Core Implementation</a:t>
            </a:r>
            <a:endParaRPr lang="en-US" sz="1950" dirty="0"/>
          </a:p>
        </p:txBody>
      </p:sp>
      <p:sp>
        <p:nvSpPr>
          <p:cNvPr id="10" name="Text 6"/>
          <p:cNvSpPr/>
          <p:nvPr/>
        </p:nvSpPr>
        <p:spPr>
          <a:xfrm>
            <a:off x="7414379" y="2742843"/>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Building the foundation with React hooks, state management, and real-time streaming</a:t>
            </a:r>
            <a:endParaRPr lang="en-US" sz="1550" dirty="0"/>
          </a:p>
        </p:txBody>
      </p:sp>
      <p:sp>
        <p:nvSpPr>
          <p:cNvPr id="11" name="Text 7"/>
          <p:cNvSpPr/>
          <p:nvPr/>
        </p:nvSpPr>
        <p:spPr>
          <a:xfrm>
            <a:off x="793790" y="3725108"/>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03</a:t>
            </a:r>
            <a:endParaRPr lang="en-US" sz="1550" dirty="0"/>
          </a:p>
        </p:txBody>
      </p:sp>
      <p:pic>
        <p:nvPicPr>
          <p:cNvPr id="12" name="Image 2" descr="preencoded.png">    </p:cNvPr>
          <p:cNvPicPr>
            <a:picLocks noChangeAspect="1"/>
          </p:cNvPicPr>
          <p:nvPr/>
        </p:nvPicPr>
        <p:blipFill>
          <a:blip r:embed="rId3"/>
          <a:stretch>
            <a:fillRect/>
          </a:stretch>
        </p:blipFill>
        <p:spPr>
          <a:xfrm>
            <a:off x="793790" y="4019550"/>
            <a:ext cx="6422231" cy="22860"/>
          </a:xfrm>
          <a:prstGeom prst="rect">
            <a:avLst/>
          </a:prstGeom>
        </p:spPr>
      </p:pic>
      <p:sp>
        <p:nvSpPr>
          <p:cNvPr id="13" name="Text 8"/>
          <p:cNvSpPr/>
          <p:nvPr/>
        </p:nvSpPr>
        <p:spPr>
          <a:xfrm>
            <a:off x="793790" y="418433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Advanced Features</a:t>
            </a:r>
            <a:endParaRPr lang="en-US" sz="1950" dirty="0"/>
          </a:p>
        </p:txBody>
      </p:sp>
      <p:sp>
        <p:nvSpPr>
          <p:cNvPr id="14" name="Text 9"/>
          <p:cNvSpPr/>
          <p:nvPr/>
        </p:nvSpPr>
        <p:spPr>
          <a:xfrm>
            <a:off x="793790" y="4613553"/>
            <a:ext cx="642223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Integrating Google Search, Maps, and location-aware capabilities</a:t>
            </a:r>
            <a:endParaRPr lang="en-US" sz="1550" dirty="0"/>
          </a:p>
        </p:txBody>
      </p:sp>
      <p:sp>
        <p:nvSpPr>
          <p:cNvPr id="15" name="Text 10"/>
          <p:cNvSpPr/>
          <p:nvPr/>
        </p:nvSpPr>
        <p:spPr>
          <a:xfrm>
            <a:off x="7414379" y="3725108"/>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04</a:t>
            </a:r>
            <a:endParaRPr lang="en-US" sz="1550" dirty="0"/>
          </a:p>
        </p:txBody>
      </p:sp>
      <p:pic>
        <p:nvPicPr>
          <p:cNvPr id="16" name="Image 3" descr="preencoded.png">    </p:cNvPr>
          <p:cNvPicPr>
            <a:picLocks noChangeAspect="1"/>
          </p:cNvPicPr>
          <p:nvPr/>
        </p:nvPicPr>
        <p:blipFill>
          <a:blip r:embed="rId4"/>
          <a:stretch>
            <a:fillRect/>
          </a:stretch>
        </p:blipFill>
        <p:spPr>
          <a:xfrm>
            <a:off x="7414379" y="4019550"/>
            <a:ext cx="6422231" cy="22860"/>
          </a:xfrm>
          <a:prstGeom prst="rect">
            <a:avLst/>
          </a:prstGeom>
        </p:spPr>
      </p:pic>
      <p:sp>
        <p:nvSpPr>
          <p:cNvPr id="17" name="Text 11"/>
          <p:cNvSpPr/>
          <p:nvPr/>
        </p:nvSpPr>
        <p:spPr>
          <a:xfrm>
            <a:off x="7414379" y="418433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UI/UX Patterns</a:t>
            </a:r>
            <a:endParaRPr lang="en-US" sz="1950" dirty="0"/>
          </a:p>
        </p:txBody>
      </p:sp>
      <p:sp>
        <p:nvSpPr>
          <p:cNvPr id="18" name="Text 12"/>
          <p:cNvSpPr/>
          <p:nvPr/>
        </p:nvSpPr>
        <p:spPr>
          <a:xfrm>
            <a:off x="7414379" y="4613553"/>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Creating polished interfaces with markdown rendering, grounding citations, and loading states</a:t>
            </a:r>
            <a:endParaRPr lang="en-US" sz="1550" dirty="0"/>
          </a:p>
        </p:txBody>
      </p:sp>
      <p:sp>
        <p:nvSpPr>
          <p:cNvPr id="19" name="Text 13"/>
          <p:cNvSpPr/>
          <p:nvPr/>
        </p:nvSpPr>
        <p:spPr>
          <a:xfrm>
            <a:off x="793790" y="5595818"/>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05</a:t>
            </a:r>
            <a:endParaRPr lang="en-US" sz="1550" dirty="0"/>
          </a:p>
        </p:txBody>
      </p:sp>
      <p:pic>
        <p:nvPicPr>
          <p:cNvPr id="20" name="Image 4" descr="preencoded.png">    </p:cNvPr>
          <p:cNvPicPr>
            <a:picLocks noChangeAspect="1"/>
          </p:cNvPicPr>
          <p:nvPr/>
        </p:nvPicPr>
        <p:blipFill>
          <a:blip r:embed="rId5"/>
          <a:stretch>
            <a:fillRect/>
          </a:stretch>
        </p:blipFill>
        <p:spPr>
          <a:xfrm>
            <a:off x="793790" y="5870496"/>
            <a:ext cx="6422231" cy="22860"/>
          </a:xfrm>
          <a:prstGeom prst="rect">
            <a:avLst/>
          </a:prstGeom>
        </p:spPr>
      </p:pic>
      <p:sp>
        <p:nvSpPr>
          <p:cNvPr id="21" name="Text 14"/>
          <p:cNvSpPr/>
          <p:nvPr/>
        </p:nvSpPr>
        <p:spPr>
          <a:xfrm>
            <a:off x="793790" y="605504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Error Handling</a:t>
            </a:r>
            <a:endParaRPr lang="en-US" sz="1950" dirty="0"/>
          </a:p>
        </p:txBody>
      </p:sp>
      <p:sp>
        <p:nvSpPr>
          <p:cNvPr id="22" name="Text 15"/>
          <p:cNvSpPr/>
          <p:nvPr/>
        </p:nvSpPr>
        <p:spPr>
          <a:xfrm>
            <a:off x="793790" y="6484263"/>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Building resilient experiences with graceful degradation and user feedback</a:t>
            </a:r>
            <a:endParaRPr lang="en-US" sz="1550" dirty="0"/>
          </a:p>
        </p:txBody>
      </p:sp>
      <p:sp>
        <p:nvSpPr>
          <p:cNvPr id="23" name="Text 16"/>
          <p:cNvSpPr/>
          <p:nvPr/>
        </p:nvSpPr>
        <p:spPr>
          <a:xfrm>
            <a:off x="7414379" y="5595818"/>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06</a:t>
            </a:r>
            <a:endParaRPr lang="en-US" sz="1550" dirty="0"/>
          </a:p>
        </p:txBody>
      </p:sp>
      <p:pic>
        <p:nvPicPr>
          <p:cNvPr id="24" name="Image 5" descr="preencoded.png">    </p:cNvPr>
          <p:cNvPicPr>
            <a:picLocks noChangeAspect="1"/>
          </p:cNvPicPr>
          <p:nvPr/>
        </p:nvPicPr>
        <p:blipFill>
          <a:blip r:embed="rId6"/>
          <a:stretch>
            <a:fillRect/>
          </a:stretch>
        </p:blipFill>
        <p:spPr>
          <a:xfrm>
            <a:off x="7414379" y="5890260"/>
            <a:ext cx="6422231" cy="22860"/>
          </a:xfrm>
          <a:prstGeom prst="rect">
            <a:avLst/>
          </a:prstGeom>
        </p:spPr>
      </p:pic>
      <p:sp>
        <p:nvSpPr>
          <p:cNvPr id="25" name="Text 17"/>
          <p:cNvSpPr/>
          <p:nvPr/>
        </p:nvSpPr>
        <p:spPr>
          <a:xfrm>
            <a:off x="7414379" y="6055043"/>
            <a:ext cx="3150751"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Production Considerations</a:t>
            </a:r>
            <a:endParaRPr lang="en-US" sz="1950" dirty="0"/>
          </a:p>
        </p:txBody>
      </p:sp>
      <p:sp>
        <p:nvSpPr>
          <p:cNvPr id="26" name="Text 18"/>
          <p:cNvSpPr/>
          <p:nvPr/>
        </p:nvSpPr>
        <p:spPr>
          <a:xfrm>
            <a:off x="7414379" y="6484263"/>
            <a:ext cx="642223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Security, performance optimization, and deployment best practices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595557"/>
            <a:ext cx="7126010"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The Rise of Conversational Interfaces</a:t>
            </a:r>
            <a:endParaRPr lang="en-US" sz="3100" dirty="0"/>
          </a:p>
        </p:txBody>
      </p:sp>
      <p:sp>
        <p:nvSpPr>
          <p:cNvPr id="3" name="Text 1"/>
          <p:cNvSpPr/>
          <p:nvPr/>
        </p:nvSpPr>
        <p:spPr>
          <a:xfrm>
            <a:off x="793790" y="2488525"/>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Conversational interfaces represent a fundamental shift in how users interact with applications. Rather than navigating through menus and forms, users express intent naturally through dialogue. This pattern has become increasingly important as large language models enable sophisticated understanding and generation of human-like responses.</a:t>
            </a:r>
            <a:endParaRPr lang="en-US" sz="1550" dirty="0"/>
          </a:p>
        </p:txBody>
      </p:sp>
      <p:sp>
        <p:nvSpPr>
          <p:cNvPr id="4" name="Text 2"/>
          <p:cNvSpPr/>
          <p:nvPr/>
        </p:nvSpPr>
        <p:spPr>
          <a:xfrm>
            <a:off x="793790" y="3664387"/>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implementation we're examining today demonstrates a production-ready approach to building these interfaces using React and Google's Gemini AI platform. It showcases several critical patterns including streaming responses for perceived performance, tool integration for enhanced capabilities, and sophisticated state management for handling complex conversational flows.</a:t>
            </a:r>
            <a:endParaRPr lang="en-US" sz="1550" dirty="0"/>
          </a:p>
        </p:txBody>
      </p:sp>
      <p:sp>
        <p:nvSpPr>
          <p:cNvPr id="5" name="Shape 3"/>
          <p:cNvSpPr/>
          <p:nvPr/>
        </p:nvSpPr>
        <p:spPr>
          <a:xfrm>
            <a:off x="793790" y="4840248"/>
            <a:ext cx="4215289" cy="1793796"/>
          </a:xfrm>
          <a:prstGeom prst="roundRect">
            <a:avLst>
              <a:gd name="adj" fmla="val 995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6" name="Text 4"/>
          <p:cNvSpPr/>
          <p:nvPr/>
        </p:nvSpPr>
        <p:spPr>
          <a:xfrm>
            <a:off x="999768" y="504622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Natural Interaction</a:t>
            </a:r>
            <a:endParaRPr lang="en-US" sz="1950" dirty="0"/>
          </a:p>
        </p:txBody>
      </p:sp>
      <p:sp>
        <p:nvSpPr>
          <p:cNvPr id="7" name="Text 5"/>
          <p:cNvSpPr/>
          <p:nvPr/>
        </p:nvSpPr>
        <p:spPr>
          <a:xfrm>
            <a:off x="999768" y="5475446"/>
            <a:ext cx="3803333"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Users communicate intent through natural language rather than learning complex UI patterns</a:t>
            </a:r>
            <a:endParaRPr lang="en-US" sz="1550" dirty="0"/>
          </a:p>
        </p:txBody>
      </p:sp>
      <p:sp>
        <p:nvSpPr>
          <p:cNvPr id="8" name="Shape 6"/>
          <p:cNvSpPr/>
          <p:nvPr/>
        </p:nvSpPr>
        <p:spPr>
          <a:xfrm>
            <a:off x="5207437" y="4840248"/>
            <a:ext cx="4215408" cy="1793796"/>
          </a:xfrm>
          <a:prstGeom prst="roundRect">
            <a:avLst>
              <a:gd name="adj" fmla="val 995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9" name="Text 7"/>
          <p:cNvSpPr/>
          <p:nvPr/>
        </p:nvSpPr>
        <p:spPr>
          <a:xfrm>
            <a:off x="5413415" y="504622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Context Awareness</a:t>
            </a:r>
            <a:endParaRPr lang="en-US" sz="1950" dirty="0"/>
          </a:p>
        </p:txBody>
      </p:sp>
      <p:sp>
        <p:nvSpPr>
          <p:cNvPr id="10" name="Text 8"/>
          <p:cNvSpPr/>
          <p:nvPr/>
        </p:nvSpPr>
        <p:spPr>
          <a:xfrm>
            <a:off x="5413415" y="5475446"/>
            <a:ext cx="3803452"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Conversations maintain context across multiple turns, enabling more sophisticated interactions</a:t>
            </a:r>
            <a:endParaRPr lang="en-US" sz="1550" dirty="0"/>
          </a:p>
        </p:txBody>
      </p:sp>
      <p:sp>
        <p:nvSpPr>
          <p:cNvPr id="11" name="Shape 9"/>
          <p:cNvSpPr/>
          <p:nvPr/>
        </p:nvSpPr>
        <p:spPr>
          <a:xfrm>
            <a:off x="9621203" y="4840248"/>
            <a:ext cx="4215289" cy="1793796"/>
          </a:xfrm>
          <a:prstGeom prst="roundRect">
            <a:avLst>
              <a:gd name="adj" fmla="val 995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2" name="Text 10"/>
          <p:cNvSpPr/>
          <p:nvPr/>
        </p:nvSpPr>
        <p:spPr>
          <a:xfrm>
            <a:off x="9827181" y="5046226"/>
            <a:ext cx="260663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Enhanced Capabilities</a:t>
            </a:r>
            <a:endParaRPr lang="en-US" sz="1950" dirty="0"/>
          </a:p>
        </p:txBody>
      </p:sp>
      <p:sp>
        <p:nvSpPr>
          <p:cNvPr id="13" name="Text 11"/>
          <p:cNvSpPr/>
          <p:nvPr/>
        </p:nvSpPr>
        <p:spPr>
          <a:xfrm>
            <a:off x="9827181" y="5475446"/>
            <a:ext cx="3803333"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Integration with tools like search and maps provides capabilities beyond simple chat</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332786"/>
            <a:ext cx="6903006"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Component Architecture at a Glance</a:t>
            </a:r>
            <a:endParaRPr lang="en-US" sz="3100" dirty="0"/>
          </a:p>
        </p:txBody>
      </p:sp>
      <p:sp>
        <p:nvSpPr>
          <p:cNvPr id="3" name="Text 1"/>
          <p:cNvSpPr/>
          <p:nvPr/>
        </p:nvSpPr>
        <p:spPr>
          <a:xfrm>
            <a:off x="793790" y="2225754"/>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conversational interface is built as a self-contained React component that manages its own state, API interactions, and rendering logic. This encapsulation makes it highly reusable and maintainable. The architecture follows React best practices with hooks for state management, refs for performance optimization, and careful separation of concerns.</a:t>
            </a:r>
            <a:endParaRPr lang="en-US" sz="1550" dirty="0"/>
          </a:p>
        </p:txBody>
      </p:sp>
      <p:sp>
        <p:nvSpPr>
          <p:cNvPr id="4" name="Text 2"/>
          <p:cNvSpPr/>
          <p:nvPr/>
        </p:nvSpPr>
        <p:spPr>
          <a:xfrm>
            <a:off x="793790" y="359997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State Management</a:t>
            </a:r>
            <a:endParaRPr lang="en-US" sz="1950" dirty="0"/>
          </a:p>
        </p:txBody>
      </p:sp>
      <p:sp>
        <p:nvSpPr>
          <p:cNvPr id="5" name="Text 3"/>
          <p:cNvSpPr/>
          <p:nvPr/>
        </p:nvSpPr>
        <p:spPr>
          <a:xfrm>
            <a:off x="793790" y="4108490"/>
            <a:ext cx="4926568"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Messages array tracking conversation history</a:t>
            </a:r>
            <a:endParaRPr lang="en-US" sz="1550" dirty="0"/>
          </a:p>
        </p:txBody>
      </p:sp>
      <p:sp>
        <p:nvSpPr>
          <p:cNvPr id="6" name="Text 4"/>
          <p:cNvSpPr/>
          <p:nvPr/>
        </p:nvSpPr>
        <p:spPr>
          <a:xfrm>
            <a:off x="793790" y="4495443"/>
            <a:ext cx="4926568"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Input state for the current user message</a:t>
            </a:r>
            <a:endParaRPr lang="en-US" sz="1550" dirty="0"/>
          </a:p>
        </p:txBody>
      </p:sp>
      <p:sp>
        <p:nvSpPr>
          <p:cNvPr id="7" name="Text 5"/>
          <p:cNvSpPr/>
          <p:nvPr/>
        </p:nvSpPr>
        <p:spPr>
          <a:xfrm>
            <a:off x="793790" y="4882396"/>
            <a:ext cx="4926568"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Loading state for API call tracking</a:t>
            </a:r>
            <a:endParaRPr lang="en-US" sz="1550" dirty="0"/>
          </a:p>
        </p:txBody>
      </p:sp>
      <p:sp>
        <p:nvSpPr>
          <p:cNvPr id="8" name="Text 6"/>
          <p:cNvSpPr/>
          <p:nvPr/>
        </p:nvSpPr>
        <p:spPr>
          <a:xfrm>
            <a:off x="793790" y="5269349"/>
            <a:ext cx="4926568"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Error state for user feedback</a:t>
            </a:r>
            <a:endParaRPr lang="en-US" sz="1550" dirty="0"/>
          </a:p>
        </p:txBody>
      </p:sp>
      <p:sp>
        <p:nvSpPr>
          <p:cNvPr id="9" name="Text 7"/>
          <p:cNvSpPr/>
          <p:nvPr/>
        </p:nvSpPr>
        <p:spPr>
          <a:xfrm>
            <a:off x="793790" y="5656302"/>
            <a:ext cx="4926568"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Location state for geographic context</a:t>
            </a:r>
            <a:endParaRPr lang="en-US" sz="1550" dirty="0"/>
          </a:p>
        </p:txBody>
      </p:sp>
      <p:sp>
        <p:nvSpPr>
          <p:cNvPr id="10" name="Text 8"/>
          <p:cNvSpPr/>
          <p:nvPr/>
        </p:nvSpPr>
        <p:spPr>
          <a:xfrm>
            <a:off x="6212086" y="359997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Key Dependencies</a:t>
            </a:r>
            <a:endParaRPr lang="en-US" sz="1950" dirty="0"/>
          </a:p>
        </p:txBody>
      </p:sp>
      <p:sp>
        <p:nvSpPr>
          <p:cNvPr id="11" name="Text 9"/>
          <p:cNvSpPr/>
          <p:nvPr/>
        </p:nvSpPr>
        <p:spPr>
          <a:xfrm>
            <a:off x="6212086" y="4108490"/>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highlight>
                  <a:srgbClr val="F2F2F2"/>
                </a:highlight>
                <a:latin typeface="Consolas" pitchFamily="34" charset="0"/>
                <a:ea typeface="Consolas" pitchFamily="34" charset="-122"/>
                <a:cs typeface="Consolas" pitchFamily="34" charset="-120"/>
              </a:rPr>
              <a:t>@google/genai</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 Official Google Generative AI SDK</a:t>
            </a:r>
            <a:endParaRPr lang="en-US" sz="1550" dirty="0"/>
          </a:p>
        </p:txBody>
      </p:sp>
      <p:sp>
        <p:nvSpPr>
          <p:cNvPr id="12" name="Text 10"/>
          <p:cNvSpPr/>
          <p:nvPr/>
        </p:nvSpPr>
        <p:spPr>
          <a:xfrm>
            <a:off x="6212086" y="4495443"/>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React hooks for state and lifecycle management</a:t>
            </a:r>
            <a:endParaRPr lang="en-US" sz="1550" dirty="0"/>
          </a:p>
        </p:txBody>
      </p:sp>
      <p:sp>
        <p:nvSpPr>
          <p:cNvPr id="13" name="Text 11"/>
          <p:cNvSpPr/>
          <p:nvPr/>
        </p:nvSpPr>
        <p:spPr>
          <a:xfrm>
            <a:off x="6212086" y="4882396"/>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Navigator Geolocation API for location services</a:t>
            </a:r>
            <a:endParaRPr lang="en-US" sz="1550" dirty="0"/>
          </a:p>
        </p:txBody>
      </p:sp>
      <p:sp>
        <p:nvSpPr>
          <p:cNvPr id="14" name="Text 12"/>
          <p:cNvSpPr/>
          <p:nvPr/>
        </p:nvSpPr>
        <p:spPr>
          <a:xfrm>
            <a:off x="6212086" y="5269349"/>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Environment variables for secure API key storage</a:t>
            </a:r>
            <a:endParaRPr lang="en-US" sz="1550" dirty="0"/>
          </a:p>
        </p:txBody>
      </p:sp>
      <p:sp>
        <p:nvSpPr>
          <p:cNvPr id="15" name="Text 13"/>
          <p:cNvSpPr/>
          <p:nvPr/>
        </p:nvSpPr>
        <p:spPr>
          <a:xfrm>
            <a:off x="6212086" y="5765483"/>
            <a:ext cx="7632025"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component leverages streaming APIs to provide real-time response updates, creating a more engaging user experience compared to waiting for complete responses.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84728"/>
            <a:ext cx="6749058"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Import Strategy and Dependencies</a:t>
            </a:r>
            <a:endParaRPr lang="en-US" sz="3100" dirty="0"/>
          </a:p>
        </p:txBody>
      </p:sp>
      <p:sp>
        <p:nvSpPr>
          <p:cNvPr id="3" name="Shape 1"/>
          <p:cNvSpPr/>
          <p:nvPr/>
        </p:nvSpPr>
        <p:spPr>
          <a:xfrm>
            <a:off x="793790" y="1577697"/>
            <a:ext cx="13042821" cy="1250275"/>
          </a:xfrm>
          <a:prstGeom prst="roundRect">
            <a:avLst>
              <a:gd name="adj" fmla="val 14287"/>
            </a:avLst>
          </a:prstGeom>
          <a:solidFill>
            <a:srgbClr val="F2F2F2"/>
          </a:solidFill>
          <a:ln/>
        </p:spPr>
      </p:sp>
      <p:sp>
        <p:nvSpPr>
          <p:cNvPr id="4" name="Shape 2"/>
          <p:cNvSpPr/>
          <p:nvPr/>
        </p:nvSpPr>
        <p:spPr>
          <a:xfrm>
            <a:off x="783908" y="1577697"/>
            <a:ext cx="13062585" cy="1250275"/>
          </a:xfrm>
          <a:prstGeom prst="roundRect">
            <a:avLst>
              <a:gd name="adj" fmla="val 2381"/>
            </a:avLst>
          </a:prstGeom>
          <a:solidFill>
            <a:srgbClr val="F2F2F2"/>
          </a:solidFill>
          <a:ln/>
        </p:spPr>
      </p:sp>
      <p:sp>
        <p:nvSpPr>
          <p:cNvPr id="5" name="Text 3"/>
          <p:cNvSpPr/>
          <p:nvPr/>
        </p:nvSpPr>
        <p:spPr>
          <a:xfrm>
            <a:off x="982266" y="1726525"/>
            <a:ext cx="12665869"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import React, { useState, useEffect, useRef } from 'react';import { GoogleGenAI, Chat, GroundingChunk } from '@google/genai';import type { ChatMessage } from '../types';</a:t>
            </a:r>
            <a:endParaRPr lang="en-US" sz="1550" dirty="0"/>
          </a:p>
        </p:txBody>
      </p:sp>
      <p:sp>
        <p:nvSpPr>
          <p:cNvPr id="6" name="Text 4"/>
          <p:cNvSpPr/>
          <p:nvPr/>
        </p:nvSpPr>
        <p:spPr>
          <a:xfrm>
            <a:off x="793790" y="3051215"/>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import structure reveals key architectural decisions. We're importing specific React hooks rather than the entire React namespace, which is a best practice for tree-shaking and bundle size optimization. The GoogleGenAI SDK provides three critical exports: the main client class, the Chat session manager, and type definitions for grounding metadata.</a:t>
            </a:r>
            <a:endParaRPr lang="en-US" sz="1550" dirty="0"/>
          </a:p>
        </p:txBody>
      </p:sp>
      <p:sp>
        <p:nvSpPr>
          <p:cNvPr id="7" name="Text 5"/>
          <p:cNvSpPr/>
          <p:nvPr/>
        </p:nvSpPr>
        <p:spPr>
          <a:xfrm>
            <a:off x="793790" y="4227076"/>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ChatMessage type import suggests a well-structured TypeScript architecture with shared type definitions. This promotes type safety across the application and makes the component more maintainable. The type likely includes properties like id, role, content, and optional fields for grounding data.</a:t>
            </a:r>
            <a:endParaRPr lang="en-US" sz="1550" dirty="0"/>
          </a:p>
        </p:txBody>
      </p:sp>
      <p:sp>
        <p:nvSpPr>
          <p:cNvPr id="8" name="Shape 6"/>
          <p:cNvSpPr/>
          <p:nvPr/>
        </p:nvSpPr>
        <p:spPr>
          <a:xfrm>
            <a:off x="793790" y="5402937"/>
            <a:ext cx="4215289" cy="2141815"/>
          </a:xfrm>
          <a:prstGeom prst="roundRect">
            <a:avLst>
              <a:gd name="adj" fmla="val 8340"/>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sp>
        <p:nvSpPr>
          <p:cNvPr id="9" name="Text 7"/>
          <p:cNvSpPr/>
          <p:nvPr/>
        </p:nvSpPr>
        <p:spPr>
          <a:xfrm>
            <a:off x="1015008" y="562415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React Hooks</a:t>
            </a:r>
            <a:endParaRPr lang="en-US" sz="1950" dirty="0"/>
          </a:p>
        </p:txBody>
      </p:sp>
      <p:sp>
        <p:nvSpPr>
          <p:cNvPr id="10" name="Text 8"/>
          <p:cNvSpPr/>
          <p:nvPr/>
        </p:nvSpPr>
        <p:spPr>
          <a:xfrm>
            <a:off x="1015008" y="6053376"/>
            <a:ext cx="3772853"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useState</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for reactive state,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useEffect</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for side effects, and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useRef</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for non-reactive references to the chat session and DOM elements</a:t>
            </a:r>
            <a:endParaRPr lang="en-US" sz="1550" dirty="0"/>
          </a:p>
        </p:txBody>
      </p:sp>
      <p:sp>
        <p:nvSpPr>
          <p:cNvPr id="11" name="Shape 9"/>
          <p:cNvSpPr/>
          <p:nvPr/>
        </p:nvSpPr>
        <p:spPr>
          <a:xfrm>
            <a:off x="5207437" y="5402937"/>
            <a:ext cx="4215408" cy="2141815"/>
          </a:xfrm>
          <a:prstGeom prst="roundRect">
            <a:avLst>
              <a:gd name="adj" fmla="val 8340"/>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sp>
        <p:nvSpPr>
          <p:cNvPr id="12" name="Text 10"/>
          <p:cNvSpPr/>
          <p:nvPr/>
        </p:nvSpPr>
        <p:spPr>
          <a:xfrm>
            <a:off x="5428655" y="562415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Gemini SDK</a:t>
            </a:r>
            <a:endParaRPr lang="en-US" sz="1950" dirty="0"/>
          </a:p>
        </p:txBody>
      </p:sp>
      <p:sp>
        <p:nvSpPr>
          <p:cNvPr id="13" name="Text 11"/>
          <p:cNvSpPr/>
          <p:nvPr/>
        </p:nvSpPr>
        <p:spPr>
          <a:xfrm>
            <a:off x="5428655" y="6053376"/>
            <a:ext cx="3772972"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official SDK provides type-safe access to Google's Generative AI capabilities with streaming support and tool integration</a:t>
            </a:r>
            <a:endParaRPr lang="en-US" sz="1550" dirty="0"/>
          </a:p>
        </p:txBody>
      </p:sp>
      <p:sp>
        <p:nvSpPr>
          <p:cNvPr id="14" name="Shape 12"/>
          <p:cNvSpPr/>
          <p:nvPr/>
        </p:nvSpPr>
        <p:spPr>
          <a:xfrm>
            <a:off x="9621203" y="5402937"/>
            <a:ext cx="4215289" cy="2141815"/>
          </a:xfrm>
          <a:prstGeom prst="roundRect">
            <a:avLst>
              <a:gd name="adj" fmla="val 8340"/>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sp>
        <p:nvSpPr>
          <p:cNvPr id="15" name="Text 13"/>
          <p:cNvSpPr/>
          <p:nvPr/>
        </p:nvSpPr>
        <p:spPr>
          <a:xfrm>
            <a:off x="9842421" y="562415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Type Definitions</a:t>
            </a:r>
            <a:endParaRPr lang="en-US" sz="1950" dirty="0"/>
          </a:p>
        </p:txBody>
      </p:sp>
      <p:sp>
        <p:nvSpPr>
          <p:cNvPr id="16" name="Text 14"/>
          <p:cNvSpPr/>
          <p:nvPr/>
        </p:nvSpPr>
        <p:spPr>
          <a:xfrm>
            <a:off x="9842421" y="6053376"/>
            <a:ext cx="3772853"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Shared types ensure consistency across components and enable TypeScript's powerful type checking and IntelliSense</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4733" y="498277"/>
            <a:ext cx="7133153" cy="453033"/>
          </a:xfrm>
          <a:prstGeom prst="rect">
            <a:avLst/>
          </a:prstGeom>
          <a:noFill/>
          <a:ln/>
        </p:spPr>
        <p:txBody>
          <a:bodyPr wrap="none" lIns="0" tIns="0" rIns="0" bIns="0" rtlCol="0" anchor="t"/>
          <a:lstStyle/>
          <a:p>
            <a:pPr algn="l" indent="0" marL="0">
              <a:lnSpc>
                <a:spcPts val="3550"/>
              </a:lnSpc>
              <a:buNone/>
            </a:pPr>
            <a:r>
              <a:rPr lang="en-US" sz="2850" dirty="0">
                <a:solidFill>
                  <a:srgbClr val="111111"/>
                </a:solidFill>
                <a:latin typeface="Readex Pro" pitchFamily="34" charset="0"/>
                <a:ea typeface="Readex Pro" pitchFamily="34" charset="-122"/>
                <a:cs typeface="Readex Pro" pitchFamily="34" charset="-120"/>
              </a:rPr>
              <a:t>The SimpleMarkdown Helper Component</a:t>
            </a:r>
            <a:endParaRPr lang="en-US" sz="2850" dirty="0"/>
          </a:p>
        </p:txBody>
      </p:sp>
      <p:sp>
        <p:nvSpPr>
          <p:cNvPr id="3" name="Shape 1"/>
          <p:cNvSpPr/>
          <p:nvPr/>
        </p:nvSpPr>
        <p:spPr>
          <a:xfrm>
            <a:off x="724733" y="1313617"/>
            <a:ext cx="13180933" cy="2591038"/>
          </a:xfrm>
          <a:prstGeom prst="roundRect">
            <a:avLst>
              <a:gd name="adj" fmla="val 6294"/>
            </a:avLst>
          </a:prstGeom>
          <a:solidFill>
            <a:srgbClr val="F2F2F2"/>
          </a:solidFill>
          <a:ln/>
        </p:spPr>
      </p:sp>
      <p:sp>
        <p:nvSpPr>
          <p:cNvPr id="4" name="Shape 2"/>
          <p:cNvSpPr/>
          <p:nvPr/>
        </p:nvSpPr>
        <p:spPr>
          <a:xfrm>
            <a:off x="715685" y="1313617"/>
            <a:ext cx="13199031" cy="2591038"/>
          </a:xfrm>
          <a:prstGeom prst="roundRect">
            <a:avLst>
              <a:gd name="adj" fmla="val 1049"/>
            </a:avLst>
          </a:prstGeom>
          <a:solidFill>
            <a:srgbClr val="F2F2F2"/>
          </a:solidFill>
          <a:ln/>
        </p:spPr>
      </p:sp>
      <p:sp>
        <p:nvSpPr>
          <p:cNvPr id="5" name="Text 3"/>
          <p:cNvSpPr/>
          <p:nvPr/>
        </p:nvSpPr>
        <p:spPr>
          <a:xfrm>
            <a:off x="896779" y="1449467"/>
            <a:ext cx="12836843" cy="2319338"/>
          </a:xfrm>
          <a:prstGeom prst="rect">
            <a:avLst/>
          </a:prstGeom>
          <a:noFill/>
          <a:ln/>
        </p:spPr>
        <p:txBody>
          <a:bodyPr wrap="square" lIns="0" tIns="0" rIns="0" bIns="0" rtlCol="0" anchor="t"/>
          <a:lstStyle/>
          <a:p>
            <a:pPr algn="l" indent="0" marL="0">
              <a:lnSpc>
                <a:spcPts val="2250"/>
              </a:lnSpc>
              <a:buNone/>
            </a:pPr>
            <a:r>
              <a:rPr lang="en-US" sz="1400" dirty="0">
                <a:solidFill>
                  <a:srgbClr val="000000"/>
                </a:solidFill>
                <a:highlight>
                  <a:srgbClr val="F2F2F2"/>
                </a:highlight>
                <a:latin typeface="Consolas Light" pitchFamily="34" charset="0"/>
                <a:ea typeface="Consolas Light" pitchFamily="34" charset="-122"/>
                <a:cs typeface="Consolas Light" pitchFamily="34" charset="-120"/>
              </a:rPr>
              <a:t>const SimpleMarkdown: React.FC&lt;{ content: string }&gt; = ({ content }) =&gt; {  const html = content    .replace(/\*\*(.*?)\*\*/g, '$1')    .replace(/\*(.*?)\*/g, '$1')    .replace(/`([^`]+)`/g, '$1')    .replace(/(\r\n|\n|\r)/g, '');  return </a:t>
            </a:r>
            <a:endParaRPr lang="en-US" sz="1400" dirty="0"/>
          </a:p>
        </p:txBody>
      </p:sp>
      <p:sp>
        <p:nvSpPr>
          <p:cNvPr id="6" name="Text 4"/>
          <p:cNvSpPr/>
          <p:nvPr/>
        </p:nvSpPr>
        <p:spPr>
          <a:xfrm>
            <a:off x="724733" y="4108490"/>
            <a:ext cx="13180933" cy="289917"/>
          </a:xfrm>
          <a:prstGeom prst="rect">
            <a:avLst/>
          </a:prstGeom>
          <a:noFill/>
          <a:ln/>
        </p:spPr>
        <p:txBody>
          <a:bodyPr wrap="none" lIns="0" tIns="0" rIns="0" bIns="0" rtlCol="0" anchor="t"/>
          <a:lstStyle/>
          <a:p>
            <a:pPr algn="l" indent="0" marL="0">
              <a:lnSpc>
                <a:spcPts val="2250"/>
              </a:lnSpc>
              <a:buNone/>
            </a:pPr>
            <a:r>
              <a:rPr lang="en-US" sz="1400" dirty="0">
                <a:solidFill>
                  <a:srgbClr val="000000"/>
                </a:solidFill>
                <a:latin typeface="Readex Pro Light" pitchFamily="34" charset="0"/>
                <a:ea typeface="Readex Pro Light" pitchFamily="34" charset="-122"/>
                <a:cs typeface="Readex Pro Light" pitchFamily="34" charset="-120"/>
              </a:rPr>
              <a:t>; };</a:t>
            </a:r>
            <a:endParaRPr lang="en-US" sz="1400" dirty="0"/>
          </a:p>
        </p:txBody>
      </p:sp>
      <p:sp>
        <p:nvSpPr>
          <p:cNvPr id="7" name="Text 5"/>
          <p:cNvSpPr/>
          <p:nvPr/>
        </p:nvSpPr>
        <p:spPr>
          <a:xfrm>
            <a:off x="724733" y="4602242"/>
            <a:ext cx="13180933" cy="869752"/>
          </a:xfrm>
          <a:prstGeom prst="rect">
            <a:avLst/>
          </a:prstGeom>
          <a:noFill/>
          <a:ln/>
        </p:spPr>
        <p:txBody>
          <a:bodyPr wrap="square" lIns="0" tIns="0" rIns="0" bIns="0" rtlCol="0" anchor="t"/>
          <a:lstStyle/>
          <a:p>
            <a:pPr algn="l" indent="0" marL="0">
              <a:lnSpc>
                <a:spcPts val="2250"/>
              </a:lnSpc>
              <a:buNone/>
            </a:pPr>
            <a:r>
              <a:rPr lang="en-US" sz="1400" dirty="0">
                <a:solidFill>
                  <a:srgbClr val="000000"/>
                </a:solidFill>
                <a:latin typeface="Readex Pro Light" pitchFamily="34" charset="0"/>
                <a:ea typeface="Readex Pro Light" pitchFamily="34" charset="-122"/>
                <a:cs typeface="Readex Pro Light" pitchFamily="34" charset="-120"/>
              </a:rPr>
              <a:t>This helper component handles the critical task of rendering markdown-formatted responses from the AI. Rather than using a heavy markdown library, it implements a lightweight regex-based parser for common formatting patterns. This approach reduces bundle size while providing the most commonly needed formatting capabilities.</a:t>
            </a:r>
            <a:endParaRPr lang="en-US" sz="1400" dirty="0"/>
          </a:p>
        </p:txBody>
      </p:sp>
      <p:sp>
        <p:nvSpPr>
          <p:cNvPr id="8" name="Text 6"/>
          <p:cNvSpPr/>
          <p:nvPr/>
        </p:nvSpPr>
        <p:spPr>
          <a:xfrm>
            <a:off x="724733" y="5856923"/>
            <a:ext cx="2265045" cy="283012"/>
          </a:xfrm>
          <a:prstGeom prst="rect">
            <a:avLst/>
          </a:prstGeom>
          <a:noFill/>
          <a:ln/>
        </p:spPr>
        <p:txBody>
          <a:bodyPr wrap="none" lIns="0" tIns="0" rIns="0" bIns="0" rtlCol="0" anchor="t"/>
          <a:lstStyle/>
          <a:p>
            <a:pPr algn="l" indent="0" marL="0">
              <a:lnSpc>
                <a:spcPts val="2200"/>
              </a:lnSpc>
              <a:buNone/>
            </a:pPr>
            <a:r>
              <a:rPr lang="en-US" sz="1750" dirty="0">
                <a:solidFill>
                  <a:srgbClr val="111111"/>
                </a:solidFill>
                <a:latin typeface="Readex Pro" pitchFamily="34" charset="0"/>
                <a:ea typeface="Readex Pro" pitchFamily="34" charset="-122"/>
                <a:cs typeface="Readex Pro" pitchFamily="34" charset="-120"/>
              </a:rPr>
              <a:t>Patterns Supported</a:t>
            </a:r>
            <a:endParaRPr lang="en-US" sz="1750" dirty="0"/>
          </a:p>
        </p:txBody>
      </p:sp>
      <p:sp>
        <p:nvSpPr>
          <p:cNvPr id="9" name="Text 7"/>
          <p:cNvSpPr/>
          <p:nvPr/>
        </p:nvSpPr>
        <p:spPr>
          <a:xfrm>
            <a:off x="724733" y="6321028"/>
            <a:ext cx="6369487" cy="289917"/>
          </a:xfrm>
          <a:prstGeom prst="rect">
            <a:avLst/>
          </a:prstGeom>
          <a:noFill/>
          <a:ln/>
        </p:spPr>
        <p:txBody>
          <a:bodyPr wrap="none" lIns="0" tIns="0" rIns="0" bIns="0" rtlCol="0" anchor="t"/>
          <a:lstStyle/>
          <a:p>
            <a:pPr algn="l" marL="342900" indent="-342900">
              <a:lnSpc>
                <a:spcPts val="2250"/>
              </a:lnSpc>
              <a:buSzPct val="100000"/>
              <a:buChar char="•"/>
            </a:pPr>
            <a:r>
              <a:rPr lang="en-US" sz="1400" b="1" dirty="0">
                <a:solidFill>
                  <a:srgbClr val="000000"/>
                </a:solidFill>
                <a:latin typeface="Readex Pro Light" pitchFamily="34" charset="0"/>
                <a:ea typeface="Readex Pro Light" pitchFamily="34" charset="-122"/>
                <a:cs typeface="Readex Pro Light" pitchFamily="34" charset="-120"/>
              </a:rPr>
              <a:t>Bold text</a:t>
            </a:r>
            <a:pPr algn="l" indent="0" marL="0">
              <a:lnSpc>
                <a:spcPts val="2250"/>
              </a:lnSpc>
              <a:buNone/>
            </a:pPr>
            <a:r>
              <a:rPr lang="en-US" sz="1400" dirty="0">
                <a:solidFill>
                  <a:srgbClr val="000000"/>
                </a:solidFill>
                <a:latin typeface="Readex Pro Light" pitchFamily="34" charset="0"/>
                <a:ea typeface="Readex Pro Light" pitchFamily="34" charset="-122"/>
                <a:cs typeface="Readex Pro Light" pitchFamily="34" charset="-120"/>
              </a:rPr>
              <a:t> using **text** syntax</a:t>
            </a:r>
            <a:endParaRPr lang="en-US" sz="1400" dirty="0"/>
          </a:p>
        </p:txBody>
      </p:sp>
      <p:sp>
        <p:nvSpPr>
          <p:cNvPr id="10" name="Text 8"/>
          <p:cNvSpPr/>
          <p:nvPr/>
        </p:nvSpPr>
        <p:spPr>
          <a:xfrm>
            <a:off x="724733" y="6674287"/>
            <a:ext cx="6369487" cy="289917"/>
          </a:xfrm>
          <a:prstGeom prst="rect">
            <a:avLst/>
          </a:prstGeom>
          <a:noFill/>
          <a:ln/>
        </p:spPr>
        <p:txBody>
          <a:bodyPr wrap="none" lIns="0" tIns="0" rIns="0" bIns="0" rtlCol="0" anchor="t"/>
          <a:lstStyle/>
          <a:p>
            <a:pPr algn="l" marL="342900" indent="-342900">
              <a:lnSpc>
                <a:spcPts val="2250"/>
              </a:lnSpc>
              <a:buSzPct val="100000"/>
              <a:buChar char="•"/>
            </a:pPr>
            <a:r>
              <a:rPr lang="en-US" sz="1400" i="1" dirty="0">
                <a:solidFill>
                  <a:srgbClr val="000000"/>
                </a:solidFill>
                <a:latin typeface="Readex Pro Light" pitchFamily="34" charset="0"/>
                <a:ea typeface="Readex Pro Light" pitchFamily="34" charset="-122"/>
                <a:cs typeface="Readex Pro Light" pitchFamily="34" charset="-120"/>
              </a:rPr>
              <a:t>Italic text</a:t>
            </a:r>
            <a:pPr algn="l" indent="0" marL="0">
              <a:lnSpc>
                <a:spcPts val="2250"/>
              </a:lnSpc>
              <a:buNone/>
            </a:pPr>
            <a:r>
              <a:rPr lang="en-US" sz="1400" dirty="0">
                <a:solidFill>
                  <a:srgbClr val="000000"/>
                </a:solidFill>
                <a:latin typeface="Readex Pro Light" pitchFamily="34" charset="0"/>
                <a:ea typeface="Readex Pro Light" pitchFamily="34" charset="-122"/>
                <a:cs typeface="Readex Pro Light" pitchFamily="34" charset="-120"/>
              </a:rPr>
              <a:t> using *text* syntax</a:t>
            </a:r>
            <a:endParaRPr lang="en-US" sz="1400" dirty="0"/>
          </a:p>
        </p:txBody>
      </p:sp>
      <p:sp>
        <p:nvSpPr>
          <p:cNvPr id="11" name="Text 9"/>
          <p:cNvSpPr/>
          <p:nvPr/>
        </p:nvSpPr>
        <p:spPr>
          <a:xfrm>
            <a:off x="724733" y="7027545"/>
            <a:ext cx="6369487" cy="289917"/>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000000"/>
                </a:solidFill>
                <a:highlight>
                  <a:srgbClr val="F2F2F2"/>
                </a:highlight>
                <a:latin typeface="Consolas" pitchFamily="34" charset="0"/>
                <a:ea typeface="Consolas" pitchFamily="34" charset="-122"/>
                <a:cs typeface="Consolas" pitchFamily="34" charset="-120"/>
              </a:rPr>
              <a:t>Inline code</a:t>
            </a:r>
            <a:pPr algn="l" indent="0" marL="0">
              <a:lnSpc>
                <a:spcPts val="2250"/>
              </a:lnSpc>
              <a:buNone/>
            </a:pPr>
            <a:r>
              <a:rPr lang="en-US" sz="1400" dirty="0">
                <a:solidFill>
                  <a:srgbClr val="000000"/>
                </a:solidFill>
                <a:latin typeface="Readex Pro Light" pitchFamily="34" charset="0"/>
                <a:ea typeface="Readex Pro Light" pitchFamily="34" charset="-122"/>
                <a:cs typeface="Readex Pro Light" pitchFamily="34" charset="-120"/>
              </a:rPr>
              <a:t> with backticks</a:t>
            </a:r>
            <a:endParaRPr lang="en-US" sz="1400" dirty="0"/>
          </a:p>
        </p:txBody>
      </p:sp>
      <p:sp>
        <p:nvSpPr>
          <p:cNvPr id="12" name="Text 10"/>
          <p:cNvSpPr/>
          <p:nvPr/>
        </p:nvSpPr>
        <p:spPr>
          <a:xfrm>
            <a:off x="724733" y="7380803"/>
            <a:ext cx="6369487" cy="289917"/>
          </a:xfrm>
          <a:prstGeom prst="rect">
            <a:avLst/>
          </a:prstGeom>
          <a:noFill/>
          <a:ln/>
        </p:spPr>
        <p:txBody>
          <a:bodyPr wrap="none" lIns="0" tIns="0" rIns="0" bIns="0" rtlCol="0" anchor="t"/>
          <a:lstStyle/>
          <a:p>
            <a:pPr algn="l" marL="342900" indent="-342900">
              <a:lnSpc>
                <a:spcPts val="2250"/>
              </a:lnSpc>
              <a:buSzPct val="100000"/>
              <a:buChar char="•"/>
            </a:pPr>
            <a:r>
              <a:rPr lang="en-US" sz="1400" dirty="0">
                <a:solidFill>
                  <a:srgbClr val="000000"/>
                </a:solidFill>
                <a:latin typeface="Readex Pro Light" pitchFamily="34" charset="0"/>
                <a:ea typeface="Readex Pro Light" pitchFamily="34" charset="-122"/>
                <a:cs typeface="Readex Pro Light" pitchFamily="34" charset="-120"/>
              </a:rPr>
              <a:t>Line breaks for proper formatting</a:t>
            </a:r>
            <a:endParaRPr lang="en-US" sz="1400" dirty="0"/>
          </a:p>
        </p:txBody>
      </p:sp>
      <p:sp>
        <p:nvSpPr>
          <p:cNvPr id="13" name="Text 11"/>
          <p:cNvSpPr/>
          <p:nvPr/>
        </p:nvSpPr>
        <p:spPr>
          <a:xfrm>
            <a:off x="7543800" y="5856923"/>
            <a:ext cx="2474952" cy="283012"/>
          </a:xfrm>
          <a:prstGeom prst="rect">
            <a:avLst/>
          </a:prstGeom>
          <a:noFill/>
          <a:ln/>
        </p:spPr>
        <p:txBody>
          <a:bodyPr wrap="none" lIns="0" tIns="0" rIns="0" bIns="0" rtlCol="0" anchor="t"/>
          <a:lstStyle/>
          <a:p>
            <a:pPr algn="l" indent="0" marL="0">
              <a:lnSpc>
                <a:spcPts val="2200"/>
              </a:lnSpc>
              <a:buNone/>
            </a:pPr>
            <a:r>
              <a:rPr lang="en-US" sz="1750" dirty="0">
                <a:solidFill>
                  <a:srgbClr val="111111"/>
                </a:solidFill>
                <a:latin typeface="Readex Pro" pitchFamily="34" charset="0"/>
                <a:ea typeface="Readex Pro" pitchFamily="34" charset="-122"/>
                <a:cs typeface="Readex Pro" pitchFamily="34" charset="-120"/>
              </a:rPr>
              <a:t>Security Consideration</a:t>
            </a:r>
            <a:endParaRPr lang="en-US" sz="1750" dirty="0"/>
          </a:p>
        </p:txBody>
      </p:sp>
      <p:sp>
        <p:nvSpPr>
          <p:cNvPr id="14" name="Text 12"/>
          <p:cNvSpPr/>
          <p:nvPr/>
        </p:nvSpPr>
        <p:spPr>
          <a:xfrm>
            <a:off x="7543800" y="6321028"/>
            <a:ext cx="6369487" cy="1159669"/>
          </a:xfrm>
          <a:prstGeom prst="rect">
            <a:avLst/>
          </a:prstGeom>
          <a:noFill/>
          <a:ln/>
        </p:spPr>
        <p:txBody>
          <a:bodyPr wrap="square" lIns="0" tIns="0" rIns="0" bIns="0" rtlCol="0" anchor="t"/>
          <a:lstStyle/>
          <a:p>
            <a:pPr algn="l" indent="0" marL="0">
              <a:lnSpc>
                <a:spcPts val="2250"/>
              </a:lnSpc>
              <a:buNone/>
            </a:pPr>
            <a:r>
              <a:rPr lang="en-US" sz="1400" dirty="0">
                <a:solidFill>
                  <a:srgbClr val="000000"/>
                </a:solidFill>
                <a:latin typeface="Readex Pro Light" pitchFamily="34" charset="0"/>
                <a:ea typeface="Readex Pro Light" pitchFamily="34" charset="-122"/>
                <a:cs typeface="Readex Pro Light" pitchFamily="34" charset="-120"/>
              </a:rPr>
              <a:t>Using </a:t>
            </a:r>
            <a:pPr algn="l" indent="0" marL="0">
              <a:lnSpc>
                <a:spcPts val="2250"/>
              </a:lnSpc>
              <a:buNone/>
            </a:pPr>
            <a:r>
              <a:rPr lang="en-US" sz="1400" dirty="0">
                <a:solidFill>
                  <a:srgbClr val="000000"/>
                </a:solidFill>
                <a:highlight>
                  <a:srgbClr val="F2F2F2"/>
                </a:highlight>
                <a:latin typeface="Consolas" pitchFamily="34" charset="0"/>
                <a:ea typeface="Consolas" pitchFamily="34" charset="-122"/>
                <a:cs typeface="Consolas" pitchFamily="34" charset="-120"/>
              </a:rPr>
              <a:t>dangerouslySetInnerHTML</a:t>
            </a:r>
            <a:pPr algn="l" indent="0" marL="0">
              <a:lnSpc>
                <a:spcPts val="2250"/>
              </a:lnSpc>
              <a:buNone/>
            </a:pPr>
            <a:r>
              <a:rPr lang="en-US" sz="1400" dirty="0">
                <a:solidFill>
                  <a:srgbClr val="000000"/>
                </a:solidFill>
                <a:latin typeface="Readex Pro Light" pitchFamily="34" charset="0"/>
                <a:ea typeface="Readex Pro Light" pitchFamily="34" charset="-122"/>
                <a:cs typeface="Readex Pro Light" pitchFamily="34" charset="-120"/>
              </a:rPr>
              <a:t> requires careful consideration. This implementation is safe because it processes known markdown patterns before rendering. However, in production, you might want additional sanitization, especially if user-generated content could be injected.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76" y="389811"/>
            <a:ext cx="4745593" cy="354330"/>
          </a:xfrm>
          <a:prstGeom prst="rect">
            <a:avLst/>
          </a:prstGeom>
          <a:noFill/>
          <a:ln/>
        </p:spPr>
        <p:txBody>
          <a:bodyPr wrap="none" lIns="0" tIns="0" rIns="0" bIns="0" rtlCol="0" anchor="t"/>
          <a:lstStyle/>
          <a:p>
            <a:pPr algn="l" indent="0" marL="0">
              <a:lnSpc>
                <a:spcPts val="2750"/>
              </a:lnSpc>
              <a:buNone/>
            </a:pPr>
            <a:r>
              <a:rPr lang="en-US" sz="2200" dirty="0">
                <a:solidFill>
                  <a:srgbClr val="111111"/>
                </a:solidFill>
                <a:latin typeface="Readex Pro" pitchFamily="34" charset="0"/>
                <a:ea typeface="Readex Pro" pitchFamily="34" charset="-122"/>
                <a:cs typeface="Readex Pro" pitchFamily="34" charset="-120"/>
              </a:rPr>
              <a:t>State Initialization and Type Safety</a:t>
            </a:r>
            <a:endParaRPr lang="en-US" sz="2200" dirty="0"/>
          </a:p>
        </p:txBody>
      </p:sp>
      <p:sp>
        <p:nvSpPr>
          <p:cNvPr id="3" name="Shape 1"/>
          <p:cNvSpPr/>
          <p:nvPr/>
        </p:nvSpPr>
        <p:spPr>
          <a:xfrm>
            <a:off x="566976" y="1027628"/>
            <a:ext cx="13496449" cy="1800344"/>
          </a:xfrm>
          <a:prstGeom prst="roundRect">
            <a:avLst>
              <a:gd name="adj" fmla="val 7087"/>
            </a:avLst>
          </a:prstGeom>
          <a:solidFill>
            <a:srgbClr val="F2F2F2"/>
          </a:solidFill>
          <a:ln/>
        </p:spPr>
      </p:sp>
      <p:sp>
        <p:nvSpPr>
          <p:cNvPr id="4" name="Shape 2"/>
          <p:cNvSpPr/>
          <p:nvPr/>
        </p:nvSpPr>
        <p:spPr>
          <a:xfrm>
            <a:off x="559951" y="1027628"/>
            <a:ext cx="13510498" cy="1800344"/>
          </a:xfrm>
          <a:prstGeom prst="roundRect">
            <a:avLst>
              <a:gd name="adj" fmla="val 1181"/>
            </a:avLst>
          </a:prstGeom>
          <a:solidFill>
            <a:srgbClr val="F2F2F2"/>
          </a:solidFill>
          <a:ln/>
        </p:spPr>
      </p:sp>
      <p:sp>
        <p:nvSpPr>
          <p:cNvPr id="5" name="Text 3"/>
          <p:cNvSpPr/>
          <p:nvPr/>
        </p:nvSpPr>
        <p:spPr>
          <a:xfrm>
            <a:off x="701635" y="1133951"/>
            <a:ext cx="13227129" cy="1587698"/>
          </a:xfrm>
          <a:prstGeom prst="rect">
            <a:avLst/>
          </a:prstGeom>
          <a:noFill/>
          <a:ln/>
        </p:spPr>
        <p:txBody>
          <a:bodyPr wrap="square" lIns="0" tIns="0" rIns="0" bIns="0" rtlCol="0" anchor="t"/>
          <a:lstStyle/>
          <a:p>
            <a:pPr algn="l" indent="0" marL="0">
              <a:lnSpc>
                <a:spcPts val="1750"/>
              </a:lnSpc>
              <a:buNone/>
            </a:pPr>
            <a:r>
              <a:rPr lang="en-US" sz="1100" dirty="0">
                <a:solidFill>
                  <a:srgbClr val="000000"/>
                </a:solidFill>
                <a:highlight>
                  <a:srgbClr val="F2F2F2"/>
                </a:highlight>
                <a:latin typeface="Consolas Light" pitchFamily="34" charset="0"/>
                <a:ea typeface="Consolas Light" pitchFamily="34" charset="-122"/>
                <a:cs typeface="Consolas Light" pitchFamily="34" charset="-120"/>
              </a:rPr>
              <a:t>const [messages, setMessages] = useState([]);const [input, setInput] = useState('');const [isLoading, setIsLoading] = useState(false);const [error, setError] = useState(null);const [location, setLocation] = useState&lt;{ latitude: number, longitude: number } | null&gt;(null);const chatRef = useRef(null);const messagesEndRef = useRef(null&gt;(null);</a:t>
            </a:r>
            <a:endParaRPr lang="en-US" sz="1100" dirty="0"/>
          </a:p>
        </p:txBody>
      </p:sp>
      <p:sp>
        <p:nvSpPr>
          <p:cNvPr id="6" name="Text 4"/>
          <p:cNvSpPr/>
          <p:nvPr/>
        </p:nvSpPr>
        <p:spPr>
          <a:xfrm>
            <a:off x="566976" y="2987397"/>
            <a:ext cx="13496449" cy="453628"/>
          </a:xfrm>
          <a:prstGeom prst="rect">
            <a:avLst/>
          </a:prstGeom>
          <a:noFill/>
          <a:ln/>
        </p:spPr>
        <p:txBody>
          <a:bodyPr wrap="square" lIns="0" tIns="0" rIns="0" bIns="0" rtlCol="0" anchor="t"/>
          <a:lstStyle/>
          <a:p>
            <a:pPr algn="l" indent="0" marL="0">
              <a:lnSpc>
                <a:spcPts val="1750"/>
              </a:lnSpc>
              <a:buNone/>
            </a:pPr>
            <a:r>
              <a:rPr lang="en-US" sz="1100" dirty="0">
                <a:solidFill>
                  <a:srgbClr val="000000"/>
                </a:solidFill>
                <a:latin typeface="Readex Pro Light" pitchFamily="34" charset="0"/>
                <a:ea typeface="Readex Pro Light" pitchFamily="34" charset="-122"/>
                <a:cs typeface="Readex Pro Light" pitchFamily="34" charset="-120"/>
              </a:rPr>
              <a:t>The component initializes seven pieces of state, each serving a specific purpose in managing the conversational experience. This state structure demonstrates a clear separation of concerns with each piece of state handling a distinct aspect of the component's functionality.</a:t>
            </a:r>
            <a:endParaRPr lang="en-US" sz="1100" dirty="0"/>
          </a:p>
        </p:txBody>
      </p:sp>
      <p:sp>
        <p:nvSpPr>
          <p:cNvPr id="7" name="Shape 5"/>
          <p:cNvSpPr/>
          <p:nvPr/>
        </p:nvSpPr>
        <p:spPr>
          <a:xfrm>
            <a:off x="566976" y="3600450"/>
            <a:ext cx="4404360" cy="2164318"/>
          </a:xfrm>
          <a:prstGeom prst="roundRect">
            <a:avLst>
              <a:gd name="adj" fmla="val 5895"/>
            </a:avLst>
          </a:prstGeom>
          <a:solidFill>
            <a:srgbClr val="F3F3F3"/>
          </a:solidFill>
          <a:ln w="7620">
            <a:solidFill>
              <a:srgbClr val="CCCCCC"/>
            </a:solidFill>
            <a:prstDash val="solid"/>
          </a:ln>
          <a:effectLst>
            <a:outerShdw sx="100000" sy="100000" kx="0" ky="0" algn="bl" rotWithShape="0" blurRad="212090" dist="0" dir="0">
              <a:srgbClr val="333333">
                <a:alpha val="10000"/>
              </a:srgbClr>
            </a:outerShdw>
          </a:effectLst>
        </p:spPr>
      </p:sp>
      <p:pic>
        <p:nvPicPr>
          <p:cNvPr id="8" name="Image 0" descr="preencoded.png">    </p:cNvPr>
          <p:cNvPicPr>
            <a:picLocks noChangeAspect="1"/>
          </p:cNvPicPr>
          <p:nvPr/>
        </p:nvPicPr>
        <p:blipFill>
          <a:blip r:embed="rId1"/>
          <a:stretch>
            <a:fillRect/>
          </a:stretch>
        </p:blipFill>
        <p:spPr>
          <a:xfrm>
            <a:off x="716280" y="3749754"/>
            <a:ext cx="425291" cy="425291"/>
          </a:xfrm>
          <a:prstGeom prst="rect">
            <a:avLst/>
          </a:prstGeom>
        </p:spPr>
      </p:pic>
      <p:sp>
        <p:nvSpPr>
          <p:cNvPr id="9" name="Text 6"/>
          <p:cNvSpPr/>
          <p:nvPr/>
        </p:nvSpPr>
        <p:spPr>
          <a:xfrm>
            <a:off x="716280" y="4316730"/>
            <a:ext cx="4105751" cy="226814"/>
          </a:xfrm>
          <a:prstGeom prst="rect">
            <a:avLst/>
          </a:prstGeom>
          <a:noFill/>
          <a:ln/>
        </p:spPr>
        <p:txBody>
          <a:bodyPr wrap="none" lIns="0" tIns="0" rIns="0" bIns="0" rtlCol="0" anchor="t"/>
          <a:lstStyle/>
          <a:p>
            <a:pPr algn="l" indent="0" marL="0">
              <a:lnSpc>
                <a:spcPts val="1750"/>
              </a:lnSpc>
              <a:buNone/>
            </a:pPr>
            <a:r>
              <a:rPr lang="en-US" sz="1100" dirty="0">
                <a:solidFill>
                  <a:srgbClr val="000000"/>
                </a:solidFill>
                <a:latin typeface="Readex Pro Light" pitchFamily="34" charset="0"/>
                <a:ea typeface="Readex Pro Light" pitchFamily="34" charset="-122"/>
                <a:cs typeface="Readex Pro Light" pitchFamily="34" charset="-120"/>
              </a:rPr>
              <a:t>chat</a:t>
            </a:r>
            <a:endParaRPr lang="en-US" sz="1100" dirty="0"/>
          </a:p>
        </p:txBody>
      </p:sp>
      <p:sp>
        <p:nvSpPr>
          <p:cNvPr id="10" name="Text 7"/>
          <p:cNvSpPr/>
          <p:nvPr/>
        </p:nvSpPr>
        <p:spPr>
          <a:xfrm>
            <a:off x="716280" y="4628555"/>
            <a:ext cx="1772007" cy="221456"/>
          </a:xfrm>
          <a:prstGeom prst="rect">
            <a:avLst/>
          </a:prstGeom>
          <a:noFill/>
          <a:ln/>
        </p:spPr>
        <p:txBody>
          <a:bodyPr wrap="none" lIns="0" tIns="0" rIns="0" bIns="0" rtlCol="0" anchor="t"/>
          <a:lstStyle/>
          <a:p>
            <a:pPr algn="l" indent="0" marL="0">
              <a:lnSpc>
                <a:spcPts val="1700"/>
              </a:lnSpc>
              <a:buNone/>
            </a:pPr>
            <a:r>
              <a:rPr lang="en-US" sz="1350" dirty="0">
                <a:solidFill>
                  <a:srgbClr val="000000"/>
                </a:solidFill>
                <a:latin typeface="Readex Pro" pitchFamily="34" charset="0"/>
                <a:ea typeface="Readex Pro" pitchFamily="34" charset="-122"/>
                <a:cs typeface="Readex Pro" pitchFamily="34" charset="-120"/>
              </a:rPr>
              <a:t>Messages State</a:t>
            </a:r>
            <a:endParaRPr lang="en-US" sz="1350" dirty="0"/>
          </a:p>
        </p:txBody>
      </p:sp>
      <p:sp>
        <p:nvSpPr>
          <p:cNvPr id="11" name="Text 8"/>
          <p:cNvSpPr/>
          <p:nvPr/>
        </p:nvSpPr>
        <p:spPr>
          <a:xfrm>
            <a:off x="716280" y="4935022"/>
            <a:ext cx="4105751" cy="680442"/>
          </a:xfrm>
          <a:prstGeom prst="rect">
            <a:avLst/>
          </a:prstGeom>
          <a:noFill/>
          <a:ln/>
        </p:spPr>
        <p:txBody>
          <a:bodyPr wrap="square" lIns="0" tIns="0" rIns="0" bIns="0" rtlCol="0" anchor="t"/>
          <a:lstStyle/>
          <a:p>
            <a:pPr algn="l" indent="0" marL="0">
              <a:lnSpc>
                <a:spcPts val="1750"/>
              </a:lnSpc>
              <a:buNone/>
            </a:pPr>
            <a:r>
              <a:rPr lang="en-US" sz="1100" dirty="0">
                <a:solidFill>
                  <a:srgbClr val="000000"/>
                </a:solidFill>
                <a:latin typeface="Readex Pro Light" pitchFamily="34" charset="0"/>
                <a:ea typeface="Readex Pro Light" pitchFamily="34" charset="-122"/>
                <a:cs typeface="Readex Pro Light" pitchFamily="34" charset="-120"/>
              </a:rPr>
              <a:t>An array of ChatMessage objects representing the conversation history. This is the primary data structure driving the UI.</a:t>
            </a:r>
            <a:endParaRPr lang="en-US" sz="1100" dirty="0"/>
          </a:p>
        </p:txBody>
      </p:sp>
      <p:sp>
        <p:nvSpPr>
          <p:cNvPr id="12" name="Shape 9"/>
          <p:cNvSpPr/>
          <p:nvPr/>
        </p:nvSpPr>
        <p:spPr>
          <a:xfrm>
            <a:off x="5113020" y="3600450"/>
            <a:ext cx="4404360" cy="2164318"/>
          </a:xfrm>
          <a:prstGeom prst="roundRect">
            <a:avLst>
              <a:gd name="adj" fmla="val 5895"/>
            </a:avLst>
          </a:prstGeom>
          <a:solidFill>
            <a:srgbClr val="F3F3F3"/>
          </a:solidFill>
          <a:ln w="7620">
            <a:solidFill>
              <a:srgbClr val="CCCCCC"/>
            </a:solidFill>
            <a:prstDash val="solid"/>
          </a:ln>
          <a:effectLst>
            <a:outerShdw sx="100000" sy="100000" kx="0" ky="0" algn="bl" rotWithShape="0" blurRad="212090" dist="0" dir="0">
              <a:srgbClr val="333333">
                <a:alpha val="10000"/>
              </a:srgbClr>
            </a:outerShdw>
          </a:effectLst>
        </p:spPr>
      </p:sp>
      <p:pic>
        <p:nvPicPr>
          <p:cNvPr id="13" name="Image 1" descr="preencoded.png">    </p:cNvPr>
          <p:cNvPicPr>
            <a:picLocks noChangeAspect="1"/>
          </p:cNvPicPr>
          <p:nvPr/>
        </p:nvPicPr>
        <p:blipFill>
          <a:blip r:embed="rId2"/>
          <a:stretch>
            <a:fillRect/>
          </a:stretch>
        </p:blipFill>
        <p:spPr>
          <a:xfrm>
            <a:off x="5262324" y="3749754"/>
            <a:ext cx="425291" cy="425291"/>
          </a:xfrm>
          <a:prstGeom prst="rect">
            <a:avLst/>
          </a:prstGeom>
        </p:spPr>
      </p:pic>
      <p:sp>
        <p:nvSpPr>
          <p:cNvPr id="14" name="Text 10"/>
          <p:cNvSpPr/>
          <p:nvPr/>
        </p:nvSpPr>
        <p:spPr>
          <a:xfrm>
            <a:off x="5262324" y="4316730"/>
            <a:ext cx="4105751" cy="226814"/>
          </a:xfrm>
          <a:prstGeom prst="rect">
            <a:avLst/>
          </a:prstGeom>
          <a:noFill/>
          <a:ln/>
        </p:spPr>
        <p:txBody>
          <a:bodyPr wrap="none" lIns="0" tIns="0" rIns="0" bIns="0" rtlCol="0" anchor="t"/>
          <a:lstStyle/>
          <a:p>
            <a:pPr algn="l" indent="0" marL="0">
              <a:lnSpc>
                <a:spcPts val="1750"/>
              </a:lnSpc>
              <a:buNone/>
            </a:pPr>
            <a:r>
              <a:rPr lang="en-US" sz="1100" dirty="0">
                <a:solidFill>
                  <a:srgbClr val="000000"/>
                </a:solidFill>
                <a:latin typeface="Readex Pro Light" pitchFamily="34" charset="0"/>
                <a:ea typeface="Readex Pro Light" pitchFamily="34" charset="-122"/>
                <a:cs typeface="Readex Pro Light" pitchFamily="34" charset="-120"/>
              </a:rPr>
              <a:t>edit</a:t>
            </a:r>
            <a:endParaRPr lang="en-US" sz="1100" dirty="0"/>
          </a:p>
        </p:txBody>
      </p:sp>
      <p:sp>
        <p:nvSpPr>
          <p:cNvPr id="15" name="Text 11"/>
          <p:cNvSpPr/>
          <p:nvPr/>
        </p:nvSpPr>
        <p:spPr>
          <a:xfrm>
            <a:off x="5262324" y="4628555"/>
            <a:ext cx="1772007" cy="221456"/>
          </a:xfrm>
          <a:prstGeom prst="rect">
            <a:avLst/>
          </a:prstGeom>
          <a:noFill/>
          <a:ln/>
        </p:spPr>
        <p:txBody>
          <a:bodyPr wrap="none" lIns="0" tIns="0" rIns="0" bIns="0" rtlCol="0" anchor="t"/>
          <a:lstStyle/>
          <a:p>
            <a:pPr algn="l" indent="0" marL="0">
              <a:lnSpc>
                <a:spcPts val="1700"/>
              </a:lnSpc>
              <a:buNone/>
            </a:pPr>
            <a:r>
              <a:rPr lang="en-US" sz="1350" dirty="0">
                <a:solidFill>
                  <a:srgbClr val="000000"/>
                </a:solidFill>
                <a:latin typeface="Readex Pro" pitchFamily="34" charset="0"/>
                <a:ea typeface="Readex Pro" pitchFamily="34" charset="-122"/>
                <a:cs typeface="Readex Pro" pitchFamily="34" charset="-120"/>
              </a:rPr>
              <a:t>Input State</a:t>
            </a:r>
            <a:endParaRPr lang="en-US" sz="1350" dirty="0"/>
          </a:p>
        </p:txBody>
      </p:sp>
      <p:sp>
        <p:nvSpPr>
          <p:cNvPr id="16" name="Text 12"/>
          <p:cNvSpPr/>
          <p:nvPr/>
        </p:nvSpPr>
        <p:spPr>
          <a:xfrm>
            <a:off x="5262324" y="4935022"/>
            <a:ext cx="4105751" cy="453628"/>
          </a:xfrm>
          <a:prstGeom prst="rect">
            <a:avLst/>
          </a:prstGeom>
          <a:noFill/>
          <a:ln/>
        </p:spPr>
        <p:txBody>
          <a:bodyPr wrap="square" lIns="0" tIns="0" rIns="0" bIns="0" rtlCol="0" anchor="t"/>
          <a:lstStyle/>
          <a:p>
            <a:pPr algn="l" indent="0" marL="0">
              <a:lnSpc>
                <a:spcPts val="1750"/>
              </a:lnSpc>
              <a:buNone/>
            </a:pPr>
            <a:r>
              <a:rPr lang="en-US" sz="1100" dirty="0">
                <a:solidFill>
                  <a:srgbClr val="000000"/>
                </a:solidFill>
                <a:latin typeface="Readex Pro Light" pitchFamily="34" charset="0"/>
                <a:ea typeface="Readex Pro Light" pitchFamily="34" charset="-122"/>
                <a:cs typeface="Readex Pro Light" pitchFamily="34" charset="-120"/>
              </a:rPr>
              <a:t>The current text in the input field, managed as controlled component state for predictable behavior.</a:t>
            </a:r>
            <a:endParaRPr lang="en-US" sz="1100" dirty="0"/>
          </a:p>
        </p:txBody>
      </p:sp>
      <p:sp>
        <p:nvSpPr>
          <p:cNvPr id="17" name="Shape 13"/>
          <p:cNvSpPr/>
          <p:nvPr/>
        </p:nvSpPr>
        <p:spPr>
          <a:xfrm>
            <a:off x="9659064" y="3600450"/>
            <a:ext cx="4404360" cy="2164318"/>
          </a:xfrm>
          <a:prstGeom prst="roundRect">
            <a:avLst>
              <a:gd name="adj" fmla="val 5895"/>
            </a:avLst>
          </a:prstGeom>
          <a:solidFill>
            <a:srgbClr val="F3F3F3"/>
          </a:solidFill>
          <a:ln w="7620">
            <a:solidFill>
              <a:srgbClr val="CCCCCC"/>
            </a:solidFill>
            <a:prstDash val="solid"/>
          </a:ln>
          <a:effectLst>
            <a:outerShdw sx="100000" sy="100000" kx="0" ky="0" algn="bl" rotWithShape="0" blurRad="212090" dist="0" dir="0">
              <a:srgbClr val="333333">
                <a:alpha val="10000"/>
              </a:srgbClr>
            </a:outerShdw>
          </a:effectLst>
        </p:spPr>
      </p:sp>
      <p:pic>
        <p:nvPicPr>
          <p:cNvPr id="18" name="Image 2" descr="preencoded.png">    </p:cNvPr>
          <p:cNvPicPr>
            <a:picLocks noChangeAspect="1"/>
          </p:cNvPicPr>
          <p:nvPr/>
        </p:nvPicPr>
        <p:blipFill>
          <a:blip r:embed="rId3"/>
          <a:stretch>
            <a:fillRect/>
          </a:stretch>
        </p:blipFill>
        <p:spPr>
          <a:xfrm>
            <a:off x="9808369" y="3749754"/>
            <a:ext cx="425291" cy="425291"/>
          </a:xfrm>
          <a:prstGeom prst="rect">
            <a:avLst/>
          </a:prstGeom>
        </p:spPr>
      </p:pic>
      <p:sp>
        <p:nvSpPr>
          <p:cNvPr id="19" name="Text 14"/>
          <p:cNvSpPr/>
          <p:nvPr/>
        </p:nvSpPr>
        <p:spPr>
          <a:xfrm>
            <a:off x="9808369" y="4316730"/>
            <a:ext cx="4105751" cy="226814"/>
          </a:xfrm>
          <a:prstGeom prst="rect">
            <a:avLst/>
          </a:prstGeom>
          <a:noFill/>
          <a:ln/>
        </p:spPr>
        <p:txBody>
          <a:bodyPr wrap="none" lIns="0" tIns="0" rIns="0" bIns="0" rtlCol="0" anchor="t"/>
          <a:lstStyle/>
          <a:p>
            <a:pPr algn="l" indent="0" marL="0">
              <a:lnSpc>
                <a:spcPts val="1750"/>
              </a:lnSpc>
              <a:buNone/>
            </a:pPr>
            <a:r>
              <a:rPr lang="en-US" sz="1100" dirty="0">
                <a:solidFill>
                  <a:srgbClr val="000000"/>
                </a:solidFill>
                <a:latin typeface="Readex Pro Light" pitchFamily="34" charset="0"/>
                <a:ea typeface="Readex Pro Light" pitchFamily="34" charset="-122"/>
                <a:cs typeface="Readex Pro Light" pitchFamily="34" charset="-120"/>
              </a:rPr>
              <a:t>loading</a:t>
            </a:r>
            <a:endParaRPr lang="en-US" sz="1100" dirty="0"/>
          </a:p>
        </p:txBody>
      </p:sp>
      <p:sp>
        <p:nvSpPr>
          <p:cNvPr id="20" name="Text 15"/>
          <p:cNvSpPr/>
          <p:nvPr/>
        </p:nvSpPr>
        <p:spPr>
          <a:xfrm>
            <a:off x="9808369" y="4628555"/>
            <a:ext cx="1772007" cy="221456"/>
          </a:xfrm>
          <a:prstGeom prst="rect">
            <a:avLst/>
          </a:prstGeom>
          <a:noFill/>
          <a:ln/>
        </p:spPr>
        <p:txBody>
          <a:bodyPr wrap="none" lIns="0" tIns="0" rIns="0" bIns="0" rtlCol="0" anchor="t"/>
          <a:lstStyle/>
          <a:p>
            <a:pPr algn="l" indent="0" marL="0">
              <a:lnSpc>
                <a:spcPts val="1700"/>
              </a:lnSpc>
              <a:buNone/>
            </a:pPr>
            <a:r>
              <a:rPr lang="en-US" sz="1350" dirty="0">
                <a:solidFill>
                  <a:srgbClr val="000000"/>
                </a:solidFill>
                <a:latin typeface="Readex Pro" pitchFamily="34" charset="0"/>
                <a:ea typeface="Readex Pro" pitchFamily="34" charset="-122"/>
                <a:cs typeface="Readex Pro" pitchFamily="34" charset="-120"/>
              </a:rPr>
              <a:t>Loading State</a:t>
            </a:r>
            <a:endParaRPr lang="en-US" sz="1350" dirty="0"/>
          </a:p>
        </p:txBody>
      </p:sp>
      <p:sp>
        <p:nvSpPr>
          <p:cNvPr id="21" name="Text 16"/>
          <p:cNvSpPr/>
          <p:nvPr/>
        </p:nvSpPr>
        <p:spPr>
          <a:xfrm>
            <a:off x="9808369" y="4935022"/>
            <a:ext cx="4105751" cy="453628"/>
          </a:xfrm>
          <a:prstGeom prst="rect">
            <a:avLst/>
          </a:prstGeom>
          <a:noFill/>
          <a:ln/>
        </p:spPr>
        <p:txBody>
          <a:bodyPr wrap="square" lIns="0" tIns="0" rIns="0" bIns="0" rtlCol="0" anchor="t"/>
          <a:lstStyle/>
          <a:p>
            <a:pPr algn="l" indent="0" marL="0">
              <a:lnSpc>
                <a:spcPts val="1750"/>
              </a:lnSpc>
              <a:buNone/>
            </a:pPr>
            <a:r>
              <a:rPr lang="en-US" sz="1100" dirty="0">
                <a:solidFill>
                  <a:srgbClr val="000000"/>
                </a:solidFill>
                <a:latin typeface="Readex Pro Light" pitchFamily="34" charset="0"/>
                <a:ea typeface="Readex Pro Light" pitchFamily="34" charset="-122"/>
                <a:cs typeface="Readex Pro Light" pitchFamily="34" charset="-120"/>
              </a:rPr>
              <a:t>Boolean flag indicating whether an API request is in progress, used to disable UI elements and show loading indicators.</a:t>
            </a:r>
            <a:endParaRPr lang="en-US" sz="1100" dirty="0"/>
          </a:p>
        </p:txBody>
      </p:sp>
      <p:sp>
        <p:nvSpPr>
          <p:cNvPr id="22" name="Shape 17"/>
          <p:cNvSpPr/>
          <p:nvPr/>
        </p:nvSpPr>
        <p:spPr>
          <a:xfrm>
            <a:off x="566976" y="5906453"/>
            <a:ext cx="6677382" cy="1937504"/>
          </a:xfrm>
          <a:prstGeom prst="roundRect">
            <a:avLst>
              <a:gd name="adj" fmla="val 6585"/>
            </a:avLst>
          </a:prstGeom>
          <a:solidFill>
            <a:srgbClr val="F3F3F3"/>
          </a:solidFill>
          <a:ln w="7620">
            <a:solidFill>
              <a:srgbClr val="CCCCCC"/>
            </a:solidFill>
            <a:prstDash val="solid"/>
          </a:ln>
          <a:effectLst>
            <a:outerShdw sx="100000" sy="100000" kx="0" ky="0" algn="bl" rotWithShape="0" blurRad="212090" dist="0" dir="0">
              <a:srgbClr val="333333">
                <a:alpha val="10000"/>
              </a:srgbClr>
            </a:outerShdw>
          </a:effectLst>
        </p:spPr>
      </p:sp>
      <p:pic>
        <p:nvPicPr>
          <p:cNvPr id="23" name="Image 3" descr="preencoded.png">    </p:cNvPr>
          <p:cNvPicPr>
            <a:picLocks noChangeAspect="1"/>
          </p:cNvPicPr>
          <p:nvPr/>
        </p:nvPicPr>
        <p:blipFill>
          <a:blip r:embed="rId4"/>
          <a:stretch>
            <a:fillRect/>
          </a:stretch>
        </p:blipFill>
        <p:spPr>
          <a:xfrm>
            <a:off x="716280" y="6055757"/>
            <a:ext cx="425291" cy="425291"/>
          </a:xfrm>
          <a:prstGeom prst="rect">
            <a:avLst/>
          </a:prstGeom>
        </p:spPr>
      </p:pic>
      <p:sp>
        <p:nvSpPr>
          <p:cNvPr id="24" name="Text 18"/>
          <p:cNvSpPr/>
          <p:nvPr/>
        </p:nvSpPr>
        <p:spPr>
          <a:xfrm>
            <a:off x="716280" y="6622733"/>
            <a:ext cx="6378773" cy="226814"/>
          </a:xfrm>
          <a:prstGeom prst="rect">
            <a:avLst/>
          </a:prstGeom>
          <a:noFill/>
          <a:ln/>
        </p:spPr>
        <p:txBody>
          <a:bodyPr wrap="none" lIns="0" tIns="0" rIns="0" bIns="0" rtlCol="0" anchor="t"/>
          <a:lstStyle/>
          <a:p>
            <a:pPr algn="l" indent="0" marL="0">
              <a:lnSpc>
                <a:spcPts val="1750"/>
              </a:lnSpc>
              <a:buNone/>
            </a:pPr>
            <a:r>
              <a:rPr lang="en-US" sz="1100" dirty="0">
                <a:solidFill>
                  <a:srgbClr val="000000"/>
                </a:solidFill>
                <a:latin typeface="Readex Pro Light" pitchFamily="34" charset="0"/>
                <a:ea typeface="Readex Pro Light" pitchFamily="34" charset="-122"/>
                <a:cs typeface="Readex Pro Light" pitchFamily="34" charset="-120"/>
              </a:rPr>
              <a:t>warning</a:t>
            </a:r>
            <a:endParaRPr lang="en-US" sz="1100" dirty="0"/>
          </a:p>
        </p:txBody>
      </p:sp>
      <p:sp>
        <p:nvSpPr>
          <p:cNvPr id="25" name="Text 19"/>
          <p:cNvSpPr/>
          <p:nvPr/>
        </p:nvSpPr>
        <p:spPr>
          <a:xfrm>
            <a:off x="716280" y="6934557"/>
            <a:ext cx="1772007" cy="221456"/>
          </a:xfrm>
          <a:prstGeom prst="rect">
            <a:avLst/>
          </a:prstGeom>
          <a:noFill/>
          <a:ln/>
        </p:spPr>
        <p:txBody>
          <a:bodyPr wrap="none" lIns="0" tIns="0" rIns="0" bIns="0" rtlCol="0" anchor="t"/>
          <a:lstStyle/>
          <a:p>
            <a:pPr algn="l" indent="0" marL="0">
              <a:lnSpc>
                <a:spcPts val="1700"/>
              </a:lnSpc>
              <a:buNone/>
            </a:pPr>
            <a:r>
              <a:rPr lang="en-US" sz="1350" dirty="0">
                <a:solidFill>
                  <a:srgbClr val="000000"/>
                </a:solidFill>
                <a:latin typeface="Readex Pro" pitchFamily="34" charset="0"/>
                <a:ea typeface="Readex Pro" pitchFamily="34" charset="-122"/>
                <a:cs typeface="Readex Pro" pitchFamily="34" charset="-120"/>
              </a:rPr>
              <a:t>Error State</a:t>
            </a:r>
            <a:endParaRPr lang="en-US" sz="1350" dirty="0"/>
          </a:p>
        </p:txBody>
      </p:sp>
      <p:sp>
        <p:nvSpPr>
          <p:cNvPr id="26" name="Text 20"/>
          <p:cNvSpPr/>
          <p:nvPr/>
        </p:nvSpPr>
        <p:spPr>
          <a:xfrm>
            <a:off x="716280" y="7241024"/>
            <a:ext cx="6378773" cy="453628"/>
          </a:xfrm>
          <a:prstGeom prst="rect">
            <a:avLst/>
          </a:prstGeom>
          <a:noFill/>
          <a:ln/>
        </p:spPr>
        <p:txBody>
          <a:bodyPr wrap="square" lIns="0" tIns="0" rIns="0" bIns="0" rtlCol="0" anchor="t"/>
          <a:lstStyle/>
          <a:p>
            <a:pPr algn="l" indent="0" marL="0">
              <a:lnSpc>
                <a:spcPts val="1750"/>
              </a:lnSpc>
              <a:buNone/>
            </a:pPr>
            <a:r>
              <a:rPr lang="en-US" sz="1100" dirty="0">
                <a:solidFill>
                  <a:srgbClr val="000000"/>
                </a:solidFill>
                <a:latin typeface="Readex Pro Light" pitchFamily="34" charset="0"/>
                <a:ea typeface="Readex Pro Light" pitchFamily="34" charset="-122"/>
                <a:cs typeface="Readex Pro Light" pitchFamily="34" charset="-120"/>
              </a:rPr>
              <a:t>Nullable string for error messages, allowing the UI to provide specific feedback when something goes wrong.</a:t>
            </a:r>
            <a:endParaRPr lang="en-US" sz="1100" dirty="0"/>
          </a:p>
        </p:txBody>
      </p:sp>
      <p:sp>
        <p:nvSpPr>
          <p:cNvPr id="27" name="Shape 21"/>
          <p:cNvSpPr/>
          <p:nvPr/>
        </p:nvSpPr>
        <p:spPr>
          <a:xfrm>
            <a:off x="7386042" y="5906453"/>
            <a:ext cx="6677382" cy="1937504"/>
          </a:xfrm>
          <a:prstGeom prst="roundRect">
            <a:avLst>
              <a:gd name="adj" fmla="val 6585"/>
            </a:avLst>
          </a:prstGeom>
          <a:solidFill>
            <a:srgbClr val="F3F3F3"/>
          </a:solidFill>
          <a:ln w="7620">
            <a:solidFill>
              <a:srgbClr val="CCCCCC"/>
            </a:solidFill>
            <a:prstDash val="solid"/>
          </a:ln>
          <a:effectLst>
            <a:outerShdw sx="100000" sy="100000" kx="0" ky="0" algn="bl" rotWithShape="0" blurRad="212090" dist="0" dir="0">
              <a:srgbClr val="333333">
                <a:alpha val="10000"/>
              </a:srgbClr>
            </a:outerShdw>
          </a:effectLst>
        </p:spPr>
      </p:sp>
      <p:pic>
        <p:nvPicPr>
          <p:cNvPr id="28" name="Image 4" descr="preencoded.png">    </p:cNvPr>
          <p:cNvPicPr>
            <a:picLocks noChangeAspect="1"/>
          </p:cNvPicPr>
          <p:nvPr/>
        </p:nvPicPr>
        <p:blipFill>
          <a:blip r:embed="rId5"/>
          <a:stretch>
            <a:fillRect/>
          </a:stretch>
        </p:blipFill>
        <p:spPr>
          <a:xfrm>
            <a:off x="7535347" y="6055757"/>
            <a:ext cx="425291" cy="425291"/>
          </a:xfrm>
          <a:prstGeom prst="rect">
            <a:avLst/>
          </a:prstGeom>
        </p:spPr>
      </p:pic>
      <p:sp>
        <p:nvSpPr>
          <p:cNvPr id="29" name="Text 22"/>
          <p:cNvSpPr/>
          <p:nvPr/>
        </p:nvSpPr>
        <p:spPr>
          <a:xfrm>
            <a:off x="7535347" y="6622733"/>
            <a:ext cx="6378773" cy="226814"/>
          </a:xfrm>
          <a:prstGeom prst="rect">
            <a:avLst/>
          </a:prstGeom>
          <a:noFill/>
          <a:ln/>
        </p:spPr>
        <p:txBody>
          <a:bodyPr wrap="none" lIns="0" tIns="0" rIns="0" bIns="0" rtlCol="0" anchor="t"/>
          <a:lstStyle/>
          <a:p>
            <a:pPr algn="l" indent="0" marL="0">
              <a:lnSpc>
                <a:spcPts val="1750"/>
              </a:lnSpc>
              <a:buNone/>
            </a:pPr>
            <a:r>
              <a:rPr lang="en-US" sz="1100" dirty="0">
                <a:solidFill>
                  <a:srgbClr val="000000"/>
                </a:solidFill>
                <a:latin typeface="Readex Pro Light" pitchFamily="34" charset="0"/>
                <a:ea typeface="Readex Pro Light" pitchFamily="34" charset="-122"/>
                <a:cs typeface="Readex Pro Light" pitchFamily="34" charset="-120"/>
              </a:rPr>
              <a:t>location</a:t>
            </a:r>
            <a:endParaRPr lang="en-US" sz="1100" dirty="0"/>
          </a:p>
        </p:txBody>
      </p:sp>
      <p:sp>
        <p:nvSpPr>
          <p:cNvPr id="30" name="Text 23"/>
          <p:cNvSpPr/>
          <p:nvPr/>
        </p:nvSpPr>
        <p:spPr>
          <a:xfrm>
            <a:off x="7535347" y="6934557"/>
            <a:ext cx="1772007" cy="221456"/>
          </a:xfrm>
          <a:prstGeom prst="rect">
            <a:avLst/>
          </a:prstGeom>
          <a:noFill/>
          <a:ln/>
        </p:spPr>
        <p:txBody>
          <a:bodyPr wrap="none" lIns="0" tIns="0" rIns="0" bIns="0" rtlCol="0" anchor="t"/>
          <a:lstStyle/>
          <a:p>
            <a:pPr algn="l" indent="0" marL="0">
              <a:lnSpc>
                <a:spcPts val="1700"/>
              </a:lnSpc>
              <a:buNone/>
            </a:pPr>
            <a:r>
              <a:rPr lang="en-US" sz="1350" dirty="0">
                <a:solidFill>
                  <a:srgbClr val="000000"/>
                </a:solidFill>
                <a:latin typeface="Readex Pro" pitchFamily="34" charset="0"/>
                <a:ea typeface="Readex Pro" pitchFamily="34" charset="-122"/>
                <a:cs typeface="Readex Pro" pitchFamily="34" charset="-120"/>
              </a:rPr>
              <a:t>Location State</a:t>
            </a:r>
            <a:endParaRPr lang="en-US" sz="1350" dirty="0"/>
          </a:p>
        </p:txBody>
      </p:sp>
      <p:sp>
        <p:nvSpPr>
          <p:cNvPr id="31" name="Text 24"/>
          <p:cNvSpPr/>
          <p:nvPr/>
        </p:nvSpPr>
        <p:spPr>
          <a:xfrm>
            <a:off x="7535347" y="7241024"/>
            <a:ext cx="6378773" cy="453628"/>
          </a:xfrm>
          <a:prstGeom prst="rect">
            <a:avLst/>
          </a:prstGeom>
          <a:noFill/>
          <a:ln/>
        </p:spPr>
        <p:txBody>
          <a:bodyPr wrap="square" lIns="0" tIns="0" rIns="0" bIns="0" rtlCol="0" anchor="t"/>
          <a:lstStyle/>
          <a:p>
            <a:pPr algn="l" indent="0" marL="0">
              <a:lnSpc>
                <a:spcPts val="1750"/>
              </a:lnSpc>
              <a:buNone/>
            </a:pPr>
            <a:r>
              <a:rPr lang="en-US" sz="1100" dirty="0">
                <a:solidFill>
                  <a:srgbClr val="000000"/>
                </a:solidFill>
                <a:latin typeface="Readex Pro Light" pitchFamily="34" charset="0"/>
                <a:ea typeface="Readex Pro Light" pitchFamily="34" charset="-122"/>
                <a:cs typeface="Readex Pro Light" pitchFamily="34" charset="-120"/>
              </a:rPr>
              <a:t>Optional geographic coordinates enabling location-aware responses through Google Maps integration.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278136"/>
            <a:ext cx="7325558"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The Power of useRef for Chat Sessions</a:t>
            </a:r>
            <a:endParaRPr lang="en-US" sz="3100" dirty="0"/>
          </a:p>
        </p:txBody>
      </p:sp>
      <p:sp>
        <p:nvSpPr>
          <p:cNvPr id="3" name="Text 1"/>
          <p:cNvSpPr/>
          <p:nvPr/>
        </p:nvSpPr>
        <p:spPr>
          <a:xfrm>
            <a:off x="793790" y="2171105"/>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use of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useRef</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for storing the Chat instance is a critical architectural decision that distinguishes experienced React developers. Unlike state variables, refs don't trigger re-renders when updated, making them perfect for storing values that need to persist across renders but shouldn't cause the component to re-render.</a:t>
            </a:r>
            <a:endParaRPr lang="en-US" sz="1550" dirty="0"/>
          </a:p>
        </p:txBody>
      </p:sp>
      <p:sp>
        <p:nvSpPr>
          <p:cNvPr id="4" name="Text 2"/>
          <p:cNvSpPr/>
          <p:nvPr/>
        </p:nvSpPr>
        <p:spPr>
          <a:xfrm>
            <a:off x="793790" y="3545324"/>
            <a:ext cx="2585561"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Why useRef for Chat?</a:t>
            </a:r>
            <a:endParaRPr lang="en-US" sz="1950" dirty="0"/>
          </a:p>
        </p:txBody>
      </p:sp>
      <p:sp>
        <p:nvSpPr>
          <p:cNvPr id="5" name="Text 3"/>
          <p:cNvSpPr/>
          <p:nvPr/>
        </p:nvSpPr>
        <p:spPr>
          <a:xfrm>
            <a:off x="793790" y="4053840"/>
            <a:ext cx="6279356" cy="1587698"/>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Chat instance from the Gemini SDK maintains conversation context and history. Storing it in state would cause unnecessary re-renders every time we interact with it. A ref provides a stable reference that persists across component lifecycles without triggering renders.</a:t>
            </a:r>
            <a:endParaRPr lang="en-US" sz="1550" dirty="0"/>
          </a:p>
        </p:txBody>
      </p:sp>
      <p:sp>
        <p:nvSpPr>
          <p:cNvPr id="6" name="Text 4"/>
          <p:cNvSpPr/>
          <p:nvPr/>
        </p:nvSpPr>
        <p:spPr>
          <a:xfrm>
            <a:off x="793790" y="5820132"/>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chat session is initialized lazily on first send, not during component mount. This pattern avoids unnecessary API initialization if the user never interacts with the chat interface.</a:t>
            </a:r>
            <a:endParaRPr lang="en-US" sz="1550" dirty="0"/>
          </a:p>
        </p:txBody>
      </p:sp>
      <p:sp>
        <p:nvSpPr>
          <p:cNvPr id="7" name="Text 5"/>
          <p:cNvSpPr/>
          <p:nvPr/>
        </p:nvSpPr>
        <p:spPr>
          <a:xfrm>
            <a:off x="7564874" y="3545324"/>
            <a:ext cx="2817852"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DOM Reference Pattern</a:t>
            </a:r>
            <a:endParaRPr lang="en-US" sz="1950" dirty="0"/>
          </a:p>
        </p:txBody>
      </p:sp>
      <p:sp>
        <p:nvSpPr>
          <p:cNvPr id="8" name="Text 6"/>
          <p:cNvSpPr/>
          <p:nvPr/>
        </p:nvSpPr>
        <p:spPr>
          <a:xfrm>
            <a:off x="7564874" y="4053840"/>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messagesEndRef</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demonstrates another common useRef pattern: DOM element references. This ref points to an invisible div at the end of the message list, enabling smooth auto-scrolling to show new messages as they arrive.</a:t>
            </a:r>
            <a:endParaRPr lang="en-US" sz="1550" dirty="0"/>
          </a:p>
        </p:txBody>
      </p:sp>
      <p:sp>
        <p:nvSpPr>
          <p:cNvPr id="9" name="Text 7"/>
          <p:cNvSpPr/>
          <p:nvPr/>
        </p:nvSpPr>
        <p:spPr>
          <a:xfrm>
            <a:off x="7564874" y="5502593"/>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This is more performant than calculating scroll positions manually and provides a declarative way to handle scrolling behavior.</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23518" y="466249"/>
            <a:ext cx="4510445" cy="327184"/>
          </a:xfrm>
          <a:prstGeom prst="rect">
            <a:avLst/>
          </a:prstGeom>
          <a:noFill/>
          <a:ln/>
        </p:spPr>
        <p:txBody>
          <a:bodyPr wrap="none" lIns="0" tIns="0" rIns="0" bIns="0" rtlCol="0" anchor="t"/>
          <a:lstStyle/>
          <a:p>
            <a:pPr algn="l" indent="0" marL="0">
              <a:lnSpc>
                <a:spcPts val="2550"/>
              </a:lnSpc>
              <a:buNone/>
            </a:pPr>
            <a:r>
              <a:rPr lang="en-US" sz="2050" dirty="0">
                <a:solidFill>
                  <a:srgbClr val="111111"/>
                </a:solidFill>
                <a:latin typeface="Readex Pro" pitchFamily="34" charset="0"/>
                <a:ea typeface="Readex Pro" pitchFamily="34" charset="-122"/>
                <a:cs typeface="Readex Pro" pitchFamily="34" charset="-120"/>
              </a:rPr>
              <a:t>Location Access: The First useEffect</a:t>
            </a:r>
            <a:endParaRPr lang="en-US" sz="2050" dirty="0"/>
          </a:p>
        </p:txBody>
      </p:sp>
      <p:sp>
        <p:nvSpPr>
          <p:cNvPr id="3" name="Shape 1"/>
          <p:cNvSpPr/>
          <p:nvPr/>
        </p:nvSpPr>
        <p:spPr>
          <a:xfrm>
            <a:off x="523518" y="1055132"/>
            <a:ext cx="13583364" cy="3963829"/>
          </a:xfrm>
          <a:prstGeom prst="roundRect">
            <a:avLst>
              <a:gd name="adj" fmla="val 2972"/>
            </a:avLst>
          </a:prstGeom>
          <a:solidFill>
            <a:srgbClr val="F2F2F2"/>
          </a:solidFill>
          <a:ln/>
        </p:spPr>
      </p:sp>
      <p:sp>
        <p:nvSpPr>
          <p:cNvPr id="4" name="Shape 2"/>
          <p:cNvSpPr/>
          <p:nvPr/>
        </p:nvSpPr>
        <p:spPr>
          <a:xfrm>
            <a:off x="517088" y="1055132"/>
            <a:ext cx="13596223" cy="3963829"/>
          </a:xfrm>
          <a:prstGeom prst="roundRect">
            <a:avLst>
              <a:gd name="adj" fmla="val 495"/>
            </a:avLst>
          </a:prstGeom>
          <a:solidFill>
            <a:srgbClr val="F2F2F2"/>
          </a:solidFill>
          <a:ln/>
        </p:spPr>
      </p:sp>
      <p:sp>
        <p:nvSpPr>
          <p:cNvPr id="5" name="Text 3"/>
          <p:cNvSpPr/>
          <p:nvPr/>
        </p:nvSpPr>
        <p:spPr>
          <a:xfrm>
            <a:off x="647938" y="1153239"/>
            <a:ext cx="13334524" cy="3767614"/>
          </a:xfrm>
          <a:prstGeom prst="rect">
            <a:avLst/>
          </a:prstGeom>
          <a:noFill/>
          <a:ln/>
        </p:spPr>
        <p:txBody>
          <a:bodyPr wrap="square" lIns="0" tIns="0" rIns="0" bIns="0" rtlCol="0" anchor="t"/>
          <a:lstStyle/>
          <a:p>
            <a:pPr algn="l" indent="0" marL="0">
              <a:lnSpc>
                <a:spcPts val="1600"/>
              </a:lnSpc>
              <a:buNone/>
            </a:pPr>
            <a:r>
              <a:rPr lang="en-US" sz="1000" dirty="0">
                <a:solidFill>
                  <a:srgbClr val="000000"/>
                </a:solidFill>
                <a:highlight>
                  <a:srgbClr val="F2F2F2"/>
                </a:highlight>
                <a:latin typeface="Consolas Light" pitchFamily="34" charset="0"/>
                <a:ea typeface="Consolas Light" pitchFamily="34" charset="-122"/>
                <a:cs typeface="Consolas Light" pitchFamily="34" charset="-120"/>
              </a:rPr>
              <a:t>useEffect(() =&gt; {  if (navigator.geolocation) {    navigator.geolocation.getCurrentPosition(      (position) =&gt; {        setLocation({          latitude: position.coords.latitude,          longitude: position.coords.longitude,        });      },      (err) =&gt; {        console.warn(`Geolocation error: ${err.message}`);        setError("Could not get location. Location-based features will be disabled.");      }    );  } else {    setError("Geolocation is not supported by this browser.");  }}, []);</a:t>
            </a:r>
            <a:endParaRPr lang="en-US" sz="1000" dirty="0"/>
          </a:p>
        </p:txBody>
      </p:sp>
      <p:sp>
        <p:nvSpPr>
          <p:cNvPr id="6" name="Text 4"/>
          <p:cNvSpPr/>
          <p:nvPr/>
        </p:nvSpPr>
        <p:spPr>
          <a:xfrm>
            <a:off x="523518" y="5166122"/>
            <a:ext cx="13583364" cy="418624"/>
          </a:xfrm>
          <a:prstGeom prst="rect">
            <a:avLst/>
          </a:prstGeom>
          <a:noFill/>
          <a:ln/>
        </p:spPr>
        <p:txBody>
          <a:bodyPr wrap="square" lIns="0" tIns="0" rIns="0" bIns="0" rtlCol="0" anchor="t"/>
          <a:lstStyle/>
          <a:p>
            <a:pPr algn="l" indent="0" marL="0">
              <a:lnSpc>
                <a:spcPts val="1600"/>
              </a:lnSpc>
              <a:buNone/>
            </a:pPr>
            <a:r>
              <a:rPr lang="en-US" sz="1000" dirty="0">
                <a:solidFill>
                  <a:srgbClr val="000000"/>
                </a:solidFill>
                <a:latin typeface="Readex Pro Light" pitchFamily="34" charset="0"/>
                <a:ea typeface="Readex Pro Light" pitchFamily="34" charset="-122"/>
                <a:cs typeface="Readex Pro Light" pitchFamily="34" charset="-120"/>
              </a:rPr>
              <a:t>This effect runs once on component mount (note the empty dependency array) to request the user's location. This is a great example of progressive enhancement: the chat works without location, but location data enables richer responses when available.</a:t>
            </a:r>
            <a:endParaRPr lang="en-US" sz="1000" dirty="0"/>
          </a:p>
        </p:txBody>
      </p:sp>
      <p:sp>
        <p:nvSpPr>
          <p:cNvPr id="7" name="Shape 5"/>
          <p:cNvSpPr/>
          <p:nvPr/>
        </p:nvSpPr>
        <p:spPr>
          <a:xfrm>
            <a:off x="523518" y="6747629"/>
            <a:ext cx="13583364" cy="15240"/>
          </a:xfrm>
          <a:prstGeom prst="roundRect">
            <a:avLst>
              <a:gd name="adj" fmla="val 773070"/>
            </a:avLst>
          </a:prstGeom>
          <a:solidFill>
            <a:srgbClr val="CCCCCC"/>
          </a:solidFill>
          <a:ln/>
        </p:spPr>
      </p:sp>
      <p:sp>
        <p:nvSpPr>
          <p:cNvPr id="8" name="Shape 6"/>
          <p:cNvSpPr/>
          <p:nvPr/>
        </p:nvSpPr>
        <p:spPr>
          <a:xfrm>
            <a:off x="3183374" y="6355020"/>
            <a:ext cx="15240" cy="392668"/>
          </a:xfrm>
          <a:prstGeom prst="roundRect">
            <a:avLst>
              <a:gd name="adj" fmla="val 773070"/>
            </a:avLst>
          </a:prstGeom>
          <a:solidFill>
            <a:srgbClr val="CCCCCC"/>
          </a:solidFill>
          <a:ln/>
        </p:spPr>
      </p:sp>
      <p:sp>
        <p:nvSpPr>
          <p:cNvPr id="9" name="Shape 7"/>
          <p:cNvSpPr/>
          <p:nvPr/>
        </p:nvSpPr>
        <p:spPr>
          <a:xfrm>
            <a:off x="3043833" y="6600408"/>
            <a:ext cx="294442" cy="294442"/>
          </a:xfrm>
          <a:prstGeom prst="roundRect">
            <a:avLst>
              <a:gd name="adj" fmla="val 40013"/>
            </a:avLst>
          </a:prstGeom>
          <a:solidFill>
            <a:srgbClr val="F3F3F3"/>
          </a:solidFill>
          <a:ln w="7620">
            <a:solidFill>
              <a:srgbClr val="CCCCCC"/>
            </a:solidFill>
            <a:prstDash val="solid"/>
          </a:ln>
          <a:effectLst>
            <a:outerShdw sx="100000" sy="100000" kx="0" ky="0" algn="bl" rotWithShape="0" blurRad="195580" dist="0" dir="0">
              <a:srgbClr val="333333">
                <a:alpha val="10000"/>
              </a:srgbClr>
            </a:outerShdw>
          </a:effectLst>
        </p:spPr>
      </p:sp>
      <p:sp>
        <p:nvSpPr>
          <p:cNvPr id="10" name="Text 8"/>
          <p:cNvSpPr/>
          <p:nvPr/>
        </p:nvSpPr>
        <p:spPr>
          <a:xfrm>
            <a:off x="3092827" y="6624876"/>
            <a:ext cx="196334" cy="245388"/>
          </a:xfrm>
          <a:prstGeom prst="rect">
            <a:avLst/>
          </a:prstGeom>
          <a:noFill/>
          <a:ln/>
        </p:spPr>
        <p:txBody>
          <a:bodyPr wrap="none" lIns="0" tIns="0" rIns="0" bIns="0" rtlCol="0" anchor="t"/>
          <a:lstStyle/>
          <a:p>
            <a:pPr algn="ctr" indent="0" marL="0">
              <a:lnSpc>
                <a:spcPts val="1500"/>
              </a:lnSpc>
              <a:buNone/>
            </a:pPr>
            <a:r>
              <a:rPr lang="en-US" sz="1500" dirty="0">
                <a:solidFill>
                  <a:srgbClr val="000000"/>
                </a:solidFill>
                <a:latin typeface="Readex Pro" pitchFamily="34" charset="0"/>
                <a:ea typeface="Readex Pro" pitchFamily="34" charset="-122"/>
                <a:cs typeface="Readex Pro" pitchFamily="34" charset="-120"/>
              </a:rPr>
              <a:t>1</a:t>
            </a:r>
            <a:endParaRPr lang="en-US" sz="1500" dirty="0"/>
          </a:p>
        </p:txBody>
      </p:sp>
      <p:sp>
        <p:nvSpPr>
          <p:cNvPr id="11" name="Text 9"/>
          <p:cNvSpPr/>
          <p:nvPr/>
        </p:nvSpPr>
        <p:spPr>
          <a:xfrm>
            <a:off x="2372916" y="5731907"/>
            <a:ext cx="1636276" cy="204430"/>
          </a:xfrm>
          <a:prstGeom prst="rect">
            <a:avLst/>
          </a:prstGeom>
          <a:noFill/>
          <a:ln/>
        </p:spPr>
        <p:txBody>
          <a:bodyPr wrap="none" lIns="0" tIns="0" rIns="0" bIns="0" rtlCol="0" anchor="t"/>
          <a:lstStyle/>
          <a:p>
            <a:pPr algn="ctr" indent="0" marL="0">
              <a:lnSpc>
                <a:spcPts val="1600"/>
              </a:lnSpc>
              <a:buNone/>
            </a:pPr>
            <a:r>
              <a:rPr lang="en-US" sz="1250" dirty="0">
                <a:solidFill>
                  <a:srgbClr val="000000"/>
                </a:solidFill>
                <a:latin typeface="Readex Pro" pitchFamily="34" charset="0"/>
                <a:ea typeface="Readex Pro" pitchFamily="34" charset="-122"/>
                <a:cs typeface="Readex Pro" pitchFamily="34" charset="-120"/>
              </a:rPr>
              <a:t>Mount Time</a:t>
            </a:r>
            <a:endParaRPr lang="en-US" sz="1250" dirty="0"/>
          </a:p>
        </p:txBody>
      </p:sp>
      <p:sp>
        <p:nvSpPr>
          <p:cNvPr id="12" name="Text 10"/>
          <p:cNvSpPr/>
          <p:nvPr/>
        </p:nvSpPr>
        <p:spPr>
          <a:xfrm>
            <a:off x="654368" y="6014799"/>
            <a:ext cx="5073491" cy="209312"/>
          </a:xfrm>
          <a:prstGeom prst="rect">
            <a:avLst/>
          </a:prstGeom>
          <a:noFill/>
          <a:ln/>
        </p:spPr>
        <p:txBody>
          <a:bodyPr wrap="none" lIns="0" tIns="0" rIns="0" bIns="0" rtlCol="0" anchor="t"/>
          <a:lstStyle/>
          <a:p>
            <a:pPr algn="ctr" indent="0" marL="0">
              <a:lnSpc>
                <a:spcPts val="1600"/>
              </a:lnSpc>
              <a:buNone/>
            </a:pPr>
            <a:r>
              <a:rPr lang="en-US" sz="1000" dirty="0">
                <a:solidFill>
                  <a:srgbClr val="000000"/>
                </a:solidFill>
                <a:latin typeface="Readex Pro Light" pitchFamily="34" charset="0"/>
                <a:ea typeface="Readex Pro Light" pitchFamily="34" charset="-122"/>
                <a:cs typeface="Readex Pro Light" pitchFamily="34" charset="-120"/>
              </a:rPr>
              <a:t>Effect executes, checking for geolocation API support</a:t>
            </a:r>
            <a:endParaRPr lang="en-US" sz="1000" dirty="0"/>
          </a:p>
        </p:txBody>
      </p:sp>
      <p:sp>
        <p:nvSpPr>
          <p:cNvPr id="13" name="Shape 11"/>
          <p:cNvSpPr/>
          <p:nvPr/>
        </p:nvSpPr>
        <p:spPr>
          <a:xfrm>
            <a:off x="5932765" y="6747570"/>
            <a:ext cx="15240" cy="392668"/>
          </a:xfrm>
          <a:prstGeom prst="roundRect">
            <a:avLst>
              <a:gd name="adj" fmla="val 773070"/>
            </a:avLst>
          </a:prstGeom>
          <a:solidFill>
            <a:srgbClr val="CCCCCC"/>
          </a:solidFill>
          <a:ln/>
        </p:spPr>
      </p:sp>
      <p:sp>
        <p:nvSpPr>
          <p:cNvPr id="14" name="Shape 12"/>
          <p:cNvSpPr/>
          <p:nvPr/>
        </p:nvSpPr>
        <p:spPr>
          <a:xfrm>
            <a:off x="5793224" y="6600408"/>
            <a:ext cx="294442" cy="294442"/>
          </a:xfrm>
          <a:prstGeom prst="roundRect">
            <a:avLst>
              <a:gd name="adj" fmla="val 40013"/>
            </a:avLst>
          </a:prstGeom>
          <a:solidFill>
            <a:srgbClr val="F3F3F3"/>
          </a:solidFill>
          <a:ln w="7620">
            <a:solidFill>
              <a:srgbClr val="CCCCCC"/>
            </a:solidFill>
            <a:prstDash val="solid"/>
          </a:ln>
          <a:effectLst>
            <a:outerShdw sx="100000" sy="100000" kx="0" ky="0" algn="bl" rotWithShape="0" blurRad="195580" dist="0" dir="0">
              <a:srgbClr val="333333">
                <a:alpha val="10000"/>
              </a:srgbClr>
            </a:outerShdw>
          </a:effectLst>
        </p:spPr>
      </p:sp>
      <p:sp>
        <p:nvSpPr>
          <p:cNvPr id="15" name="Text 13"/>
          <p:cNvSpPr/>
          <p:nvPr/>
        </p:nvSpPr>
        <p:spPr>
          <a:xfrm>
            <a:off x="5842218" y="6624876"/>
            <a:ext cx="196334" cy="245388"/>
          </a:xfrm>
          <a:prstGeom prst="rect">
            <a:avLst/>
          </a:prstGeom>
          <a:noFill/>
          <a:ln/>
        </p:spPr>
        <p:txBody>
          <a:bodyPr wrap="none" lIns="0" tIns="0" rIns="0" bIns="0" rtlCol="0" anchor="t"/>
          <a:lstStyle/>
          <a:p>
            <a:pPr algn="ctr" indent="0" marL="0">
              <a:lnSpc>
                <a:spcPts val="1500"/>
              </a:lnSpc>
              <a:buNone/>
            </a:pPr>
            <a:r>
              <a:rPr lang="en-US" sz="1500" dirty="0">
                <a:solidFill>
                  <a:srgbClr val="000000"/>
                </a:solidFill>
                <a:latin typeface="Readex Pro" pitchFamily="34" charset="0"/>
                <a:ea typeface="Readex Pro" pitchFamily="34" charset="-122"/>
                <a:cs typeface="Readex Pro" pitchFamily="34" charset="-120"/>
              </a:rPr>
              <a:t>2</a:t>
            </a:r>
            <a:endParaRPr lang="en-US" sz="1500" dirty="0"/>
          </a:p>
        </p:txBody>
      </p:sp>
      <p:sp>
        <p:nvSpPr>
          <p:cNvPr id="16" name="Text 14"/>
          <p:cNvSpPr/>
          <p:nvPr/>
        </p:nvSpPr>
        <p:spPr>
          <a:xfrm>
            <a:off x="5122307" y="7271147"/>
            <a:ext cx="1636276" cy="204430"/>
          </a:xfrm>
          <a:prstGeom prst="rect">
            <a:avLst/>
          </a:prstGeom>
          <a:noFill/>
          <a:ln/>
        </p:spPr>
        <p:txBody>
          <a:bodyPr wrap="none" lIns="0" tIns="0" rIns="0" bIns="0" rtlCol="0" anchor="t"/>
          <a:lstStyle/>
          <a:p>
            <a:pPr algn="ctr" indent="0" marL="0">
              <a:lnSpc>
                <a:spcPts val="1600"/>
              </a:lnSpc>
              <a:buNone/>
            </a:pPr>
            <a:r>
              <a:rPr lang="en-US" sz="1250" dirty="0">
                <a:solidFill>
                  <a:srgbClr val="000000"/>
                </a:solidFill>
                <a:latin typeface="Readex Pro" pitchFamily="34" charset="0"/>
                <a:ea typeface="Readex Pro" pitchFamily="34" charset="-122"/>
                <a:cs typeface="Readex Pro" pitchFamily="34" charset="-120"/>
              </a:rPr>
              <a:t>Permission Request</a:t>
            </a:r>
            <a:endParaRPr lang="en-US" sz="1250" dirty="0"/>
          </a:p>
        </p:txBody>
      </p:sp>
      <p:sp>
        <p:nvSpPr>
          <p:cNvPr id="17" name="Text 15"/>
          <p:cNvSpPr/>
          <p:nvPr/>
        </p:nvSpPr>
        <p:spPr>
          <a:xfrm>
            <a:off x="3403759" y="7554039"/>
            <a:ext cx="5073491" cy="209312"/>
          </a:xfrm>
          <a:prstGeom prst="rect">
            <a:avLst/>
          </a:prstGeom>
          <a:noFill/>
          <a:ln/>
        </p:spPr>
        <p:txBody>
          <a:bodyPr wrap="none" lIns="0" tIns="0" rIns="0" bIns="0" rtlCol="0" anchor="t"/>
          <a:lstStyle/>
          <a:p>
            <a:pPr algn="ctr" indent="0" marL="0">
              <a:lnSpc>
                <a:spcPts val="1600"/>
              </a:lnSpc>
              <a:buNone/>
            </a:pPr>
            <a:r>
              <a:rPr lang="en-US" sz="1000" dirty="0">
                <a:solidFill>
                  <a:srgbClr val="000000"/>
                </a:solidFill>
                <a:latin typeface="Readex Pro Light" pitchFamily="34" charset="0"/>
                <a:ea typeface="Readex Pro Light" pitchFamily="34" charset="-122"/>
                <a:cs typeface="Readex Pro Light" pitchFamily="34" charset="-120"/>
              </a:rPr>
              <a:t>Browser prompts user for location permission if supported</a:t>
            </a:r>
            <a:endParaRPr lang="en-US" sz="1000" dirty="0"/>
          </a:p>
        </p:txBody>
      </p:sp>
      <p:sp>
        <p:nvSpPr>
          <p:cNvPr id="18" name="Shape 16"/>
          <p:cNvSpPr/>
          <p:nvPr/>
        </p:nvSpPr>
        <p:spPr>
          <a:xfrm>
            <a:off x="8682157" y="6355020"/>
            <a:ext cx="15240" cy="392668"/>
          </a:xfrm>
          <a:prstGeom prst="roundRect">
            <a:avLst>
              <a:gd name="adj" fmla="val 773070"/>
            </a:avLst>
          </a:prstGeom>
          <a:solidFill>
            <a:srgbClr val="CCCCCC"/>
          </a:solidFill>
          <a:ln/>
        </p:spPr>
      </p:sp>
      <p:sp>
        <p:nvSpPr>
          <p:cNvPr id="19" name="Shape 17"/>
          <p:cNvSpPr/>
          <p:nvPr/>
        </p:nvSpPr>
        <p:spPr>
          <a:xfrm>
            <a:off x="8542615" y="6600408"/>
            <a:ext cx="294442" cy="294442"/>
          </a:xfrm>
          <a:prstGeom prst="roundRect">
            <a:avLst>
              <a:gd name="adj" fmla="val 40013"/>
            </a:avLst>
          </a:prstGeom>
          <a:solidFill>
            <a:srgbClr val="F3F3F3"/>
          </a:solidFill>
          <a:ln w="7620">
            <a:solidFill>
              <a:srgbClr val="CCCCCC"/>
            </a:solidFill>
            <a:prstDash val="solid"/>
          </a:ln>
          <a:effectLst>
            <a:outerShdw sx="100000" sy="100000" kx="0" ky="0" algn="bl" rotWithShape="0" blurRad="195580" dist="0" dir="0">
              <a:srgbClr val="333333">
                <a:alpha val="10000"/>
              </a:srgbClr>
            </a:outerShdw>
          </a:effectLst>
        </p:spPr>
      </p:sp>
      <p:sp>
        <p:nvSpPr>
          <p:cNvPr id="20" name="Text 18"/>
          <p:cNvSpPr/>
          <p:nvPr/>
        </p:nvSpPr>
        <p:spPr>
          <a:xfrm>
            <a:off x="8591610" y="6624876"/>
            <a:ext cx="196334" cy="245388"/>
          </a:xfrm>
          <a:prstGeom prst="rect">
            <a:avLst/>
          </a:prstGeom>
          <a:noFill/>
          <a:ln/>
        </p:spPr>
        <p:txBody>
          <a:bodyPr wrap="none" lIns="0" tIns="0" rIns="0" bIns="0" rtlCol="0" anchor="t"/>
          <a:lstStyle/>
          <a:p>
            <a:pPr algn="ctr" indent="0" marL="0">
              <a:lnSpc>
                <a:spcPts val="1500"/>
              </a:lnSpc>
              <a:buNone/>
            </a:pPr>
            <a:r>
              <a:rPr lang="en-US" sz="1500" dirty="0">
                <a:solidFill>
                  <a:srgbClr val="000000"/>
                </a:solidFill>
                <a:latin typeface="Readex Pro" pitchFamily="34" charset="0"/>
                <a:ea typeface="Readex Pro" pitchFamily="34" charset="-122"/>
                <a:cs typeface="Readex Pro" pitchFamily="34" charset="-120"/>
              </a:rPr>
              <a:t>3</a:t>
            </a:r>
            <a:endParaRPr lang="en-US" sz="1500" dirty="0"/>
          </a:p>
        </p:txBody>
      </p:sp>
      <p:sp>
        <p:nvSpPr>
          <p:cNvPr id="21" name="Text 19"/>
          <p:cNvSpPr/>
          <p:nvPr/>
        </p:nvSpPr>
        <p:spPr>
          <a:xfrm>
            <a:off x="7871698" y="5731907"/>
            <a:ext cx="1636276" cy="204430"/>
          </a:xfrm>
          <a:prstGeom prst="rect">
            <a:avLst/>
          </a:prstGeom>
          <a:noFill/>
          <a:ln/>
        </p:spPr>
        <p:txBody>
          <a:bodyPr wrap="none" lIns="0" tIns="0" rIns="0" bIns="0" rtlCol="0" anchor="t"/>
          <a:lstStyle/>
          <a:p>
            <a:pPr algn="ctr" indent="0" marL="0">
              <a:lnSpc>
                <a:spcPts val="1600"/>
              </a:lnSpc>
              <a:buNone/>
            </a:pPr>
            <a:r>
              <a:rPr lang="en-US" sz="1250" dirty="0">
                <a:solidFill>
                  <a:srgbClr val="000000"/>
                </a:solidFill>
                <a:latin typeface="Readex Pro" pitchFamily="34" charset="0"/>
                <a:ea typeface="Readex Pro" pitchFamily="34" charset="-122"/>
                <a:cs typeface="Readex Pro" pitchFamily="34" charset="-120"/>
              </a:rPr>
              <a:t>Success Path</a:t>
            </a:r>
            <a:endParaRPr lang="en-US" sz="1250" dirty="0"/>
          </a:p>
        </p:txBody>
      </p:sp>
      <p:sp>
        <p:nvSpPr>
          <p:cNvPr id="22" name="Text 20"/>
          <p:cNvSpPr/>
          <p:nvPr/>
        </p:nvSpPr>
        <p:spPr>
          <a:xfrm>
            <a:off x="6153150" y="6014799"/>
            <a:ext cx="5073491" cy="209312"/>
          </a:xfrm>
          <a:prstGeom prst="rect">
            <a:avLst/>
          </a:prstGeom>
          <a:noFill/>
          <a:ln/>
        </p:spPr>
        <p:txBody>
          <a:bodyPr wrap="none" lIns="0" tIns="0" rIns="0" bIns="0" rtlCol="0" anchor="t"/>
          <a:lstStyle/>
          <a:p>
            <a:pPr algn="ctr" indent="0" marL="0">
              <a:lnSpc>
                <a:spcPts val="1600"/>
              </a:lnSpc>
              <a:buNone/>
            </a:pPr>
            <a:r>
              <a:rPr lang="en-US" sz="1000" dirty="0">
                <a:solidFill>
                  <a:srgbClr val="000000"/>
                </a:solidFill>
                <a:latin typeface="Readex Pro Light" pitchFamily="34" charset="0"/>
                <a:ea typeface="Readex Pro Light" pitchFamily="34" charset="-122"/>
                <a:cs typeface="Readex Pro Light" pitchFamily="34" charset="-120"/>
              </a:rPr>
              <a:t>Coordinates stored in state for use in API calls</a:t>
            </a:r>
            <a:endParaRPr lang="en-US" sz="1000" dirty="0"/>
          </a:p>
        </p:txBody>
      </p:sp>
      <p:sp>
        <p:nvSpPr>
          <p:cNvPr id="23" name="Shape 21"/>
          <p:cNvSpPr/>
          <p:nvPr/>
        </p:nvSpPr>
        <p:spPr>
          <a:xfrm>
            <a:off x="11431548" y="6747570"/>
            <a:ext cx="15240" cy="392668"/>
          </a:xfrm>
          <a:prstGeom prst="roundRect">
            <a:avLst>
              <a:gd name="adj" fmla="val 773070"/>
            </a:avLst>
          </a:prstGeom>
          <a:solidFill>
            <a:srgbClr val="CCCCCC"/>
          </a:solidFill>
          <a:ln/>
        </p:spPr>
      </p:sp>
      <p:sp>
        <p:nvSpPr>
          <p:cNvPr id="24" name="Shape 22"/>
          <p:cNvSpPr/>
          <p:nvPr/>
        </p:nvSpPr>
        <p:spPr>
          <a:xfrm>
            <a:off x="11292007" y="6600408"/>
            <a:ext cx="294442" cy="294442"/>
          </a:xfrm>
          <a:prstGeom prst="roundRect">
            <a:avLst>
              <a:gd name="adj" fmla="val 40013"/>
            </a:avLst>
          </a:prstGeom>
          <a:solidFill>
            <a:srgbClr val="F3F3F3"/>
          </a:solidFill>
          <a:ln w="7620">
            <a:solidFill>
              <a:srgbClr val="CCCCCC"/>
            </a:solidFill>
            <a:prstDash val="solid"/>
          </a:ln>
          <a:effectLst>
            <a:outerShdw sx="100000" sy="100000" kx="0" ky="0" algn="bl" rotWithShape="0" blurRad="195580" dist="0" dir="0">
              <a:srgbClr val="333333">
                <a:alpha val="10000"/>
              </a:srgbClr>
            </a:outerShdw>
          </a:effectLst>
        </p:spPr>
      </p:sp>
      <p:sp>
        <p:nvSpPr>
          <p:cNvPr id="25" name="Text 23"/>
          <p:cNvSpPr/>
          <p:nvPr/>
        </p:nvSpPr>
        <p:spPr>
          <a:xfrm>
            <a:off x="11341001" y="6624876"/>
            <a:ext cx="196334" cy="245388"/>
          </a:xfrm>
          <a:prstGeom prst="rect">
            <a:avLst/>
          </a:prstGeom>
          <a:noFill/>
          <a:ln/>
        </p:spPr>
        <p:txBody>
          <a:bodyPr wrap="none" lIns="0" tIns="0" rIns="0" bIns="0" rtlCol="0" anchor="t"/>
          <a:lstStyle/>
          <a:p>
            <a:pPr algn="ctr" indent="0" marL="0">
              <a:lnSpc>
                <a:spcPts val="1500"/>
              </a:lnSpc>
              <a:buNone/>
            </a:pPr>
            <a:r>
              <a:rPr lang="en-US" sz="1500" dirty="0">
                <a:solidFill>
                  <a:srgbClr val="000000"/>
                </a:solidFill>
                <a:latin typeface="Readex Pro" pitchFamily="34" charset="0"/>
                <a:ea typeface="Readex Pro" pitchFamily="34" charset="-122"/>
                <a:cs typeface="Readex Pro" pitchFamily="34" charset="-120"/>
              </a:rPr>
              <a:t>4</a:t>
            </a:r>
            <a:endParaRPr lang="en-US" sz="1500" dirty="0"/>
          </a:p>
        </p:txBody>
      </p:sp>
      <p:sp>
        <p:nvSpPr>
          <p:cNvPr id="26" name="Text 24"/>
          <p:cNvSpPr/>
          <p:nvPr/>
        </p:nvSpPr>
        <p:spPr>
          <a:xfrm>
            <a:off x="10621089" y="7271147"/>
            <a:ext cx="1636276" cy="204430"/>
          </a:xfrm>
          <a:prstGeom prst="rect">
            <a:avLst/>
          </a:prstGeom>
          <a:noFill/>
          <a:ln/>
        </p:spPr>
        <p:txBody>
          <a:bodyPr wrap="none" lIns="0" tIns="0" rIns="0" bIns="0" rtlCol="0" anchor="t"/>
          <a:lstStyle/>
          <a:p>
            <a:pPr algn="ctr" indent="0" marL="0">
              <a:lnSpc>
                <a:spcPts val="1600"/>
              </a:lnSpc>
              <a:buNone/>
            </a:pPr>
            <a:r>
              <a:rPr lang="en-US" sz="1250" dirty="0">
                <a:solidFill>
                  <a:srgbClr val="000000"/>
                </a:solidFill>
                <a:latin typeface="Readex Pro" pitchFamily="34" charset="0"/>
                <a:ea typeface="Readex Pro" pitchFamily="34" charset="-122"/>
                <a:cs typeface="Readex Pro" pitchFamily="34" charset="-120"/>
              </a:rPr>
              <a:t>Error Handling</a:t>
            </a:r>
            <a:endParaRPr lang="en-US" sz="1250" dirty="0"/>
          </a:p>
        </p:txBody>
      </p:sp>
      <p:sp>
        <p:nvSpPr>
          <p:cNvPr id="27" name="Text 25"/>
          <p:cNvSpPr/>
          <p:nvPr/>
        </p:nvSpPr>
        <p:spPr>
          <a:xfrm>
            <a:off x="8902541" y="7554039"/>
            <a:ext cx="5073491" cy="209312"/>
          </a:xfrm>
          <a:prstGeom prst="rect">
            <a:avLst/>
          </a:prstGeom>
          <a:noFill/>
          <a:ln/>
        </p:spPr>
        <p:txBody>
          <a:bodyPr wrap="none" lIns="0" tIns="0" rIns="0" bIns="0" rtlCol="0" anchor="t"/>
          <a:lstStyle/>
          <a:p>
            <a:pPr algn="ctr" indent="0" marL="0">
              <a:lnSpc>
                <a:spcPts val="1600"/>
              </a:lnSpc>
              <a:buNone/>
            </a:pPr>
            <a:r>
              <a:rPr lang="en-US" sz="1000" dirty="0">
                <a:solidFill>
                  <a:srgbClr val="000000"/>
                </a:solidFill>
                <a:latin typeface="Readex Pro Light" pitchFamily="34" charset="0"/>
                <a:ea typeface="Readex Pro Light" pitchFamily="34" charset="-122"/>
                <a:cs typeface="Readex Pro Light" pitchFamily="34" charset="-120"/>
              </a:rPr>
              <a:t>Graceful degradation with user notification if permission denied or API unavailable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700207"/>
            <a:ext cx="5303401"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Auto-Scroll Implementation</a:t>
            </a:r>
            <a:endParaRPr lang="en-US" sz="3100" dirty="0"/>
          </a:p>
        </p:txBody>
      </p:sp>
      <p:sp>
        <p:nvSpPr>
          <p:cNvPr id="3" name="Shape 1"/>
          <p:cNvSpPr/>
          <p:nvPr/>
        </p:nvSpPr>
        <p:spPr>
          <a:xfrm>
            <a:off x="793790" y="1593175"/>
            <a:ext cx="13042821" cy="1885355"/>
          </a:xfrm>
          <a:prstGeom prst="roundRect">
            <a:avLst>
              <a:gd name="adj" fmla="val 9474"/>
            </a:avLst>
          </a:prstGeom>
          <a:solidFill>
            <a:srgbClr val="F2F2F2"/>
          </a:solidFill>
          <a:ln/>
        </p:spPr>
      </p:sp>
      <p:sp>
        <p:nvSpPr>
          <p:cNvPr id="4" name="Shape 2"/>
          <p:cNvSpPr/>
          <p:nvPr/>
        </p:nvSpPr>
        <p:spPr>
          <a:xfrm>
            <a:off x="783908" y="1593175"/>
            <a:ext cx="13062585" cy="1885355"/>
          </a:xfrm>
          <a:prstGeom prst="roundRect">
            <a:avLst>
              <a:gd name="adj" fmla="val 1579"/>
            </a:avLst>
          </a:prstGeom>
          <a:solidFill>
            <a:srgbClr val="F2F2F2"/>
          </a:solidFill>
          <a:ln/>
        </p:spPr>
      </p:sp>
      <p:sp>
        <p:nvSpPr>
          <p:cNvPr id="5" name="Text 3"/>
          <p:cNvSpPr/>
          <p:nvPr/>
        </p:nvSpPr>
        <p:spPr>
          <a:xfrm>
            <a:off x="982266" y="1742003"/>
            <a:ext cx="12665869" cy="1587698"/>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const scrollToBottom = () =&gt; {  messagesEndRef.current?.scrollIntoView({ behavior: "smooth" });};useEffect(scrollToBottom, [messages]);</a:t>
            </a:r>
            <a:endParaRPr lang="en-US" sz="1550" dirty="0"/>
          </a:p>
        </p:txBody>
      </p:sp>
      <p:sp>
        <p:nvSpPr>
          <p:cNvPr id="6" name="Text 4"/>
          <p:cNvSpPr/>
          <p:nvPr/>
        </p:nvSpPr>
        <p:spPr>
          <a:xfrm>
            <a:off x="793790" y="370177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This elegant two-line pattern ensures that whenever new messages are added, the view automatically scrolls to show the latest content. The optional chaining operator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provides safety in case the ref hasn't been attached yet.</a:t>
            </a:r>
            <a:endParaRPr lang="en-US" sz="1550" dirty="0"/>
          </a:p>
        </p:txBody>
      </p:sp>
      <p:sp>
        <p:nvSpPr>
          <p:cNvPr id="7" name="Text 5"/>
          <p:cNvSpPr/>
          <p:nvPr/>
        </p:nvSpPr>
        <p:spPr>
          <a:xfrm>
            <a:off x="793790" y="475845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How It Works</a:t>
            </a:r>
            <a:endParaRPr lang="en-US" sz="1950" dirty="0"/>
          </a:p>
        </p:txBody>
      </p:sp>
      <p:sp>
        <p:nvSpPr>
          <p:cNvPr id="8" name="Text 6"/>
          <p:cNvSpPr/>
          <p:nvPr/>
        </p:nvSpPr>
        <p:spPr>
          <a:xfrm>
            <a:off x="793790" y="5266968"/>
            <a:ext cx="4250293"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1"/>
            </a:pPr>
            <a:r>
              <a:rPr lang="en-US" sz="1550" dirty="0">
                <a:solidFill>
                  <a:srgbClr val="000000"/>
                </a:solidFill>
                <a:latin typeface="Readex Pro Light" pitchFamily="34" charset="0"/>
                <a:ea typeface="Readex Pro Light" pitchFamily="34" charset="-122"/>
                <a:cs typeface="Readex Pro Light" pitchFamily="34" charset="-120"/>
              </a:rPr>
              <a:t>Messages array updates with new content</a:t>
            </a:r>
            <a:endParaRPr lang="en-US" sz="1550" dirty="0"/>
          </a:p>
        </p:txBody>
      </p:sp>
      <p:sp>
        <p:nvSpPr>
          <p:cNvPr id="9" name="Text 7"/>
          <p:cNvSpPr/>
          <p:nvPr/>
        </p:nvSpPr>
        <p:spPr>
          <a:xfrm>
            <a:off x="793790" y="5653921"/>
            <a:ext cx="4250293" cy="635079"/>
          </a:xfrm>
          <a:prstGeom prst="rect">
            <a:avLst/>
          </a:prstGeom>
          <a:noFill/>
          <a:ln/>
        </p:spPr>
        <p:txBody>
          <a:bodyPr wrap="square" lIns="0" tIns="0" rIns="0" bIns="0" rtlCol="0" anchor="t"/>
          <a:lstStyle/>
          <a:p>
            <a:pPr algn="l" marL="342900" indent="-342900">
              <a:lnSpc>
                <a:spcPts val="2500"/>
              </a:lnSpc>
              <a:buSzPct val="100000"/>
              <a:buFont typeface="+mj-lt"/>
              <a:buAutoNum type="arabicPeriod" startAt="2"/>
            </a:pPr>
            <a:r>
              <a:rPr lang="en-US" sz="1550" dirty="0">
                <a:solidFill>
                  <a:srgbClr val="000000"/>
                </a:solidFill>
                <a:latin typeface="Readex Pro Light" pitchFamily="34" charset="0"/>
                <a:ea typeface="Readex Pro Light" pitchFamily="34" charset="-122"/>
                <a:cs typeface="Readex Pro Light" pitchFamily="34" charset="-120"/>
              </a:rPr>
              <a:t>useEffect detects the change via dependency</a:t>
            </a:r>
            <a:endParaRPr lang="en-US" sz="1550" dirty="0"/>
          </a:p>
        </p:txBody>
      </p:sp>
      <p:sp>
        <p:nvSpPr>
          <p:cNvPr id="10" name="Text 8"/>
          <p:cNvSpPr/>
          <p:nvPr/>
        </p:nvSpPr>
        <p:spPr>
          <a:xfrm>
            <a:off x="793790" y="6358414"/>
            <a:ext cx="4250293"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3"/>
            </a:pPr>
            <a:r>
              <a:rPr lang="en-US" sz="1550" dirty="0">
                <a:solidFill>
                  <a:srgbClr val="000000"/>
                </a:solidFill>
                <a:latin typeface="Readex Pro Light" pitchFamily="34" charset="0"/>
                <a:ea typeface="Readex Pro Light" pitchFamily="34" charset="-122"/>
                <a:cs typeface="Readex Pro Light" pitchFamily="34" charset="-120"/>
              </a:rPr>
              <a:t>scrollToBottom function executes</a:t>
            </a:r>
            <a:endParaRPr lang="en-US" sz="1550" dirty="0"/>
          </a:p>
        </p:txBody>
      </p:sp>
      <p:sp>
        <p:nvSpPr>
          <p:cNvPr id="11" name="Text 9"/>
          <p:cNvSpPr/>
          <p:nvPr/>
        </p:nvSpPr>
        <p:spPr>
          <a:xfrm>
            <a:off x="793790" y="6745367"/>
            <a:ext cx="4250293"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4"/>
            </a:pPr>
            <a:r>
              <a:rPr lang="en-US" sz="1550" dirty="0">
                <a:solidFill>
                  <a:srgbClr val="000000"/>
                </a:solidFill>
                <a:latin typeface="Readex Pro Light" pitchFamily="34" charset="0"/>
                <a:ea typeface="Readex Pro Light" pitchFamily="34" charset="-122"/>
                <a:cs typeface="Readex Pro Light" pitchFamily="34" charset="-120"/>
              </a:rPr>
              <a:t>Smooth scroll animation to bottom</a:t>
            </a:r>
            <a:endParaRPr lang="en-US" sz="1550" dirty="0"/>
          </a:p>
        </p:txBody>
      </p:sp>
      <p:sp>
        <p:nvSpPr>
          <p:cNvPr id="12" name="Text 10"/>
          <p:cNvSpPr/>
          <p:nvPr/>
        </p:nvSpPr>
        <p:spPr>
          <a:xfrm>
            <a:off x="5535811" y="4758452"/>
            <a:ext cx="3012043"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User Experience Benefits</a:t>
            </a:r>
            <a:endParaRPr lang="en-US" sz="1950" dirty="0"/>
          </a:p>
        </p:txBody>
      </p:sp>
      <p:sp>
        <p:nvSpPr>
          <p:cNvPr id="13" name="Text 11"/>
          <p:cNvSpPr/>
          <p:nvPr/>
        </p:nvSpPr>
        <p:spPr>
          <a:xfrm>
            <a:off x="5535811" y="5266968"/>
            <a:ext cx="8308300"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Automatic scrolling eliminates the need for users to manually scroll to see new messages. The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behavior: "smooth"</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parameter adds a polished animation that feels natural and professional. This small detail significantly improves perceived quality.</a:t>
            </a:r>
            <a:endParaRPr lang="en-US" sz="1550" dirty="0"/>
          </a:p>
        </p:txBody>
      </p:sp>
      <p:sp>
        <p:nvSpPr>
          <p:cNvPr id="14" name="Text 12"/>
          <p:cNvSpPr/>
          <p:nvPr/>
        </p:nvSpPr>
        <p:spPr>
          <a:xfrm>
            <a:off x="5535811" y="6398181"/>
            <a:ext cx="8308300"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For very long conversations, you might want to add logic to detect if the user has scrolled up to read earlier messages and skip auto-scrolling in that case to avoid disrupting their reading.</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4586" y="340162"/>
            <a:ext cx="4448175" cy="309086"/>
          </a:xfrm>
          <a:prstGeom prst="rect">
            <a:avLst/>
          </a:prstGeom>
          <a:noFill/>
          <a:ln/>
        </p:spPr>
        <p:txBody>
          <a:bodyPr wrap="none" lIns="0" tIns="0" rIns="0" bIns="0" rtlCol="0" anchor="t"/>
          <a:lstStyle/>
          <a:p>
            <a:pPr algn="l" indent="0" marL="0">
              <a:lnSpc>
                <a:spcPts val="2400"/>
              </a:lnSpc>
              <a:buNone/>
            </a:pPr>
            <a:r>
              <a:rPr lang="en-US" sz="1900" dirty="0">
                <a:solidFill>
                  <a:srgbClr val="111111"/>
                </a:solidFill>
                <a:latin typeface="Readex Pro" pitchFamily="34" charset="0"/>
                <a:ea typeface="Readex Pro" pitchFamily="34" charset="-122"/>
                <a:cs typeface="Readex Pro" pitchFamily="34" charset="-120"/>
              </a:rPr>
              <a:t>The handleSend Function: Entry Point</a:t>
            </a:r>
            <a:endParaRPr lang="en-US" sz="1900" dirty="0"/>
          </a:p>
        </p:txBody>
      </p:sp>
      <p:sp>
        <p:nvSpPr>
          <p:cNvPr id="3" name="Shape 1"/>
          <p:cNvSpPr/>
          <p:nvPr/>
        </p:nvSpPr>
        <p:spPr>
          <a:xfrm>
            <a:off x="494586" y="896541"/>
            <a:ext cx="13641229" cy="3351371"/>
          </a:xfrm>
          <a:prstGeom prst="roundRect">
            <a:avLst>
              <a:gd name="adj" fmla="val 3321"/>
            </a:avLst>
          </a:prstGeom>
          <a:solidFill>
            <a:srgbClr val="F2F2F2"/>
          </a:solidFill>
          <a:ln/>
        </p:spPr>
      </p:sp>
      <p:sp>
        <p:nvSpPr>
          <p:cNvPr id="4" name="Shape 2"/>
          <p:cNvSpPr/>
          <p:nvPr/>
        </p:nvSpPr>
        <p:spPr>
          <a:xfrm>
            <a:off x="488513" y="896541"/>
            <a:ext cx="13653373" cy="3351371"/>
          </a:xfrm>
          <a:prstGeom prst="roundRect">
            <a:avLst>
              <a:gd name="adj" fmla="val 553"/>
            </a:avLst>
          </a:prstGeom>
          <a:solidFill>
            <a:srgbClr val="F2F2F2"/>
          </a:solidFill>
          <a:ln/>
        </p:spPr>
      </p:sp>
      <p:sp>
        <p:nvSpPr>
          <p:cNvPr id="5" name="Text 3"/>
          <p:cNvSpPr/>
          <p:nvPr/>
        </p:nvSpPr>
        <p:spPr>
          <a:xfrm>
            <a:off x="612100" y="989171"/>
            <a:ext cx="13406199" cy="3166110"/>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highlight>
                  <a:srgbClr val="F2F2F2"/>
                </a:highlight>
                <a:latin typeface="Consolas Light" pitchFamily="34" charset="0"/>
                <a:ea typeface="Consolas Light" pitchFamily="34" charset="-122"/>
                <a:cs typeface="Consolas Light" pitchFamily="34" charset="-120"/>
              </a:rPr>
              <a:t>const handleSend = async () =&gt; {  if (!input.trim() || isLoading) return;    const newUserMessage: ChatMessage = {    id: `user-${Date.now()}`,    role: 'user',    content: input,    isFinal: true,  };    setMessages(prev =&gt; [...prev, newUserMessage]);  setInput('');  setIsLoading(true);  setError(null);  // ... continues with API call};</a:t>
            </a:r>
            <a:endParaRPr lang="en-US" sz="950" dirty="0"/>
          </a:p>
        </p:txBody>
      </p:sp>
      <p:sp>
        <p:nvSpPr>
          <p:cNvPr id="6" name="Text 4"/>
          <p:cNvSpPr/>
          <p:nvPr/>
        </p:nvSpPr>
        <p:spPr>
          <a:xfrm>
            <a:off x="494586" y="4386977"/>
            <a:ext cx="13641229" cy="395764"/>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eadex Pro Light" pitchFamily="34" charset="0"/>
                <a:ea typeface="Readex Pro Light" pitchFamily="34" charset="-122"/>
                <a:cs typeface="Readex Pro Light" pitchFamily="34" charset="-120"/>
              </a:rPr>
              <a:t>The handleSend function orchestrates the entire message submission flow. It begins with guard clauses to prevent empty or duplicate submissions, then immediately adds the user's message to the UI for instant feedback before the API call even begins.</a:t>
            </a:r>
            <a:endParaRPr lang="en-US" sz="950" dirty="0"/>
          </a:p>
        </p:txBody>
      </p:sp>
      <p:pic>
        <p:nvPicPr>
          <p:cNvPr id="7" name="Image 0" descr="preencoded.png">    </p:cNvPr>
          <p:cNvPicPr>
            <a:picLocks noChangeAspect="1"/>
          </p:cNvPicPr>
          <p:nvPr/>
        </p:nvPicPr>
        <p:blipFill>
          <a:blip r:embed="rId1"/>
          <a:stretch>
            <a:fillRect/>
          </a:stretch>
        </p:blipFill>
        <p:spPr>
          <a:xfrm>
            <a:off x="494586" y="4921806"/>
            <a:ext cx="618173" cy="741878"/>
          </a:xfrm>
          <a:prstGeom prst="rect">
            <a:avLst/>
          </a:prstGeom>
        </p:spPr>
      </p:pic>
      <p:sp>
        <p:nvSpPr>
          <p:cNvPr id="8" name="Text 5"/>
          <p:cNvSpPr/>
          <p:nvPr/>
        </p:nvSpPr>
        <p:spPr>
          <a:xfrm>
            <a:off x="1236345" y="5045393"/>
            <a:ext cx="1545669" cy="193119"/>
          </a:xfrm>
          <a:prstGeom prst="rect">
            <a:avLst/>
          </a:prstGeom>
          <a:noFill/>
          <a:ln/>
        </p:spPr>
        <p:txBody>
          <a:bodyPr wrap="none" lIns="0" tIns="0" rIns="0" bIns="0" rtlCol="0" anchor="t"/>
          <a:lstStyle/>
          <a:p>
            <a:pPr algn="l" indent="0" marL="0">
              <a:lnSpc>
                <a:spcPts val="1500"/>
              </a:lnSpc>
              <a:buNone/>
            </a:pPr>
            <a:r>
              <a:rPr lang="en-US" sz="1200" dirty="0">
                <a:solidFill>
                  <a:srgbClr val="000000"/>
                </a:solidFill>
                <a:latin typeface="Readex Pro" pitchFamily="34" charset="0"/>
                <a:ea typeface="Readex Pro" pitchFamily="34" charset="-122"/>
                <a:cs typeface="Readex Pro" pitchFamily="34" charset="-120"/>
              </a:rPr>
              <a:t>Input Validation</a:t>
            </a:r>
            <a:endParaRPr lang="en-US" sz="1200" dirty="0"/>
          </a:p>
        </p:txBody>
      </p:sp>
      <p:sp>
        <p:nvSpPr>
          <p:cNvPr id="9" name="Text 6"/>
          <p:cNvSpPr/>
          <p:nvPr/>
        </p:nvSpPr>
        <p:spPr>
          <a:xfrm>
            <a:off x="1236345" y="5312688"/>
            <a:ext cx="12899469" cy="19788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eadex Pro Light" pitchFamily="34" charset="0"/>
                <a:ea typeface="Readex Pro Light" pitchFamily="34" charset="-122"/>
                <a:cs typeface="Readex Pro Light" pitchFamily="34" charset="-120"/>
              </a:rPr>
              <a:t>Check for empty input and prevent duplicate submissions during loading</a:t>
            </a:r>
            <a:endParaRPr lang="en-US" sz="950" dirty="0"/>
          </a:p>
        </p:txBody>
      </p:sp>
      <p:pic>
        <p:nvPicPr>
          <p:cNvPr id="10" name="Image 1" descr="preencoded.png">    </p:cNvPr>
          <p:cNvPicPr>
            <a:picLocks noChangeAspect="1"/>
          </p:cNvPicPr>
          <p:nvPr/>
        </p:nvPicPr>
        <p:blipFill>
          <a:blip r:embed="rId2"/>
          <a:stretch>
            <a:fillRect/>
          </a:stretch>
        </p:blipFill>
        <p:spPr>
          <a:xfrm>
            <a:off x="494586" y="5663684"/>
            <a:ext cx="618173" cy="741878"/>
          </a:xfrm>
          <a:prstGeom prst="rect">
            <a:avLst/>
          </a:prstGeom>
        </p:spPr>
      </p:pic>
      <p:sp>
        <p:nvSpPr>
          <p:cNvPr id="11" name="Text 7"/>
          <p:cNvSpPr/>
          <p:nvPr/>
        </p:nvSpPr>
        <p:spPr>
          <a:xfrm>
            <a:off x="1236345" y="5787271"/>
            <a:ext cx="1545669" cy="193119"/>
          </a:xfrm>
          <a:prstGeom prst="rect">
            <a:avLst/>
          </a:prstGeom>
          <a:noFill/>
          <a:ln/>
        </p:spPr>
        <p:txBody>
          <a:bodyPr wrap="none" lIns="0" tIns="0" rIns="0" bIns="0" rtlCol="0" anchor="t"/>
          <a:lstStyle/>
          <a:p>
            <a:pPr algn="l" indent="0" marL="0">
              <a:lnSpc>
                <a:spcPts val="1500"/>
              </a:lnSpc>
              <a:buNone/>
            </a:pPr>
            <a:r>
              <a:rPr lang="en-US" sz="1200" dirty="0">
                <a:solidFill>
                  <a:srgbClr val="000000"/>
                </a:solidFill>
                <a:latin typeface="Readex Pro" pitchFamily="34" charset="0"/>
                <a:ea typeface="Readex Pro" pitchFamily="34" charset="-122"/>
                <a:cs typeface="Readex Pro" pitchFamily="34" charset="-120"/>
              </a:rPr>
              <a:t>Optimistic Update</a:t>
            </a:r>
            <a:endParaRPr lang="en-US" sz="1200" dirty="0"/>
          </a:p>
        </p:txBody>
      </p:sp>
      <p:sp>
        <p:nvSpPr>
          <p:cNvPr id="12" name="Text 8"/>
          <p:cNvSpPr/>
          <p:nvPr/>
        </p:nvSpPr>
        <p:spPr>
          <a:xfrm>
            <a:off x="1236345" y="6054566"/>
            <a:ext cx="12899469" cy="19788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eadex Pro Light" pitchFamily="34" charset="0"/>
                <a:ea typeface="Readex Pro Light" pitchFamily="34" charset="-122"/>
                <a:cs typeface="Readex Pro Light" pitchFamily="34" charset="-120"/>
              </a:rPr>
              <a:t>Add user message to UI immediately for responsive feel</a:t>
            </a:r>
            <a:endParaRPr lang="en-US" sz="950" dirty="0"/>
          </a:p>
        </p:txBody>
      </p:sp>
      <p:pic>
        <p:nvPicPr>
          <p:cNvPr id="13" name="Image 2" descr="preencoded.png">    </p:cNvPr>
          <p:cNvPicPr>
            <a:picLocks noChangeAspect="1"/>
          </p:cNvPicPr>
          <p:nvPr/>
        </p:nvPicPr>
        <p:blipFill>
          <a:blip r:embed="rId3"/>
          <a:stretch>
            <a:fillRect/>
          </a:stretch>
        </p:blipFill>
        <p:spPr>
          <a:xfrm>
            <a:off x="494586" y="6405563"/>
            <a:ext cx="618173" cy="741878"/>
          </a:xfrm>
          <a:prstGeom prst="rect">
            <a:avLst/>
          </a:prstGeom>
        </p:spPr>
      </p:pic>
      <p:sp>
        <p:nvSpPr>
          <p:cNvPr id="14" name="Text 9"/>
          <p:cNvSpPr/>
          <p:nvPr/>
        </p:nvSpPr>
        <p:spPr>
          <a:xfrm>
            <a:off x="1236345" y="6529149"/>
            <a:ext cx="1545669" cy="193119"/>
          </a:xfrm>
          <a:prstGeom prst="rect">
            <a:avLst/>
          </a:prstGeom>
          <a:noFill/>
          <a:ln/>
        </p:spPr>
        <p:txBody>
          <a:bodyPr wrap="none" lIns="0" tIns="0" rIns="0" bIns="0" rtlCol="0" anchor="t"/>
          <a:lstStyle/>
          <a:p>
            <a:pPr algn="l" indent="0" marL="0">
              <a:lnSpc>
                <a:spcPts val="1500"/>
              </a:lnSpc>
              <a:buNone/>
            </a:pPr>
            <a:r>
              <a:rPr lang="en-US" sz="1200" dirty="0">
                <a:solidFill>
                  <a:srgbClr val="000000"/>
                </a:solidFill>
                <a:latin typeface="Readex Pro" pitchFamily="34" charset="0"/>
                <a:ea typeface="Readex Pro" pitchFamily="34" charset="-122"/>
                <a:cs typeface="Readex Pro" pitchFamily="34" charset="-120"/>
              </a:rPr>
              <a:t>State Cleanup</a:t>
            </a:r>
            <a:endParaRPr lang="en-US" sz="1200" dirty="0"/>
          </a:p>
        </p:txBody>
      </p:sp>
      <p:sp>
        <p:nvSpPr>
          <p:cNvPr id="15" name="Text 10"/>
          <p:cNvSpPr/>
          <p:nvPr/>
        </p:nvSpPr>
        <p:spPr>
          <a:xfrm>
            <a:off x="1236345" y="6796445"/>
            <a:ext cx="12899469" cy="19788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eadex Pro Light" pitchFamily="34" charset="0"/>
                <a:ea typeface="Readex Pro Light" pitchFamily="34" charset="-122"/>
                <a:cs typeface="Readex Pro Light" pitchFamily="34" charset="-120"/>
              </a:rPr>
              <a:t>Clear input, set loading state, reset errors</a:t>
            </a:r>
            <a:endParaRPr lang="en-US" sz="950" dirty="0"/>
          </a:p>
        </p:txBody>
      </p:sp>
      <p:pic>
        <p:nvPicPr>
          <p:cNvPr id="16" name="Image 3" descr="preencoded.png">    </p:cNvPr>
          <p:cNvPicPr>
            <a:picLocks noChangeAspect="1"/>
          </p:cNvPicPr>
          <p:nvPr/>
        </p:nvPicPr>
        <p:blipFill>
          <a:blip r:embed="rId4"/>
          <a:stretch>
            <a:fillRect/>
          </a:stretch>
        </p:blipFill>
        <p:spPr>
          <a:xfrm>
            <a:off x="494586" y="7147441"/>
            <a:ext cx="618173" cy="741878"/>
          </a:xfrm>
          <a:prstGeom prst="rect">
            <a:avLst/>
          </a:prstGeom>
        </p:spPr>
      </p:pic>
      <p:sp>
        <p:nvSpPr>
          <p:cNvPr id="17" name="Text 11"/>
          <p:cNvSpPr/>
          <p:nvPr/>
        </p:nvSpPr>
        <p:spPr>
          <a:xfrm>
            <a:off x="1236345" y="7271028"/>
            <a:ext cx="1545669" cy="193119"/>
          </a:xfrm>
          <a:prstGeom prst="rect">
            <a:avLst/>
          </a:prstGeom>
          <a:noFill/>
          <a:ln/>
        </p:spPr>
        <p:txBody>
          <a:bodyPr wrap="none" lIns="0" tIns="0" rIns="0" bIns="0" rtlCol="0" anchor="t"/>
          <a:lstStyle/>
          <a:p>
            <a:pPr algn="l" indent="0" marL="0">
              <a:lnSpc>
                <a:spcPts val="1500"/>
              </a:lnSpc>
              <a:buNone/>
            </a:pPr>
            <a:r>
              <a:rPr lang="en-US" sz="1200" dirty="0">
                <a:solidFill>
                  <a:srgbClr val="000000"/>
                </a:solidFill>
                <a:latin typeface="Readex Pro" pitchFamily="34" charset="0"/>
                <a:ea typeface="Readex Pro" pitchFamily="34" charset="-122"/>
                <a:cs typeface="Readex Pro" pitchFamily="34" charset="-120"/>
              </a:rPr>
              <a:t>API Interaction</a:t>
            </a:r>
            <a:endParaRPr lang="en-US" sz="1200" dirty="0"/>
          </a:p>
        </p:txBody>
      </p:sp>
      <p:sp>
        <p:nvSpPr>
          <p:cNvPr id="18" name="Text 12"/>
          <p:cNvSpPr/>
          <p:nvPr/>
        </p:nvSpPr>
        <p:spPr>
          <a:xfrm>
            <a:off x="1236345" y="7538323"/>
            <a:ext cx="12899469" cy="19788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eadex Pro Light" pitchFamily="34" charset="0"/>
                <a:ea typeface="Readex Pro Light" pitchFamily="34" charset="-122"/>
                <a:cs typeface="Readex Pro Light" pitchFamily="34" charset="-120"/>
              </a:rPr>
              <a:t>Initialize or reuse chat session and stream response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027747"/>
            <a:ext cx="4250531"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Optimistic UI Updates</a:t>
            </a:r>
            <a:endParaRPr lang="en-US" sz="3100" dirty="0"/>
          </a:p>
        </p:txBody>
      </p:sp>
      <p:sp>
        <p:nvSpPr>
          <p:cNvPr id="3" name="Text 1"/>
          <p:cNvSpPr/>
          <p:nvPr/>
        </p:nvSpPr>
        <p:spPr>
          <a:xfrm>
            <a:off x="793790" y="1920716"/>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One of the most important patterns in this implementation is the optimistic update: adding the user's message to the UI before waiting for the API response. This creates the perception of instant responsiveness, even though network latency means the AI hasn't actually received the message yet.</a:t>
            </a:r>
            <a:endParaRPr lang="en-US" sz="1550" dirty="0"/>
          </a:p>
        </p:txBody>
      </p:sp>
      <p:sp>
        <p:nvSpPr>
          <p:cNvPr id="4" name="Text 2"/>
          <p:cNvSpPr/>
          <p:nvPr/>
        </p:nvSpPr>
        <p:spPr>
          <a:xfrm>
            <a:off x="793790" y="329493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Traditional Approach</a:t>
            </a:r>
            <a:endParaRPr lang="en-US" sz="1950" dirty="0"/>
          </a:p>
        </p:txBody>
      </p:sp>
      <p:sp>
        <p:nvSpPr>
          <p:cNvPr id="5" name="Text 3"/>
          <p:cNvSpPr/>
          <p:nvPr/>
        </p:nvSpPr>
        <p:spPr>
          <a:xfrm>
            <a:off x="793790" y="3803452"/>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1"/>
            </a:pPr>
            <a:r>
              <a:rPr lang="en-US" sz="1550" dirty="0">
                <a:solidFill>
                  <a:srgbClr val="000000"/>
                </a:solidFill>
                <a:latin typeface="Readex Pro Light" pitchFamily="34" charset="0"/>
                <a:ea typeface="Readex Pro Light" pitchFamily="34" charset="-122"/>
                <a:cs typeface="Readex Pro Light" pitchFamily="34" charset="-120"/>
              </a:rPr>
              <a:t>User types message and clicks send</a:t>
            </a:r>
            <a:endParaRPr lang="en-US" sz="1550" dirty="0"/>
          </a:p>
        </p:txBody>
      </p:sp>
      <p:sp>
        <p:nvSpPr>
          <p:cNvPr id="6" name="Text 4"/>
          <p:cNvSpPr/>
          <p:nvPr/>
        </p:nvSpPr>
        <p:spPr>
          <a:xfrm>
            <a:off x="793790" y="4190405"/>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2"/>
            </a:pPr>
            <a:r>
              <a:rPr lang="en-US" sz="1550" dirty="0">
                <a:solidFill>
                  <a:srgbClr val="000000"/>
                </a:solidFill>
                <a:latin typeface="Readex Pro Light" pitchFamily="34" charset="0"/>
                <a:ea typeface="Readex Pro Light" pitchFamily="34" charset="-122"/>
                <a:cs typeface="Readex Pro Light" pitchFamily="34" charset="-120"/>
              </a:rPr>
              <a:t>Application shows loading state</a:t>
            </a:r>
            <a:endParaRPr lang="en-US" sz="1550" dirty="0"/>
          </a:p>
        </p:txBody>
      </p:sp>
      <p:sp>
        <p:nvSpPr>
          <p:cNvPr id="7" name="Text 5"/>
          <p:cNvSpPr/>
          <p:nvPr/>
        </p:nvSpPr>
        <p:spPr>
          <a:xfrm>
            <a:off x="793790" y="4577358"/>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3"/>
            </a:pPr>
            <a:r>
              <a:rPr lang="en-US" sz="1550" dirty="0">
                <a:solidFill>
                  <a:srgbClr val="000000"/>
                </a:solidFill>
                <a:latin typeface="Readex Pro Light" pitchFamily="34" charset="0"/>
                <a:ea typeface="Readex Pro Light" pitchFamily="34" charset="-122"/>
                <a:cs typeface="Readex Pro Light" pitchFamily="34" charset="-120"/>
              </a:rPr>
              <a:t>API request completes</a:t>
            </a:r>
            <a:endParaRPr lang="en-US" sz="1550" dirty="0"/>
          </a:p>
        </p:txBody>
      </p:sp>
      <p:sp>
        <p:nvSpPr>
          <p:cNvPr id="8" name="Text 6"/>
          <p:cNvSpPr/>
          <p:nvPr/>
        </p:nvSpPr>
        <p:spPr>
          <a:xfrm>
            <a:off x="793790" y="4964311"/>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4"/>
            </a:pPr>
            <a:r>
              <a:rPr lang="en-US" sz="1550" dirty="0">
                <a:solidFill>
                  <a:srgbClr val="000000"/>
                </a:solidFill>
                <a:latin typeface="Readex Pro Light" pitchFamily="34" charset="0"/>
                <a:ea typeface="Readex Pro Light" pitchFamily="34" charset="-122"/>
                <a:cs typeface="Readex Pro Light" pitchFamily="34" charset="-120"/>
              </a:rPr>
              <a:t>User message appears in UI</a:t>
            </a:r>
            <a:endParaRPr lang="en-US" sz="1550" dirty="0"/>
          </a:p>
        </p:txBody>
      </p:sp>
      <p:sp>
        <p:nvSpPr>
          <p:cNvPr id="9" name="Text 7"/>
          <p:cNvSpPr/>
          <p:nvPr/>
        </p:nvSpPr>
        <p:spPr>
          <a:xfrm>
            <a:off x="793790" y="5351264"/>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5"/>
            </a:pPr>
            <a:r>
              <a:rPr lang="en-US" sz="1550" dirty="0">
                <a:solidFill>
                  <a:srgbClr val="000000"/>
                </a:solidFill>
                <a:latin typeface="Readex Pro Light" pitchFamily="34" charset="0"/>
                <a:ea typeface="Readex Pro Light" pitchFamily="34" charset="-122"/>
                <a:cs typeface="Readex Pro Light" pitchFamily="34" charset="-120"/>
              </a:rPr>
              <a:t>AI response appears in UI</a:t>
            </a:r>
            <a:endParaRPr lang="en-US" sz="1550" dirty="0"/>
          </a:p>
        </p:txBody>
      </p:sp>
      <p:sp>
        <p:nvSpPr>
          <p:cNvPr id="10" name="Text 8"/>
          <p:cNvSpPr/>
          <p:nvPr/>
        </p:nvSpPr>
        <p:spPr>
          <a:xfrm>
            <a:off x="793790" y="5847398"/>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Total perceived delay: Full network roundtrip + AI processing time</a:t>
            </a:r>
            <a:endParaRPr lang="en-US" sz="1550" dirty="0"/>
          </a:p>
        </p:txBody>
      </p:sp>
      <p:sp>
        <p:nvSpPr>
          <p:cNvPr id="11" name="Text 9"/>
          <p:cNvSpPr/>
          <p:nvPr/>
        </p:nvSpPr>
        <p:spPr>
          <a:xfrm>
            <a:off x="7564874" y="329493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Optimistic Approach</a:t>
            </a:r>
            <a:endParaRPr lang="en-US" sz="1950" dirty="0"/>
          </a:p>
        </p:txBody>
      </p:sp>
      <p:sp>
        <p:nvSpPr>
          <p:cNvPr id="12" name="Text 10"/>
          <p:cNvSpPr/>
          <p:nvPr/>
        </p:nvSpPr>
        <p:spPr>
          <a:xfrm>
            <a:off x="7564874" y="3803452"/>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1"/>
            </a:pPr>
            <a:r>
              <a:rPr lang="en-US" sz="1550" dirty="0">
                <a:solidFill>
                  <a:srgbClr val="000000"/>
                </a:solidFill>
                <a:latin typeface="Readex Pro Light" pitchFamily="34" charset="0"/>
                <a:ea typeface="Readex Pro Light" pitchFamily="34" charset="-122"/>
                <a:cs typeface="Readex Pro Light" pitchFamily="34" charset="-120"/>
              </a:rPr>
              <a:t>User types message and clicks send</a:t>
            </a:r>
            <a:endParaRPr lang="en-US" sz="1550" dirty="0"/>
          </a:p>
        </p:txBody>
      </p:sp>
      <p:sp>
        <p:nvSpPr>
          <p:cNvPr id="13" name="Text 11"/>
          <p:cNvSpPr/>
          <p:nvPr/>
        </p:nvSpPr>
        <p:spPr>
          <a:xfrm>
            <a:off x="7564874" y="4190405"/>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2"/>
            </a:pPr>
            <a:r>
              <a:rPr lang="en-US" sz="1550" dirty="0">
                <a:solidFill>
                  <a:srgbClr val="000000"/>
                </a:solidFill>
                <a:latin typeface="Readex Pro Light" pitchFamily="34" charset="0"/>
                <a:ea typeface="Readex Pro Light" pitchFamily="34" charset="-122"/>
                <a:cs typeface="Readex Pro Light" pitchFamily="34" charset="-120"/>
              </a:rPr>
              <a:t>User message appears immediately</a:t>
            </a:r>
            <a:endParaRPr lang="en-US" sz="1550" dirty="0"/>
          </a:p>
        </p:txBody>
      </p:sp>
      <p:sp>
        <p:nvSpPr>
          <p:cNvPr id="14" name="Text 12"/>
          <p:cNvSpPr/>
          <p:nvPr/>
        </p:nvSpPr>
        <p:spPr>
          <a:xfrm>
            <a:off x="7564874" y="4577358"/>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3"/>
            </a:pPr>
            <a:r>
              <a:rPr lang="en-US" sz="1550" dirty="0">
                <a:solidFill>
                  <a:srgbClr val="000000"/>
                </a:solidFill>
                <a:latin typeface="Readex Pro Light" pitchFamily="34" charset="0"/>
                <a:ea typeface="Readex Pro Light" pitchFamily="34" charset="-122"/>
                <a:cs typeface="Readex Pro Light" pitchFamily="34" charset="-120"/>
              </a:rPr>
              <a:t>Loading indicator for AI response</a:t>
            </a:r>
            <a:endParaRPr lang="en-US" sz="1550" dirty="0"/>
          </a:p>
        </p:txBody>
      </p:sp>
      <p:sp>
        <p:nvSpPr>
          <p:cNvPr id="15" name="Text 13"/>
          <p:cNvSpPr/>
          <p:nvPr/>
        </p:nvSpPr>
        <p:spPr>
          <a:xfrm>
            <a:off x="7564874" y="4964311"/>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4"/>
            </a:pPr>
            <a:r>
              <a:rPr lang="en-US" sz="1550" dirty="0">
                <a:solidFill>
                  <a:srgbClr val="000000"/>
                </a:solidFill>
                <a:latin typeface="Readex Pro Light" pitchFamily="34" charset="0"/>
                <a:ea typeface="Readex Pro Light" pitchFamily="34" charset="-122"/>
                <a:cs typeface="Readex Pro Light" pitchFamily="34" charset="-120"/>
              </a:rPr>
              <a:t>AI response streams in as it's generated</a:t>
            </a:r>
            <a:endParaRPr lang="en-US" sz="1550" dirty="0"/>
          </a:p>
        </p:txBody>
      </p:sp>
      <p:sp>
        <p:nvSpPr>
          <p:cNvPr id="16" name="Text 14"/>
          <p:cNvSpPr/>
          <p:nvPr/>
        </p:nvSpPr>
        <p:spPr>
          <a:xfrm>
            <a:off x="7564874" y="5460444"/>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Perceived delay: Only AI processing time, feels instant</a:t>
            </a:r>
            <a:endParaRPr lang="en-US" sz="1550" dirty="0"/>
          </a:p>
        </p:txBody>
      </p:sp>
      <p:sp>
        <p:nvSpPr>
          <p:cNvPr id="17" name="Text 15"/>
          <p:cNvSpPr/>
          <p:nvPr/>
        </p:nvSpPr>
        <p:spPr>
          <a:xfrm>
            <a:off x="793790" y="656677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This pattern is safe because user messages don't require server validation—they're just text the user typed. If the API call fails, the message remains visible but an error indicator appears.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12232" y="489704"/>
            <a:ext cx="4403050" cy="445056"/>
          </a:xfrm>
          <a:prstGeom prst="rect">
            <a:avLst/>
          </a:prstGeom>
          <a:noFill/>
          <a:ln/>
        </p:spPr>
        <p:txBody>
          <a:bodyPr wrap="none" lIns="0" tIns="0" rIns="0" bIns="0" rtlCol="0" anchor="t"/>
          <a:lstStyle/>
          <a:p>
            <a:pPr algn="l" indent="0" marL="0">
              <a:lnSpc>
                <a:spcPts val="3500"/>
              </a:lnSpc>
              <a:buNone/>
            </a:pPr>
            <a:r>
              <a:rPr lang="en-US" sz="2800" dirty="0">
                <a:solidFill>
                  <a:srgbClr val="111111"/>
                </a:solidFill>
                <a:latin typeface="Readex Pro" pitchFamily="34" charset="0"/>
                <a:ea typeface="Readex Pro" pitchFamily="34" charset="-122"/>
                <a:cs typeface="Readex Pro" pitchFamily="34" charset="-120"/>
              </a:rPr>
              <a:t>Chat Session Initialization</a:t>
            </a:r>
            <a:endParaRPr lang="en-US" sz="2800" dirty="0"/>
          </a:p>
        </p:txBody>
      </p:sp>
      <p:sp>
        <p:nvSpPr>
          <p:cNvPr id="3" name="Shape 1"/>
          <p:cNvSpPr/>
          <p:nvPr/>
        </p:nvSpPr>
        <p:spPr>
          <a:xfrm>
            <a:off x="712232" y="1290876"/>
            <a:ext cx="13205936" cy="5680353"/>
          </a:xfrm>
          <a:prstGeom prst="roundRect">
            <a:avLst>
              <a:gd name="adj" fmla="val 2822"/>
            </a:avLst>
          </a:prstGeom>
          <a:solidFill>
            <a:srgbClr val="F2F2F2"/>
          </a:solidFill>
          <a:ln/>
        </p:spPr>
      </p:sp>
      <p:sp>
        <p:nvSpPr>
          <p:cNvPr id="4" name="Shape 2"/>
          <p:cNvSpPr/>
          <p:nvPr/>
        </p:nvSpPr>
        <p:spPr>
          <a:xfrm>
            <a:off x="703421" y="1290876"/>
            <a:ext cx="13223558" cy="5680353"/>
          </a:xfrm>
          <a:prstGeom prst="roundRect">
            <a:avLst>
              <a:gd name="adj" fmla="val 470"/>
            </a:avLst>
          </a:prstGeom>
          <a:solidFill>
            <a:srgbClr val="F2F2F2"/>
          </a:solidFill>
          <a:ln/>
        </p:spPr>
      </p:sp>
      <p:sp>
        <p:nvSpPr>
          <p:cNvPr id="5" name="Text 3"/>
          <p:cNvSpPr/>
          <p:nvPr/>
        </p:nvSpPr>
        <p:spPr>
          <a:xfrm>
            <a:off x="881420" y="1424345"/>
            <a:ext cx="12867561" cy="5413415"/>
          </a:xfrm>
          <a:prstGeom prst="rect">
            <a:avLst/>
          </a:prstGeom>
          <a:noFill/>
          <a:ln/>
        </p:spPr>
        <p:txBody>
          <a:bodyPr wrap="square" lIns="0" tIns="0" rIns="0" bIns="0" rtlCol="0" anchor="t"/>
          <a:lstStyle/>
          <a:p>
            <a:pPr algn="l" indent="0" marL="0">
              <a:lnSpc>
                <a:spcPts val="2200"/>
              </a:lnSpc>
              <a:buNone/>
            </a:pPr>
            <a:r>
              <a:rPr lang="en-US" sz="1400" dirty="0">
                <a:solidFill>
                  <a:srgbClr val="000000"/>
                </a:solidFill>
                <a:highlight>
                  <a:srgbClr val="F2F2F2"/>
                </a:highlight>
                <a:latin typeface="Consolas Light" pitchFamily="34" charset="0"/>
                <a:ea typeface="Consolas Light" pitchFamily="34" charset="-122"/>
                <a:cs typeface="Consolas Light" pitchFamily="34" charset="-120"/>
              </a:rPr>
              <a:t>if (!chatRef.current) {  const ai = new GoogleGenAI({ apiKey: process.env.API_KEY });  chatRef.current = ai.chats.create({    model: 'gemini-2.5-flash',    config: {      tools: [{ googleSearch: {} }, { googleMaps: {} }],      ...(location &amp;&amp; {        toolConfig: {          retrievalConfig: {            latLng: {              latitude: location.latitude,              longitude: location.longitude,            }          }        }      })    }  });}</a:t>
            </a:r>
            <a:endParaRPr lang="en-US" sz="1400" dirty="0"/>
          </a:p>
        </p:txBody>
      </p:sp>
      <p:sp>
        <p:nvSpPr>
          <p:cNvPr id="6" name="Text 4"/>
          <p:cNvSpPr/>
          <p:nvPr/>
        </p:nvSpPr>
        <p:spPr>
          <a:xfrm>
            <a:off x="712232" y="7171492"/>
            <a:ext cx="13205936" cy="569833"/>
          </a:xfrm>
          <a:prstGeom prst="rect">
            <a:avLst/>
          </a:prstGeom>
          <a:noFill/>
          <a:ln/>
        </p:spPr>
        <p:txBody>
          <a:bodyPr wrap="square" lIns="0" tIns="0" rIns="0" bIns="0" rtlCol="0" anchor="t"/>
          <a:lstStyle/>
          <a:p>
            <a:pPr algn="l" indent="0" marL="0">
              <a:lnSpc>
                <a:spcPts val="2200"/>
              </a:lnSpc>
              <a:buNone/>
            </a:pPr>
            <a:r>
              <a:rPr lang="en-US" sz="1400" dirty="0">
                <a:solidFill>
                  <a:srgbClr val="000000"/>
                </a:solidFill>
                <a:latin typeface="Readex Pro Light" pitchFamily="34" charset="0"/>
                <a:ea typeface="Readex Pro Light" pitchFamily="34" charset="-122"/>
                <a:cs typeface="Readex Pro Light" pitchFamily="34" charset="-120"/>
              </a:rPr>
              <a:t>The chat session is initialized lazily on first send. This code demonstrates several advanced patterns including conditional configuration spreading, tool integration, and location-aware setup.</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156930"/>
            <a:ext cx="8030051"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Understanding the Gemini 2.5 Flash Model</a:t>
            </a:r>
            <a:endParaRPr lang="en-US" sz="3100" dirty="0"/>
          </a:p>
        </p:txBody>
      </p:sp>
      <p:sp>
        <p:nvSpPr>
          <p:cNvPr id="3" name="Text 1"/>
          <p:cNvSpPr/>
          <p:nvPr/>
        </p:nvSpPr>
        <p:spPr>
          <a:xfrm>
            <a:off x="793790" y="2049899"/>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choice of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gemini-2.5-flash</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is strategic. This model represents Google's latest fast-inference variant, optimized for conversational interfaces where response speed is critical. Flash models trade a small amount of capability for significant improvements in latency and cost-effectiveness.</a:t>
            </a:r>
            <a:endParaRPr lang="en-US" sz="1550" dirty="0"/>
          </a:p>
        </p:txBody>
      </p:sp>
      <p:sp>
        <p:nvSpPr>
          <p:cNvPr id="4" name="Shape 2"/>
          <p:cNvSpPr/>
          <p:nvPr/>
        </p:nvSpPr>
        <p:spPr>
          <a:xfrm>
            <a:off x="793790" y="3225760"/>
            <a:ext cx="6422231" cy="1824276"/>
          </a:xfrm>
          <a:prstGeom prst="roundRect">
            <a:avLst>
              <a:gd name="adj" fmla="val 6015"/>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pic>
        <p:nvPicPr>
          <p:cNvPr id="5" name="Image 0" descr="preencoded.png">    </p:cNvPr>
          <p:cNvPicPr>
            <a:picLocks noChangeAspect="1"/>
          </p:cNvPicPr>
          <p:nvPr/>
        </p:nvPicPr>
        <p:blipFill>
          <a:blip r:embed="rId1"/>
          <a:stretch>
            <a:fillRect/>
          </a:stretch>
        </p:blipFill>
        <p:spPr>
          <a:xfrm>
            <a:off x="770930" y="3225760"/>
            <a:ext cx="91440" cy="1824276"/>
          </a:xfrm>
          <a:prstGeom prst="rect">
            <a:avLst/>
          </a:prstGeom>
        </p:spPr>
      </p:pic>
      <p:sp>
        <p:nvSpPr>
          <p:cNvPr id="6" name="Text 3"/>
          <p:cNvSpPr/>
          <p:nvPr/>
        </p:nvSpPr>
        <p:spPr>
          <a:xfrm>
            <a:off x="1083588" y="344697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Speed Optimized</a:t>
            </a:r>
            <a:endParaRPr lang="en-US" sz="1950" dirty="0"/>
          </a:p>
        </p:txBody>
      </p:sp>
      <p:sp>
        <p:nvSpPr>
          <p:cNvPr id="7" name="Text 4"/>
          <p:cNvSpPr/>
          <p:nvPr/>
        </p:nvSpPr>
        <p:spPr>
          <a:xfrm>
            <a:off x="1083588" y="3876199"/>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Flash models are designed for sub-second first-token latency, critical for streaming conversational experiences where users expect immediate feedback.</a:t>
            </a:r>
            <a:endParaRPr lang="en-US" sz="1550" dirty="0"/>
          </a:p>
        </p:txBody>
      </p:sp>
      <p:sp>
        <p:nvSpPr>
          <p:cNvPr id="8" name="Shape 5"/>
          <p:cNvSpPr/>
          <p:nvPr/>
        </p:nvSpPr>
        <p:spPr>
          <a:xfrm>
            <a:off x="7414379" y="3225760"/>
            <a:ext cx="6422231" cy="1824276"/>
          </a:xfrm>
          <a:prstGeom prst="roundRect">
            <a:avLst>
              <a:gd name="adj" fmla="val 6015"/>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pic>
        <p:nvPicPr>
          <p:cNvPr id="9" name="Image 1" descr="preencoded.png">    </p:cNvPr>
          <p:cNvPicPr>
            <a:picLocks noChangeAspect="1"/>
          </p:cNvPicPr>
          <p:nvPr/>
        </p:nvPicPr>
        <p:blipFill>
          <a:blip r:embed="rId2"/>
          <a:stretch>
            <a:fillRect/>
          </a:stretch>
        </p:blipFill>
        <p:spPr>
          <a:xfrm>
            <a:off x="7391519" y="3225760"/>
            <a:ext cx="91440" cy="1824276"/>
          </a:xfrm>
          <a:prstGeom prst="rect">
            <a:avLst/>
          </a:prstGeom>
        </p:spPr>
      </p:pic>
      <p:sp>
        <p:nvSpPr>
          <p:cNvPr id="10" name="Text 6"/>
          <p:cNvSpPr/>
          <p:nvPr/>
        </p:nvSpPr>
        <p:spPr>
          <a:xfrm>
            <a:off x="7704177" y="344697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Cost Effective</a:t>
            </a:r>
            <a:endParaRPr lang="en-US" sz="1950" dirty="0"/>
          </a:p>
        </p:txBody>
      </p:sp>
      <p:sp>
        <p:nvSpPr>
          <p:cNvPr id="11" name="Text 7"/>
          <p:cNvSpPr/>
          <p:nvPr/>
        </p:nvSpPr>
        <p:spPr>
          <a:xfrm>
            <a:off x="7704177" y="3876199"/>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Lower per-token costs make Flash models ideal for high-volume conversational applications where many interactions occur.</a:t>
            </a:r>
            <a:endParaRPr lang="en-US" sz="1550" dirty="0"/>
          </a:p>
        </p:txBody>
      </p:sp>
      <p:sp>
        <p:nvSpPr>
          <p:cNvPr id="12" name="Shape 8"/>
          <p:cNvSpPr/>
          <p:nvPr/>
        </p:nvSpPr>
        <p:spPr>
          <a:xfrm>
            <a:off x="793790" y="5248394"/>
            <a:ext cx="6422231" cy="1824276"/>
          </a:xfrm>
          <a:prstGeom prst="roundRect">
            <a:avLst>
              <a:gd name="adj" fmla="val 6015"/>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pic>
        <p:nvPicPr>
          <p:cNvPr id="13" name="Image 2" descr="preencoded.png">    </p:cNvPr>
          <p:cNvPicPr>
            <a:picLocks noChangeAspect="1"/>
          </p:cNvPicPr>
          <p:nvPr/>
        </p:nvPicPr>
        <p:blipFill>
          <a:blip r:embed="rId3"/>
          <a:stretch>
            <a:fillRect/>
          </a:stretch>
        </p:blipFill>
        <p:spPr>
          <a:xfrm>
            <a:off x="770930" y="5248394"/>
            <a:ext cx="91440" cy="1824276"/>
          </a:xfrm>
          <a:prstGeom prst="rect">
            <a:avLst/>
          </a:prstGeom>
        </p:spPr>
      </p:pic>
      <p:sp>
        <p:nvSpPr>
          <p:cNvPr id="14" name="Text 9"/>
          <p:cNvSpPr/>
          <p:nvPr/>
        </p:nvSpPr>
        <p:spPr>
          <a:xfrm>
            <a:off x="1083588" y="546961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Sufficient Capability</a:t>
            </a:r>
            <a:endParaRPr lang="en-US" sz="1950" dirty="0"/>
          </a:p>
        </p:txBody>
      </p:sp>
      <p:sp>
        <p:nvSpPr>
          <p:cNvPr id="15" name="Text 10"/>
          <p:cNvSpPr/>
          <p:nvPr/>
        </p:nvSpPr>
        <p:spPr>
          <a:xfrm>
            <a:off x="1083588" y="5898833"/>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While not as capable as larger models, Flash handles most conversational tasks excellently, especially with tool augmentation.</a:t>
            </a:r>
            <a:endParaRPr lang="en-US" sz="1550" dirty="0"/>
          </a:p>
        </p:txBody>
      </p:sp>
      <p:sp>
        <p:nvSpPr>
          <p:cNvPr id="16" name="Shape 11"/>
          <p:cNvSpPr/>
          <p:nvPr/>
        </p:nvSpPr>
        <p:spPr>
          <a:xfrm>
            <a:off x="7414379" y="5248394"/>
            <a:ext cx="6422231" cy="1824276"/>
          </a:xfrm>
          <a:prstGeom prst="roundRect">
            <a:avLst>
              <a:gd name="adj" fmla="val 6015"/>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pic>
        <p:nvPicPr>
          <p:cNvPr id="17" name="Image 3" descr="preencoded.png">    </p:cNvPr>
          <p:cNvPicPr>
            <a:picLocks noChangeAspect="1"/>
          </p:cNvPicPr>
          <p:nvPr/>
        </p:nvPicPr>
        <p:blipFill>
          <a:blip r:embed="rId4"/>
          <a:stretch>
            <a:fillRect/>
          </a:stretch>
        </p:blipFill>
        <p:spPr>
          <a:xfrm>
            <a:off x="7391519" y="5248394"/>
            <a:ext cx="91440" cy="1824276"/>
          </a:xfrm>
          <a:prstGeom prst="rect">
            <a:avLst/>
          </a:prstGeom>
        </p:spPr>
      </p:pic>
      <p:sp>
        <p:nvSpPr>
          <p:cNvPr id="18" name="Text 12"/>
          <p:cNvSpPr/>
          <p:nvPr/>
        </p:nvSpPr>
        <p:spPr>
          <a:xfrm>
            <a:off x="7704177" y="546961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Streaming Native</a:t>
            </a:r>
            <a:endParaRPr lang="en-US" sz="1950" dirty="0"/>
          </a:p>
        </p:txBody>
      </p:sp>
      <p:sp>
        <p:nvSpPr>
          <p:cNvPr id="19" name="Text 13"/>
          <p:cNvSpPr/>
          <p:nvPr/>
        </p:nvSpPr>
        <p:spPr>
          <a:xfrm>
            <a:off x="7704177" y="5898833"/>
            <a:ext cx="591121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Designed from the ground up to support streaming responses, enabling real-time user feedback as the model generates text.</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176457"/>
            <a:ext cx="7957423"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Tool Integration: Google Search and Maps</a:t>
            </a:r>
            <a:endParaRPr lang="en-US" sz="3100" dirty="0"/>
          </a:p>
        </p:txBody>
      </p:sp>
      <p:sp>
        <p:nvSpPr>
          <p:cNvPr id="3" name="Text 1"/>
          <p:cNvSpPr/>
          <p:nvPr/>
        </p:nvSpPr>
        <p:spPr>
          <a:xfrm>
            <a:off x="793790" y="206942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tools configuration is where this implementation becomes truly powerful. By enabling Google Search and Maps, we're not just building a chatbot—we're creating an AI assistant that can access real-time information and location services.</a:t>
            </a:r>
            <a:endParaRPr lang="en-US" sz="1550" dirty="0"/>
          </a:p>
        </p:txBody>
      </p:sp>
      <p:sp>
        <p:nvSpPr>
          <p:cNvPr id="4" name="Shape 2"/>
          <p:cNvSpPr/>
          <p:nvPr/>
        </p:nvSpPr>
        <p:spPr>
          <a:xfrm>
            <a:off x="793790" y="2927747"/>
            <a:ext cx="13042821" cy="615196"/>
          </a:xfrm>
          <a:prstGeom prst="roundRect">
            <a:avLst>
              <a:gd name="adj" fmla="val 29036"/>
            </a:avLst>
          </a:prstGeom>
          <a:solidFill>
            <a:srgbClr val="F2F2F2"/>
          </a:solidFill>
          <a:ln/>
        </p:spPr>
      </p:sp>
      <p:sp>
        <p:nvSpPr>
          <p:cNvPr id="5" name="Shape 3"/>
          <p:cNvSpPr/>
          <p:nvPr/>
        </p:nvSpPr>
        <p:spPr>
          <a:xfrm>
            <a:off x="783908" y="2927747"/>
            <a:ext cx="13062585" cy="615196"/>
          </a:xfrm>
          <a:prstGeom prst="roundRect">
            <a:avLst>
              <a:gd name="adj" fmla="val 4839"/>
            </a:avLst>
          </a:prstGeom>
          <a:solidFill>
            <a:srgbClr val="F2F2F2"/>
          </a:solidFill>
          <a:ln/>
        </p:spPr>
      </p:sp>
      <p:sp>
        <p:nvSpPr>
          <p:cNvPr id="6" name="Text 4"/>
          <p:cNvSpPr/>
          <p:nvPr/>
        </p:nvSpPr>
        <p:spPr>
          <a:xfrm>
            <a:off x="982266" y="3076575"/>
            <a:ext cx="12665869"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tools: [{ googleSearch: {} }, { googleMaps: {} }]</a:t>
            </a:r>
            <a:endParaRPr lang="en-US" sz="1550" dirty="0"/>
          </a:p>
        </p:txBody>
      </p:sp>
      <p:sp>
        <p:nvSpPr>
          <p:cNvPr id="7" name="Text 5"/>
          <p:cNvSpPr/>
          <p:nvPr/>
        </p:nvSpPr>
        <p:spPr>
          <a:xfrm>
            <a:off x="793790" y="3964543"/>
            <a:ext cx="3163610"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Google Search Integration</a:t>
            </a:r>
            <a:endParaRPr lang="en-US" sz="1950" dirty="0"/>
          </a:p>
        </p:txBody>
      </p:sp>
      <p:sp>
        <p:nvSpPr>
          <p:cNvPr id="8" name="Text 6"/>
          <p:cNvSpPr/>
          <p:nvPr/>
        </p:nvSpPr>
        <p:spPr>
          <a:xfrm>
            <a:off x="793790" y="4473059"/>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When enabled, the model can search the web to find current information, fact-check claims, and provide citations. This transforms the assistant from relying solely on training data to accessing real-time information.</a:t>
            </a:r>
            <a:endParaRPr lang="en-US" sz="1550" dirty="0"/>
          </a:p>
        </p:txBody>
      </p:sp>
      <p:sp>
        <p:nvSpPr>
          <p:cNvPr id="9" name="Text 7"/>
          <p:cNvSpPr/>
          <p:nvPr/>
        </p:nvSpPr>
        <p:spPr>
          <a:xfrm>
            <a:off x="793790" y="5921812"/>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model decides autonomously when to use search based on the user's query. If you ask about recent events or need current data, it will automatically perform searches.</a:t>
            </a:r>
            <a:endParaRPr lang="en-US" sz="1550" dirty="0"/>
          </a:p>
        </p:txBody>
      </p:sp>
      <p:sp>
        <p:nvSpPr>
          <p:cNvPr id="10" name="Text 8"/>
          <p:cNvSpPr/>
          <p:nvPr/>
        </p:nvSpPr>
        <p:spPr>
          <a:xfrm>
            <a:off x="7564874" y="3964543"/>
            <a:ext cx="2978348"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Google Maps Integration</a:t>
            </a:r>
            <a:endParaRPr lang="en-US" sz="1950" dirty="0"/>
          </a:p>
        </p:txBody>
      </p:sp>
      <p:sp>
        <p:nvSpPr>
          <p:cNvPr id="11" name="Text 9"/>
          <p:cNvSpPr/>
          <p:nvPr/>
        </p:nvSpPr>
        <p:spPr>
          <a:xfrm>
            <a:off x="7564874" y="4473059"/>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Maps integration enables location-based queries like "coffee shops near me" or "how do I get to the airport." Combined with the user's location from geolocation, this provides contextually relevant results.</a:t>
            </a:r>
            <a:endParaRPr lang="en-US" sz="1550" dirty="0"/>
          </a:p>
        </p:txBody>
      </p:sp>
      <p:sp>
        <p:nvSpPr>
          <p:cNvPr id="12" name="Text 10"/>
          <p:cNvSpPr/>
          <p:nvPr/>
        </p:nvSpPr>
        <p:spPr>
          <a:xfrm>
            <a:off x="7564874" y="5921812"/>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model can return map links, directions, and place information, all formatted as grounding chunks that we render as clickable citations.</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91277" y="475178"/>
            <a:ext cx="5788104" cy="431959"/>
          </a:xfrm>
          <a:prstGeom prst="rect">
            <a:avLst/>
          </a:prstGeom>
          <a:noFill/>
          <a:ln/>
        </p:spPr>
        <p:txBody>
          <a:bodyPr wrap="none" lIns="0" tIns="0" rIns="0" bIns="0" rtlCol="0" anchor="t"/>
          <a:lstStyle/>
          <a:p>
            <a:pPr algn="l" indent="0" marL="0">
              <a:lnSpc>
                <a:spcPts val="3400"/>
              </a:lnSpc>
              <a:buNone/>
            </a:pPr>
            <a:r>
              <a:rPr lang="en-US" sz="2700" dirty="0">
                <a:solidFill>
                  <a:srgbClr val="111111"/>
                </a:solidFill>
                <a:latin typeface="Readex Pro" pitchFamily="34" charset="0"/>
                <a:ea typeface="Readex Pro" pitchFamily="34" charset="-122"/>
                <a:cs typeface="Readex Pro" pitchFamily="34" charset="-120"/>
              </a:rPr>
              <a:t>Conditional Location Configuration</a:t>
            </a:r>
            <a:endParaRPr lang="en-US" sz="2700" dirty="0"/>
          </a:p>
        </p:txBody>
      </p:sp>
      <p:sp>
        <p:nvSpPr>
          <p:cNvPr id="3" name="Shape 1"/>
          <p:cNvSpPr/>
          <p:nvPr/>
        </p:nvSpPr>
        <p:spPr>
          <a:xfrm>
            <a:off x="691277" y="1252776"/>
            <a:ext cx="13247846" cy="3024902"/>
          </a:xfrm>
          <a:prstGeom prst="roundRect">
            <a:avLst>
              <a:gd name="adj" fmla="val 5142"/>
            </a:avLst>
          </a:prstGeom>
          <a:solidFill>
            <a:srgbClr val="F2F2F2"/>
          </a:solidFill>
          <a:ln/>
        </p:spPr>
      </p:sp>
      <p:sp>
        <p:nvSpPr>
          <p:cNvPr id="4" name="Shape 2"/>
          <p:cNvSpPr/>
          <p:nvPr/>
        </p:nvSpPr>
        <p:spPr>
          <a:xfrm>
            <a:off x="682704" y="1252776"/>
            <a:ext cx="13264991" cy="3024902"/>
          </a:xfrm>
          <a:prstGeom prst="roundRect">
            <a:avLst>
              <a:gd name="adj" fmla="val 857"/>
            </a:avLst>
          </a:prstGeom>
          <a:solidFill>
            <a:srgbClr val="F2F2F2"/>
          </a:solidFill>
          <a:ln/>
        </p:spPr>
      </p:sp>
      <p:sp>
        <p:nvSpPr>
          <p:cNvPr id="5" name="Text 3"/>
          <p:cNvSpPr/>
          <p:nvPr/>
        </p:nvSpPr>
        <p:spPr>
          <a:xfrm>
            <a:off x="855464" y="1382316"/>
            <a:ext cx="12919472" cy="2765822"/>
          </a:xfrm>
          <a:prstGeom prst="rect">
            <a:avLst/>
          </a:prstGeom>
          <a:noFill/>
          <a:ln/>
        </p:spPr>
        <p:txBody>
          <a:bodyPr wrap="square" lIns="0" tIns="0" rIns="0" bIns="0" rtlCol="0" anchor="t"/>
          <a:lstStyle/>
          <a:p>
            <a:pPr algn="l" indent="0" marL="0">
              <a:lnSpc>
                <a:spcPts val="2150"/>
              </a:lnSpc>
              <a:buNone/>
            </a:pPr>
            <a:r>
              <a:rPr lang="en-US" sz="1350" dirty="0">
                <a:solidFill>
                  <a:srgbClr val="000000"/>
                </a:solidFill>
                <a:highlight>
                  <a:srgbClr val="F2F2F2"/>
                </a:highlight>
                <a:latin typeface="Consolas Light" pitchFamily="34" charset="0"/>
                <a:ea typeface="Consolas Light" pitchFamily="34" charset="-122"/>
                <a:cs typeface="Consolas Light" pitchFamily="34" charset="-120"/>
              </a:rPr>
              <a:t>...(location &amp;&amp; {  toolConfig: {    retrievalConfig: {      latLng: {        latitude: location.latitude,        longitude: location.longitude,      }    }  }})</a:t>
            </a:r>
            <a:endParaRPr lang="en-US" sz="1350" dirty="0"/>
          </a:p>
        </p:txBody>
      </p:sp>
      <p:sp>
        <p:nvSpPr>
          <p:cNvPr id="6" name="Text 4"/>
          <p:cNvSpPr/>
          <p:nvPr/>
        </p:nvSpPr>
        <p:spPr>
          <a:xfrm>
            <a:off x="691277" y="4472107"/>
            <a:ext cx="13247846" cy="553164"/>
          </a:xfrm>
          <a:prstGeom prst="rect">
            <a:avLst/>
          </a:prstGeom>
          <a:noFill/>
          <a:ln/>
        </p:spPr>
        <p:txBody>
          <a:bodyPr wrap="square" lIns="0" tIns="0" rIns="0" bIns="0" rtlCol="0" anchor="t"/>
          <a:lstStyle/>
          <a:p>
            <a:pPr algn="l" indent="0" marL="0">
              <a:lnSpc>
                <a:spcPts val="2150"/>
              </a:lnSpc>
              <a:buNone/>
            </a:pPr>
            <a:r>
              <a:rPr lang="en-US" sz="1350" dirty="0">
                <a:solidFill>
                  <a:srgbClr val="000000"/>
                </a:solidFill>
                <a:latin typeface="Readex Pro Light" pitchFamily="34" charset="0"/>
                <a:ea typeface="Readex Pro Light" pitchFamily="34" charset="-122"/>
                <a:cs typeface="Readex Pro Light" pitchFamily="34" charset="-120"/>
              </a:rPr>
              <a:t>This elegant pattern uses JavaScript's spread operator with conditional logic to include location configuration only when location data is available. The spread operator with a boolean guard is a common pattern for optional object properties.</a:t>
            </a:r>
            <a:endParaRPr lang="en-US" sz="1350" dirty="0"/>
          </a:p>
        </p:txBody>
      </p:sp>
      <p:sp>
        <p:nvSpPr>
          <p:cNvPr id="7" name="Text 5"/>
          <p:cNvSpPr/>
          <p:nvPr/>
        </p:nvSpPr>
        <p:spPr>
          <a:xfrm>
            <a:off x="691277" y="5219700"/>
            <a:ext cx="13247846" cy="553164"/>
          </a:xfrm>
          <a:prstGeom prst="rect">
            <a:avLst/>
          </a:prstGeom>
          <a:noFill/>
          <a:ln/>
        </p:spPr>
        <p:txBody>
          <a:bodyPr wrap="square" lIns="0" tIns="0" rIns="0" bIns="0" rtlCol="0" anchor="t"/>
          <a:lstStyle/>
          <a:p>
            <a:pPr algn="l" indent="0" marL="0">
              <a:lnSpc>
                <a:spcPts val="2150"/>
              </a:lnSpc>
              <a:buNone/>
            </a:pPr>
            <a:r>
              <a:rPr lang="en-US" sz="1350" dirty="0">
                <a:solidFill>
                  <a:srgbClr val="000000"/>
                </a:solidFill>
                <a:latin typeface="Readex Pro Light" pitchFamily="34" charset="0"/>
                <a:ea typeface="Readex Pro Light" pitchFamily="34" charset="-122"/>
                <a:cs typeface="Readex Pro Light" pitchFamily="34" charset="-120"/>
              </a:rPr>
              <a:t>If the user denied location permission or geolocation is unavailable, this entire configuration block is excluded from the chat initialization. The chat works perfectly fine without it—location-based queries just won't return geographically relevant results.</a:t>
            </a:r>
            <a:endParaRPr lang="en-US" sz="1350" dirty="0"/>
          </a:p>
        </p:txBody>
      </p:sp>
      <p:sp>
        <p:nvSpPr>
          <p:cNvPr id="8" name="Shape 6"/>
          <p:cNvSpPr/>
          <p:nvPr/>
        </p:nvSpPr>
        <p:spPr>
          <a:xfrm>
            <a:off x="691277" y="5967293"/>
            <a:ext cx="6537484" cy="518398"/>
          </a:xfrm>
          <a:prstGeom prst="roundRect">
            <a:avLst>
              <a:gd name="adj" fmla="val 480078"/>
            </a:avLst>
          </a:prstGeom>
          <a:solidFill>
            <a:srgbClr val="F3F3F3"/>
          </a:solidFill>
          <a:ln w="7620">
            <a:solidFill>
              <a:srgbClr val="CCCCCC"/>
            </a:solidFill>
            <a:prstDash val="solid"/>
          </a:ln>
          <a:effectLst>
            <a:outerShdw sx="100000" sy="100000" kx="0" ky="0" algn="bl" rotWithShape="0" blurRad="259080" dist="0" dir="0">
              <a:srgbClr val="333333">
                <a:alpha val="10000"/>
              </a:srgbClr>
            </a:outerShdw>
          </a:effectLst>
        </p:spPr>
      </p:sp>
      <p:sp>
        <p:nvSpPr>
          <p:cNvPr id="9" name="Text 7"/>
          <p:cNvSpPr/>
          <p:nvPr/>
        </p:nvSpPr>
        <p:spPr>
          <a:xfrm>
            <a:off x="3830360" y="6064448"/>
            <a:ext cx="259199" cy="323969"/>
          </a:xfrm>
          <a:prstGeom prst="rect">
            <a:avLst/>
          </a:prstGeom>
          <a:noFill/>
          <a:ln/>
        </p:spPr>
        <p:txBody>
          <a:bodyPr wrap="none" lIns="0" tIns="0" rIns="0" bIns="0" rtlCol="0" anchor="t"/>
          <a:lstStyle/>
          <a:p>
            <a:pPr algn="l" indent="0" marL="0">
              <a:lnSpc>
                <a:spcPts val="2000"/>
              </a:lnSpc>
              <a:buNone/>
            </a:pPr>
            <a:r>
              <a:rPr lang="en-US" sz="2000" dirty="0">
                <a:solidFill>
                  <a:srgbClr val="000000"/>
                </a:solidFill>
                <a:latin typeface="Readex Pro" pitchFamily="34" charset="0"/>
                <a:ea typeface="Readex Pro" pitchFamily="34" charset="-122"/>
                <a:cs typeface="Readex Pro" pitchFamily="34" charset="-120"/>
              </a:rPr>
              <a:t>1</a:t>
            </a:r>
            <a:endParaRPr lang="en-US" sz="2000" dirty="0"/>
          </a:p>
        </p:txBody>
      </p:sp>
      <p:sp>
        <p:nvSpPr>
          <p:cNvPr id="10" name="Text 8"/>
          <p:cNvSpPr/>
          <p:nvPr/>
        </p:nvSpPr>
        <p:spPr>
          <a:xfrm>
            <a:off x="864037" y="6658451"/>
            <a:ext cx="2160270" cy="269915"/>
          </a:xfrm>
          <a:prstGeom prst="rect">
            <a:avLst/>
          </a:prstGeom>
          <a:noFill/>
          <a:ln/>
        </p:spPr>
        <p:txBody>
          <a:bodyPr wrap="none" lIns="0" tIns="0" rIns="0" bIns="0" rtlCol="0" anchor="t"/>
          <a:lstStyle/>
          <a:p>
            <a:pPr algn="l" indent="0" marL="0">
              <a:lnSpc>
                <a:spcPts val="2100"/>
              </a:lnSpc>
              <a:buNone/>
            </a:pPr>
            <a:r>
              <a:rPr lang="en-US" sz="1700" dirty="0">
                <a:solidFill>
                  <a:srgbClr val="000000"/>
                </a:solidFill>
                <a:latin typeface="Readex Pro" pitchFamily="34" charset="0"/>
                <a:ea typeface="Readex Pro" pitchFamily="34" charset="-122"/>
                <a:cs typeface="Readex Pro" pitchFamily="34" charset="-120"/>
              </a:rPr>
              <a:t>Location Available</a:t>
            </a:r>
            <a:endParaRPr lang="en-US" sz="1700" dirty="0"/>
          </a:p>
        </p:txBody>
      </p:sp>
      <p:sp>
        <p:nvSpPr>
          <p:cNvPr id="11" name="Text 9"/>
          <p:cNvSpPr/>
          <p:nvPr/>
        </p:nvSpPr>
        <p:spPr>
          <a:xfrm>
            <a:off x="864037" y="7031950"/>
            <a:ext cx="6191964" cy="276582"/>
          </a:xfrm>
          <a:prstGeom prst="rect">
            <a:avLst/>
          </a:prstGeom>
          <a:noFill/>
          <a:ln/>
        </p:spPr>
        <p:txBody>
          <a:bodyPr wrap="none" lIns="0" tIns="0" rIns="0" bIns="0" rtlCol="0" anchor="t"/>
          <a:lstStyle/>
          <a:p>
            <a:pPr algn="l" indent="0" marL="0">
              <a:lnSpc>
                <a:spcPts val="2150"/>
              </a:lnSpc>
              <a:buNone/>
            </a:pPr>
            <a:r>
              <a:rPr lang="en-US" sz="1350" dirty="0">
                <a:solidFill>
                  <a:srgbClr val="000000"/>
                </a:solidFill>
                <a:latin typeface="Readex Pro Light" pitchFamily="34" charset="0"/>
                <a:ea typeface="Readex Pro Light" pitchFamily="34" charset="-122"/>
                <a:cs typeface="Readex Pro Light" pitchFamily="34" charset="-120"/>
              </a:rPr>
              <a:t>Full configuration object spread into chat config with precise coordinates</a:t>
            </a:r>
            <a:endParaRPr lang="en-US" sz="1350" dirty="0"/>
          </a:p>
        </p:txBody>
      </p:sp>
      <p:sp>
        <p:nvSpPr>
          <p:cNvPr id="12" name="Shape 10"/>
          <p:cNvSpPr/>
          <p:nvPr/>
        </p:nvSpPr>
        <p:spPr>
          <a:xfrm>
            <a:off x="7401520" y="5967293"/>
            <a:ext cx="6537603" cy="518398"/>
          </a:xfrm>
          <a:prstGeom prst="roundRect">
            <a:avLst>
              <a:gd name="adj" fmla="val 480078"/>
            </a:avLst>
          </a:prstGeom>
          <a:solidFill>
            <a:srgbClr val="F3F3F3"/>
          </a:solidFill>
          <a:ln w="7620">
            <a:solidFill>
              <a:srgbClr val="CCCCCC"/>
            </a:solidFill>
            <a:prstDash val="solid"/>
          </a:ln>
          <a:effectLst>
            <a:outerShdw sx="100000" sy="100000" kx="0" ky="0" algn="bl" rotWithShape="0" blurRad="259080" dist="0" dir="0">
              <a:srgbClr val="333333">
                <a:alpha val="10000"/>
              </a:srgbClr>
            </a:outerShdw>
          </a:effectLst>
        </p:spPr>
      </p:sp>
      <p:sp>
        <p:nvSpPr>
          <p:cNvPr id="13" name="Text 11"/>
          <p:cNvSpPr/>
          <p:nvPr/>
        </p:nvSpPr>
        <p:spPr>
          <a:xfrm>
            <a:off x="10540722" y="6064448"/>
            <a:ext cx="259199" cy="323969"/>
          </a:xfrm>
          <a:prstGeom prst="rect">
            <a:avLst/>
          </a:prstGeom>
          <a:noFill/>
          <a:ln/>
        </p:spPr>
        <p:txBody>
          <a:bodyPr wrap="none" lIns="0" tIns="0" rIns="0" bIns="0" rtlCol="0" anchor="t"/>
          <a:lstStyle/>
          <a:p>
            <a:pPr algn="l" indent="0" marL="0">
              <a:lnSpc>
                <a:spcPts val="2000"/>
              </a:lnSpc>
              <a:buNone/>
            </a:pPr>
            <a:r>
              <a:rPr lang="en-US" sz="2000" dirty="0">
                <a:solidFill>
                  <a:srgbClr val="000000"/>
                </a:solidFill>
                <a:latin typeface="Readex Pro" pitchFamily="34" charset="0"/>
                <a:ea typeface="Readex Pro" pitchFamily="34" charset="-122"/>
                <a:cs typeface="Readex Pro" pitchFamily="34" charset="-120"/>
              </a:rPr>
              <a:t>2</a:t>
            </a:r>
            <a:endParaRPr lang="en-US" sz="2000" dirty="0"/>
          </a:p>
        </p:txBody>
      </p:sp>
      <p:sp>
        <p:nvSpPr>
          <p:cNvPr id="14" name="Text 12"/>
          <p:cNvSpPr/>
          <p:nvPr/>
        </p:nvSpPr>
        <p:spPr>
          <a:xfrm>
            <a:off x="7574280" y="6658451"/>
            <a:ext cx="2160270" cy="269915"/>
          </a:xfrm>
          <a:prstGeom prst="rect">
            <a:avLst/>
          </a:prstGeom>
          <a:noFill/>
          <a:ln/>
        </p:spPr>
        <p:txBody>
          <a:bodyPr wrap="none" lIns="0" tIns="0" rIns="0" bIns="0" rtlCol="0" anchor="t"/>
          <a:lstStyle/>
          <a:p>
            <a:pPr algn="l" indent="0" marL="0">
              <a:lnSpc>
                <a:spcPts val="2100"/>
              </a:lnSpc>
              <a:buNone/>
            </a:pPr>
            <a:r>
              <a:rPr lang="en-US" sz="1700" dirty="0">
                <a:solidFill>
                  <a:srgbClr val="000000"/>
                </a:solidFill>
                <a:latin typeface="Readex Pro" pitchFamily="34" charset="0"/>
                <a:ea typeface="Readex Pro" pitchFamily="34" charset="-122"/>
                <a:cs typeface="Readex Pro" pitchFamily="34" charset="-120"/>
              </a:rPr>
              <a:t>Location Unavailable</a:t>
            </a:r>
            <a:endParaRPr lang="en-US" sz="1700" dirty="0"/>
          </a:p>
        </p:txBody>
      </p:sp>
      <p:sp>
        <p:nvSpPr>
          <p:cNvPr id="15" name="Text 13"/>
          <p:cNvSpPr/>
          <p:nvPr/>
        </p:nvSpPr>
        <p:spPr>
          <a:xfrm>
            <a:off x="7574280" y="7031950"/>
            <a:ext cx="6192083" cy="553164"/>
          </a:xfrm>
          <a:prstGeom prst="rect">
            <a:avLst/>
          </a:prstGeom>
          <a:noFill/>
          <a:ln/>
        </p:spPr>
        <p:txBody>
          <a:bodyPr wrap="square" lIns="0" tIns="0" rIns="0" bIns="0" rtlCol="0" anchor="t"/>
          <a:lstStyle/>
          <a:p>
            <a:pPr algn="l" indent="0" marL="0">
              <a:lnSpc>
                <a:spcPts val="2150"/>
              </a:lnSpc>
              <a:buNone/>
            </a:pPr>
            <a:r>
              <a:rPr lang="en-US" sz="1350" dirty="0">
                <a:solidFill>
                  <a:srgbClr val="000000"/>
                </a:solidFill>
                <a:latin typeface="Readex Pro Light" pitchFamily="34" charset="0"/>
                <a:ea typeface="Readex Pro Light" pitchFamily="34" charset="-122"/>
                <a:cs typeface="Readex Pro Light" pitchFamily="34" charset="-120"/>
              </a:rPr>
              <a:t>Conditional evaluates to false, spread operator includes nothing, chat initializes without location context</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6155" y="590431"/>
            <a:ext cx="4550093" cy="416362"/>
          </a:xfrm>
          <a:prstGeom prst="rect">
            <a:avLst/>
          </a:prstGeom>
          <a:noFill/>
          <a:ln/>
        </p:spPr>
        <p:txBody>
          <a:bodyPr wrap="none" lIns="0" tIns="0" rIns="0" bIns="0" rtlCol="0" anchor="t"/>
          <a:lstStyle/>
          <a:p>
            <a:pPr algn="l" indent="0" marL="0">
              <a:lnSpc>
                <a:spcPts val="3250"/>
              </a:lnSpc>
              <a:buNone/>
            </a:pPr>
            <a:r>
              <a:rPr lang="en-US" sz="2600" dirty="0">
                <a:solidFill>
                  <a:srgbClr val="111111"/>
                </a:solidFill>
                <a:latin typeface="Readex Pro" pitchFamily="34" charset="0"/>
                <a:ea typeface="Readex Pro" pitchFamily="34" charset="-122"/>
                <a:cs typeface="Readex Pro" pitchFamily="34" charset="-120"/>
              </a:rPr>
              <a:t>Streaming Response Pattern</a:t>
            </a:r>
            <a:endParaRPr lang="en-US" sz="2600" dirty="0"/>
          </a:p>
        </p:txBody>
      </p:sp>
      <p:sp>
        <p:nvSpPr>
          <p:cNvPr id="3" name="Shape 1"/>
          <p:cNvSpPr/>
          <p:nvPr/>
        </p:nvSpPr>
        <p:spPr>
          <a:xfrm>
            <a:off x="666155" y="1339810"/>
            <a:ext cx="13298091" cy="5845493"/>
          </a:xfrm>
          <a:prstGeom prst="roundRect">
            <a:avLst>
              <a:gd name="adj" fmla="val 2564"/>
            </a:avLst>
          </a:prstGeom>
          <a:solidFill>
            <a:srgbClr val="F2F2F2"/>
          </a:solidFill>
          <a:ln/>
        </p:spPr>
      </p:sp>
      <p:sp>
        <p:nvSpPr>
          <p:cNvPr id="4" name="Shape 2"/>
          <p:cNvSpPr/>
          <p:nvPr/>
        </p:nvSpPr>
        <p:spPr>
          <a:xfrm>
            <a:off x="657939" y="1339810"/>
            <a:ext cx="13314521" cy="5845493"/>
          </a:xfrm>
          <a:prstGeom prst="roundRect">
            <a:avLst>
              <a:gd name="adj" fmla="val 427"/>
            </a:avLst>
          </a:prstGeom>
          <a:solidFill>
            <a:srgbClr val="F2F2F2"/>
          </a:solidFill>
          <a:ln/>
        </p:spPr>
      </p:sp>
      <p:sp>
        <p:nvSpPr>
          <p:cNvPr id="5" name="Text 3"/>
          <p:cNvSpPr/>
          <p:nvPr/>
        </p:nvSpPr>
        <p:spPr>
          <a:xfrm>
            <a:off x="824389" y="1464707"/>
            <a:ext cx="12981623" cy="5595699"/>
          </a:xfrm>
          <a:prstGeom prst="rect">
            <a:avLst/>
          </a:prstGeom>
          <a:noFill/>
          <a:ln/>
        </p:spPr>
        <p:txBody>
          <a:bodyPr wrap="square" lIns="0" tIns="0" rIns="0" bIns="0" rtlCol="0" anchor="t"/>
          <a:lstStyle/>
          <a:p>
            <a:pPr algn="l" indent="0" marL="0">
              <a:lnSpc>
                <a:spcPts val="2050"/>
              </a:lnSpc>
              <a:buNone/>
            </a:pPr>
            <a:r>
              <a:rPr lang="en-US" sz="1300" dirty="0">
                <a:solidFill>
                  <a:srgbClr val="000000"/>
                </a:solidFill>
                <a:highlight>
                  <a:srgbClr val="F2F2F2"/>
                </a:highlight>
                <a:latin typeface="Consolas Light" pitchFamily="34" charset="0"/>
                <a:ea typeface="Consolas Light" pitchFamily="34" charset="-122"/>
                <a:cs typeface="Consolas Light" pitchFamily="34" charset="-120"/>
              </a:rPr>
              <a:t>const stream = await chatRef.current.sendMessageStream({ message: input });let modelResponse = '';let groundingChunks: GroundingChunk[] = [];const modelMessageId = `model-${Date.now()}`;setMessages(prev =&gt; [...prev, {   id: modelMessageId,   role: 'model',   content: '',   isFinal: false }]);for await (const chunk of stream) {  modelResponse += chunk.text;  if (chunk.candidates?.[0]?.groundingMetadata?.groundingChunks) {    groundingChunks = chunk.candidates[0].groundingMetadata.groundingChunks;  }  setMessages(prev =&gt; prev.map(msg =&gt;    msg.id === modelMessageId ? { ...msg, content: modelResponse } : msg  ));}</a:t>
            </a:r>
            <a:endParaRPr lang="en-US" sz="1300" dirty="0"/>
          </a:p>
        </p:txBody>
      </p:sp>
      <p:sp>
        <p:nvSpPr>
          <p:cNvPr id="6" name="Text 4"/>
          <p:cNvSpPr/>
          <p:nvPr/>
        </p:nvSpPr>
        <p:spPr>
          <a:xfrm>
            <a:off x="666155" y="7372588"/>
            <a:ext cx="13298091" cy="266462"/>
          </a:xfrm>
          <a:prstGeom prst="rect">
            <a:avLst/>
          </a:prstGeom>
          <a:noFill/>
          <a:ln/>
        </p:spPr>
        <p:txBody>
          <a:bodyPr wrap="none" lIns="0" tIns="0" rIns="0" bIns="0" rtlCol="0" anchor="t"/>
          <a:lstStyle/>
          <a:p>
            <a:pPr algn="l" indent="0" marL="0">
              <a:lnSpc>
                <a:spcPts val="2050"/>
              </a:lnSpc>
              <a:buNone/>
            </a:pPr>
            <a:r>
              <a:rPr lang="en-US" sz="1300" dirty="0">
                <a:solidFill>
                  <a:srgbClr val="000000"/>
                </a:solidFill>
                <a:latin typeface="Readex Pro Light" pitchFamily="34" charset="0"/>
                <a:ea typeface="Readex Pro Light" pitchFamily="34" charset="-122"/>
                <a:cs typeface="Readex Pro Light" pitchFamily="34" charset="-120"/>
              </a:rPr>
              <a:t>This is the heart of the streaming implementation. Rather than waiting for the complete response, we process chunks as they arrive, updating the UI in real-time.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1459230"/>
            <a:ext cx="5823228"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Why Streaming Matters for UX</a:t>
            </a:r>
            <a:endParaRPr lang="en-US" sz="3100" dirty="0"/>
          </a:p>
        </p:txBody>
      </p:sp>
      <p:sp>
        <p:nvSpPr>
          <p:cNvPr id="3" name="Text 1"/>
          <p:cNvSpPr/>
          <p:nvPr/>
        </p:nvSpPr>
        <p:spPr>
          <a:xfrm>
            <a:off x="793790" y="2352199"/>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Streaming responses dramatically improve perceived performance. Instead of staring at a loading spinner for 5-10 seconds, users see text appearing word-by-word, similar to watching someone type. This creates engagement and gives users confidence that the system is working.</a:t>
            </a:r>
            <a:endParaRPr lang="en-US" sz="1550" dirty="0"/>
          </a:p>
        </p:txBody>
      </p:sp>
      <p:sp>
        <p:nvSpPr>
          <p:cNvPr id="4" name="Text 2"/>
          <p:cNvSpPr/>
          <p:nvPr/>
        </p:nvSpPr>
        <p:spPr>
          <a:xfrm>
            <a:off x="793790" y="3627239"/>
            <a:ext cx="4182189" cy="654963"/>
          </a:xfrm>
          <a:prstGeom prst="rect">
            <a:avLst/>
          </a:prstGeom>
          <a:noFill/>
          <a:ln/>
        </p:spPr>
        <p:txBody>
          <a:bodyPr wrap="none" lIns="0" tIns="0" rIns="0" bIns="0" rtlCol="0" anchor="t"/>
          <a:lstStyle/>
          <a:p>
            <a:pPr algn="ctr" indent="0" marL="0">
              <a:lnSpc>
                <a:spcPts val="5150"/>
              </a:lnSpc>
              <a:buNone/>
            </a:pPr>
            <a:r>
              <a:rPr lang="en-US" sz="5150" dirty="0">
                <a:solidFill>
                  <a:srgbClr val="000000"/>
                </a:solidFill>
                <a:latin typeface="Readex Pro" pitchFamily="34" charset="0"/>
                <a:ea typeface="Readex Pro" pitchFamily="34" charset="-122"/>
                <a:cs typeface="Readex Pro" pitchFamily="34" charset="-120"/>
              </a:rPr>
              <a:t>3x</a:t>
            </a:r>
            <a:endParaRPr lang="en-US" sz="5150" dirty="0"/>
          </a:p>
        </p:txBody>
      </p:sp>
      <p:sp>
        <p:nvSpPr>
          <p:cNvPr id="5" name="Text 3"/>
          <p:cNvSpPr/>
          <p:nvPr/>
        </p:nvSpPr>
        <p:spPr>
          <a:xfrm>
            <a:off x="1279922" y="4530209"/>
            <a:ext cx="3209806" cy="310158"/>
          </a:xfrm>
          <a:prstGeom prst="rect">
            <a:avLst/>
          </a:prstGeom>
          <a:noFill/>
          <a:ln/>
        </p:spPr>
        <p:txBody>
          <a:bodyPr wrap="none" lIns="0" tIns="0" rIns="0" bIns="0" rtlCol="0" anchor="t"/>
          <a:lstStyle/>
          <a:p>
            <a:pPr algn="ctr"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Faster Perceived Response</a:t>
            </a:r>
            <a:endParaRPr lang="en-US" sz="1950" dirty="0"/>
          </a:p>
        </p:txBody>
      </p:sp>
      <p:sp>
        <p:nvSpPr>
          <p:cNvPr id="6" name="Text 4"/>
          <p:cNvSpPr/>
          <p:nvPr/>
        </p:nvSpPr>
        <p:spPr>
          <a:xfrm>
            <a:off x="793790" y="4959429"/>
            <a:ext cx="4182189" cy="952619"/>
          </a:xfrm>
          <a:prstGeom prst="rect">
            <a:avLst/>
          </a:prstGeom>
          <a:noFill/>
          <a:ln/>
        </p:spPr>
        <p:txBody>
          <a:bodyPr wrap="square" lIns="0" tIns="0" rIns="0" bIns="0" rtlCol="0" anchor="t"/>
          <a:lstStyle/>
          <a:p>
            <a:pPr algn="ctr"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Users perceive streaming responses as 3x faster than waiting for complete responses, even when total time is identical</a:t>
            </a:r>
            <a:endParaRPr lang="en-US" sz="1550" dirty="0"/>
          </a:p>
        </p:txBody>
      </p:sp>
      <p:sp>
        <p:nvSpPr>
          <p:cNvPr id="7" name="Text 5"/>
          <p:cNvSpPr/>
          <p:nvPr/>
        </p:nvSpPr>
        <p:spPr>
          <a:xfrm>
            <a:off x="5223986" y="3627239"/>
            <a:ext cx="4182308" cy="654963"/>
          </a:xfrm>
          <a:prstGeom prst="rect">
            <a:avLst/>
          </a:prstGeom>
          <a:noFill/>
          <a:ln/>
        </p:spPr>
        <p:txBody>
          <a:bodyPr wrap="none" lIns="0" tIns="0" rIns="0" bIns="0" rtlCol="0" anchor="t"/>
          <a:lstStyle/>
          <a:p>
            <a:pPr algn="ctr" indent="0" marL="0">
              <a:lnSpc>
                <a:spcPts val="5150"/>
              </a:lnSpc>
              <a:buNone/>
            </a:pPr>
            <a:r>
              <a:rPr lang="en-US" sz="5150" dirty="0">
                <a:solidFill>
                  <a:srgbClr val="000000"/>
                </a:solidFill>
                <a:latin typeface="Readex Pro" pitchFamily="34" charset="0"/>
                <a:ea typeface="Readex Pro" pitchFamily="34" charset="-122"/>
                <a:cs typeface="Readex Pro" pitchFamily="34" charset="-120"/>
              </a:rPr>
              <a:t>47%</a:t>
            </a:r>
            <a:endParaRPr lang="en-US" sz="5150" dirty="0"/>
          </a:p>
        </p:txBody>
      </p:sp>
      <p:sp>
        <p:nvSpPr>
          <p:cNvPr id="8" name="Text 6"/>
          <p:cNvSpPr/>
          <p:nvPr/>
        </p:nvSpPr>
        <p:spPr>
          <a:xfrm>
            <a:off x="5908834" y="4530209"/>
            <a:ext cx="2812494" cy="310158"/>
          </a:xfrm>
          <a:prstGeom prst="rect">
            <a:avLst/>
          </a:prstGeom>
          <a:noFill/>
          <a:ln/>
        </p:spPr>
        <p:txBody>
          <a:bodyPr wrap="none" lIns="0" tIns="0" rIns="0" bIns="0" rtlCol="0" anchor="t"/>
          <a:lstStyle/>
          <a:p>
            <a:pPr algn="ctr"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Reduced Abandonment</a:t>
            </a:r>
            <a:endParaRPr lang="en-US" sz="1950" dirty="0"/>
          </a:p>
        </p:txBody>
      </p:sp>
      <p:sp>
        <p:nvSpPr>
          <p:cNvPr id="9" name="Text 7"/>
          <p:cNvSpPr/>
          <p:nvPr/>
        </p:nvSpPr>
        <p:spPr>
          <a:xfrm>
            <a:off x="5223986" y="4959429"/>
            <a:ext cx="4182308" cy="952619"/>
          </a:xfrm>
          <a:prstGeom prst="rect">
            <a:avLst/>
          </a:prstGeom>
          <a:noFill/>
          <a:ln/>
        </p:spPr>
        <p:txBody>
          <a:bodyPr wrap="square" lIns="0" tIns="0" rIns="0" bIns="0" rtlCol="0" anchor="t"/>
          <a:lstStyle/>
          <a:p>
            <a:pPr algn="ctr"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Streaming interfaces show 47% lower abandonment rates during AI processing compared to static loading states</a:t>
            </a:r>
            <a:endParaRPr lang="en-US" sz="1550" dirty="0"/>
          </a:p>
        </p:txBody>
      </p:sp>
      <p:sp>
        <p:nvSpPr>
          <p:cNvPr id="10" name="Text 8"/>
          <p:cNvSpPr/>
          <p:nvPr/>
        </p:nvSpPr>
        <p:spPr>
          <a:xfrm>
            <a:off x="9654302" y="3627239"/>
            <a:ext cx="4182308" cy="654963"/>
          </a:xfrm>
          <a:prstGeom prst="rect">
            <a:avLst/>
          </a:prstGeom>
          <a:noFill/>
          <a:ln/>
        </p:spPr>
        <p:txBody>
          <a:bodyPr wrap="none" lIns="0" tIns="0" rIns="0" bIns="0" rtlCol="0" anchor="t"/>
          <a:lstStyle/>
          <a:p>
            <a:pPr algn="ctr" indent="0" marL="0">
              <a:lnSpc>
                <a:spcPts val="5150"/>
              </a:lnSpc>
              <a:buNone/>
            </a:pPr>
            <a:r>
              <a:rPr lang="en-US" sz="5150" dirty="0">
                <a:solidFill>
                  <a:srgbClr val="000000"/>
                </a:solidFill>
                <a:latin typeface="Readex Pro" pitchFamily="34" charset="0"/>
                <a:ea typeface="Readex Pro" pitchFamily="34" charset="-122"/>
                <a:cs typeface="Readex Pro" pitchFamily="34" charset="-120"/>
              </a:rPr>
              <a:t>89%</a:t>
            </a:r>
            <a:endParaRPr lang="en-US" sz="5150" dirty="0"/>
          </a:p>
        </p:txBody>
      </p:sp>
      <p:sp>
        <p:nvSpPr>
          <p:cNvPr id="11" name="Text 9"/>
          <p:cNvSpPr/>
          <p:nvPr/>
        </p:nvSpPr>
        <p:spPr>
          <a:xfrm>
            <a:off x="10505003" y="4530209"/>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User Satisfaction</a:t>
            </a:r>
            <a:endParaRPr lang="en-US" sz="1950" dirty="0"/>
          </a:p>
        </p:txBody>
      </p:sp>
      <p:sp>
        <p:nvSpPr>
          <p:cNvPr id="12" name="Text 10"/>
          <p:cNvSpPr/>
          <p:nvPr/>
        </p:nvSpPr>
        <p:spPr>
          <a:xfrm>
            <a:off x="9654302" y="4959429"/>
            <a:ext cx="4182308" cy="952619"/>
          </a:xfrm>
          <a:prstGeom prst="rect">
            <a:avLst/>
          </a:prstGeom>
          <a:noFill/>
          <a:ln/>
        </p:spPr>
        <p:txBody>
          <a:bodyPr wrap="square" lIns="0" tIns="0" rIns="0" bIns="0" rtlCol="0" anchor="t"/>
          <a:lstStyle/>
          <a:p>
            <a:pPr algn="ctr"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Users rate streaming conversational interfaces 89% more satisfying than traditional request-response patterns</a:t>
            </a:r>
            <a:endParaRPr lang="en-US" sz="1550" dirty="0"/>
          </a:p>
        </p:txBody>
      </p:sp>
      <p:sp>
        <p:nvSpPr>
          <p:cNvPr id="13" name="Text 11"/>
          <p:cNvSpPr/>
          <p:nvPr/>
        </p:nvSpPr>
        <p:spPr>
          <a:xfrm>
            <a:off x="793790" y="6135291"/>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These improvements come from psychological factors: visible progress reduces anxiety, incremental information delivery maintains engagement, and the typing effect feels more human and conversational.</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36521" y="506373"/>
            <a:ext cx="3842147" cy="460296"/>
          </a:xfrm>
          <a:prstGeom prst="rect">
            <a:avLst/>
          </a:prstGeom>
          <a:noFill/>
          <a:ln/>
        </p:spPr>
        <p:txBody>
          <a:bodyPr wrap="none" lIns="0" tIns="0" rIns="0" bIns="0" rtlCol="0" anchor="t"/>
          <a:lstStyle/>
          <a:p>
            <a:pPr algn="l" indent="0" marL="0">
              <a:lnSpc>
                <a:spcPts val="3600"/>
              </a:lnSpc>
              <a:buNone/>
            </a:pPr>
            <a:r>
              <a:rPr lang="en-US" sz="2850" dirty="0">
                <a:solidFill>
                  <a:srgbClr val="111111"/>
                </a:solidFill>
                <a:latin typeface="Readex Pro" pitchFamily="34" charset="0"/>
                <a:ea typeface="Readex Pro" pitchFamily="34" charset="-122"/>
                <a:cs typeface="Readex Pro" pitchFamily="34" charset="-120"/>
              </a:rPr>
              <a:t>The for-await-of Loop</a:t>
            </a:r>
            <a:endParaRPr lang="en-US" sz="2850" dirty="0"/>
          </a:p>
        </p:txBody>
      </p:sp>
      <p:sp>
        <p:nvSpPr>
          <p:cNvPr id="3" name="Shape 1"/>
          <p:cNvSpPr/>
          <p:nvPr/>
        </p:nvSpPr>
        <p:spPr>
          <a:xfrm>
            <a:off x="736521" y="1334929"/>
            <a:ext cx="13157359" cy="2928104"/>
          </a:xfrm>
          <a:prstGeom prst="roundRect">
            <a:avLst>
              <a:gd name="adj" fmla="val 5660"/>
            </a:avLst>
          </a:prstGeom>
          <a:solidFill>
            <a:srgbClr val="F2F2F2"/>
          </a:solidFill>
          <a:ln/>
        </p:spPr>
      </p:sp>
      <p:sp>
        <p:nvSpPr>
          <p:cNvPr id="4" name="Shape 2"/>
          <p:cNvSpPr/>
          <p:nvPr/>
        </p:nvSpPr>
        <p:spPr>
          <a:xfrm>
            <a:off x="727353" y="1334929"/>
            <a:ext cx="13175694" cy="2928104"/>
          </a:xfrm>
          <a:prstGeom prst="roundRect">
            <a:avLst>
              <a:gd name="adj" fmla="val 943"/>
            </a:avLst>
          </a:prstGeom>
          <a:solidFill>
            <a:srgbClr val="F2F2F2"/>
          </a:solidFill>
          <a:ln/>
        </p:spPr>
      </p:sp>
      <p:sp>
        <p:nvSpPr>
          <p:cNvPr id="5" name="Text 3"/>
          <p:cNvSpPr/>
          <p:nvPr/>
        </p:nvSpPr>
        <p:spPr>
          <a:xfrm>
            <a:off x="911423" y="1472922"/>
            <a:ext cx="12807553" cy="2652117"/>
          </a:xfrm>
          <a:prstGeom prst="rect">
            <a:avLst/>
          </a:prstGeom>
          <a:noFill/>
          <a:ln/>
        </p:spPr>
        <p:txBody>
          <a:bodyPr wrap="square" lIns="0" tIns="0" rIns="0" bIns="0" rtlCol="0" anchor="t"/>
          <a:lstStyle/>
          <a:p>
            <a:pPr algn="l" indent="0" marL="0">
              <a:lnSpc>
                <a:spcPts val="2300"/>
              </a:lnSpc>
              <a:buNone/>
            </a:pPr>
            <a:r>
              <a:rPr lang="en-US" sz="1400" dirty="0">
                <a:solidFill>
                  <a:srgbClr val="000000"/>
                </a:solidFill>
                <a:highlight>
                  <a:srgbClr val="F2F2F2"/>
                </a:highlight>
                <a:latin typeface="Consolas Light" pitchFamily="34" charset="0"/>
                <a:ea typeface="Consolas Light" pitchFamily="34" charset="-122"/>
                <a:cs typeface="Consolas Light" pitchFamily="34" charset="-120"/>
              </a:rPr>
              <a:t>for await (const chunk of stream) {  modelResponse += chunk.text;  if (chunk.candidates?.[0]?.groundingMetadata?.groundingChunks) {    groundingChunks = chunk.candidates[0].groundingMetadata.groundingChunks;  }  setMessages(prev =&gt; prev.map(msg =&gt;    msg.id === modelMessageId ? { ...msg, content: modelResponse } : msg  ));}</a:t>
            </a:r>
            <a:endParaRPr lang="en-US" sz="1400" dirty="0"/>
          </a:p>
        </p:txBody>
      </p:sp>
      <p:sp>
        <p:nvSpPr>
          <p:cNvPr id="6" name="Text 4"/>
          <p:cNvSpPr/>
          <p:nvPr/>
        </p:nvSpPr>
        <p:spPr>
          <a:xfrm>
            <a:off x="736521" y="4470082"/>
            <a:ext cx="13157359" cy="589359"/>
          </a:xfrm>
          <a:prstGeom prst="rect">
            <a:avLst/>
          </a:prstGeom>
          <a:noFill/>
          <a:ln/>
        </p:spPr>
        <p:txBody>
          <a:bodyPr wrap="square" lIns="0" tIns="0" rIns="0" bIns="0" rtlCol="0" anchor="t"/>
          <a:lstStyle/>
          <a:p>
            <a:pPr algn="l" indent="0" marL="0">
              <a:lnSpc>
                <a:spcPts val="2300"/>
              </a:lnSpc>
              <a:buNone/>
            </a:pPr>
            <a:r>
              <a:rPr lang="en-US" sz="1400" dirty="0">
                <a:solidFill>
                  <a:srgbClr val="000000"/>
                </a:solidFill>
                <a:latin typeface="Readex Pro Light" pitchFamily="34" charset="0"/>
                <a:ea typeface="Readex Pro Light" pitchFamily="34" charset="-122"/>
                <a:cs typeface="Readex Pro Light" pitchFamily="34" charset="-120"/>
              </a:rPr>
              <a:t>The </a:t>
            </a:r>
            <a:pPr algn="l" indent="0" marL="0">
              <a:lnSpc>
                <a:spcPts val="2300"/>
              </a:lnSpc>
              <a:buNone/>
            </a:pPr>
            <a:r>
              <a:rPr lang="en-US" sz="1400" dirty="0">
                <a:solidFill>
                  <a:srgbClr val="000000"/>
                </a:solidFill>
                <a:highlight>
                  <a:srgbClr val="F2F2F2"/>
                </a:highlight>
                <a:latin typeface="Consolas" pitchFamily="34" charset="0"/>
                <a:ea typeface="Consolas" pitchFamily="34" charset="-122"/>
                <a:cs typeface="Consolas" pitchFamily="34" charset="-120"/>
              </a:rPr>
              <a:t>for await...of</a:t>
            </a:r>
            <a:pPr algn="l" indent="0" marL="0">
              <a:lnSpc>
                <a:spcPts val="2300"/>
              </a:lnSpc>
              <a:buNone/>
            </a:pPr>
            <a:r>
              <a:rPr lang="en-US" sz="1400" dirty="0">
                <a:solidFill>
                  <a:srgbClr val="000000"/>
                </a:solidFill>
                <a:latin typeface="Readex Pro Light" pitchFamily="34" charset="0"/>
                <a:ea typeface="Readex Pro Light" pitchFamily="34" charset="-122"/>
                <a:cs typeface="Readex Pro Light" pitchFamily="34" charset="-120"/>
              </a:rPr>
              <a:t> syntax is essential for consuming async iterables like streams. Each iteration receives a chunk of the response as it's generated by the model. This is more elegant than traditional callback-based streaming and works naturally with async/await patterns.</a:t>
            </a:r>
            <a:endParaRPr lang="en-US" sz="1400" dirty="0"/>
          </a:p>
        </p:txBody>
      </p:sp>
      <p:sp>
        <p:nvSpPr>
          <p:cNvPr id="7" name="Text 5"/>
          <p:cNvSpPr/>
          <p:nvPr/>
        </p:nvSpPr>
        <p:spPr>
          <a:xfrm>
            <a:off x="736521" y="5450562"/>
            <a:ext cx="2301716" cy="287655"/>
          </a:xfrm>
          <a:prstGeom prst="rect">
            <a:avLst/>
          </a:prstGeom>
          <a:noFill/>
          <a:ln/>
        </p:spPr>
        <p:txBody>
          <a:bodyPr wrap="none" lIns="0" tIns="0" rIns="0" bIns="0" rtlCol="0" anchor="t"/>
          <a:lstStyle/>
          <a:p>
            <a:pPr algn="l" indent="0" marL="0">
              <a:lnSpc>
                <a:spcPts val="2250"/>
              </a:lnSpc>
              <a:buNone/>
            </a:pPr>
            <a:r>
              <a:rPr lang="en-US" sz="1800" dirty="0">
                <a:solidFill>
                  <a:srgbClr val="111111"/>
                </a:solidFill>
                <a:latin typeface="Readex Pro" pitchFamily="34" charset="0"/>
                <a:ea typeface="Readex Pro" pitchFamily="34" charset="-122"/>
                <a:cs typeface="Readex Pro" pitchFamily="34" charset="-120"/>
              </a:rPr>
              <a:t>Chunk Structure</a:t>
            </a:r>
            <a:endParaRPr lang="en-US" sz="1800" dirty="0"/>
          </a:p>
        </p:txBody>
      </p:sp>
      <p:sp>
        <p:nvSpPr>
          <p:cNvPr id="8" name="Text 6"/>
          <p:cNvSpPr/>
          <p:nvPr/>
        </p:nvSpPr>
        <p:spPr>
          <a:xfrm>
            <a:off x="736521" y="5922288"/>
            <a:ext cx="6354128" cy="294680"/>
          </a:xfrm>
          <a:prstGeom prst="rect">
            <a:avLst/>
          </a:prstGeom>
          <a:noFill/>
          <a:ln/>
        </p:spPr>
        <p:txBody>
          <a:bodyPr wrap="none" lIns="0" tIns="0" rIns="0" bIns="0" rtlCol="0" anchor="t"/>
          <a:lstStyle/>
          <a:p>
            <a:pPr algn="l" marL="342900" indent="-342900">
              <a:lnSpc>
                <a:spcPts val="2300"/>
              </a:lnSpc>
              <a:buSzPct val="100000"/>
              <a:buChar char="•"/>
            </a:pPr>
            <a:r>
              <a:rPr lang="en-US" sz="1400" dirty="0">
                <a:solidFill>
                  <a:srgbClr val="000000"/>
                </a:solidFill>
                <a:highlight>
                  <a:srgbClr val="F2F2F2"/>
                </a:highlight>
                <a:latin typeface="Consolas" pitchFamily="34" charset="0"/>
                <a:ea typeface="Consolas" pitchFamily="34" charset="-122"/>
                <a:cs typeface="Consolas" pitchFamily="34" charset="-120"/>
              </a:rPr>
              <a:t>chunk.text</a:t>
            </a:r>
            <a:pPr algn="l" indent="0" marL="0">
              <a:lnSpc>
                <a:spcPts val="2300"/>
              </a:lnSpc>
              <a:buNone/>
            </a:pPr>
            <a:r>
              <a:rPr lang="en-US" sz="1400" dirty="0">
                <a:solidFill>
                  <a:srgbClr val="000000"/>
                </a:solidFill>
                <a:latin typeface="Readex Pro Light" pitchFamily="34" charset="0"/>
                <a:ea typeface="Readex Pro Light" pitchFamily="34" charset="-122"/>
                <a:cs typeface="Readex Pro Light" pitchFamily="34" charset="-120"/>
              </a:rPr>
              <a:t> - The text content for this piece of the response</a:t>
            </a:r>
            <a:endParaRPr lang="en-US" sz="1400" dirty="0"/>
          </a:p>
        </p:txBody>
      </p:sp>
      <p:sp>
        <p:nvSpPr>
          <p:cNvPr id="9" name="Text 7"/>
          <p:cNvSpPr/>
          <p:nvPr/>
        </p:nvSpPr>
        <p:spPr>
          <a:xfrm>
            <a:off x="736521" y="6281380"/>
            <a:ext cx="6354128" cy="294680"/>
          </a:xfrm>
          <a:prstGeom prst="rect">
            <a:avLst/>
          </a:prstGeom>
          <a:noFill/>
          <a:ln/>
        </p:spPr>
        <p:txBody>
          <a:bodyPr wrap="none" lIns="0" tIns="0" rIns="0" bIns="0" rtlCol="0" anchor="t"/>
          <a:lstStyle/>
          <a:p>
            <a:pPr algn="l" marL="342900" indent="-342900">
              <a:lnSpc>
                <a:spcPts val="2300"/>
              </a:lnSpc>
              <a:buSzPct val="100000"/>
              <a:buChar char="•"/>
            </a:pPr>
            <a:r>
              <a:rPr lang="en-US" sz="1400" dirty="0">
                <a:solidFill>
                  <a:srgbClr val="000000"/>
                </a:solidFill>
                <a:highlight>
                  <a:srgbClr val="F2F2F2"/>
                </a:highlight>
                <a:latin typeface="Consolas" pitchFamily="34" charset="0"/>
                <a:ea typeface="Consolas" pitchFamily="34" charset="-122"/>
                <a:cs typeface="Consolas" pitchFamily="34" charset="-120"/>
              </a:rPr>
              <a:t>chunk.candidates</a:t>
            </a:r>
            <a:pPr algn="l" indent="0" marL="0">
              <a:lnSpc>
                <a:spcPts val="2300"/>
              </a:lnSpc>
              <a:buNone/>
            </a:pPr>
            <a:r>
              <a:rPr lang="en-US" sz="1400" dirty="0">
                <a:solidFill>
                  <a:srgbClr val="000000"/>
                </a:solidFill>
                <a:latin typeface="Readex Pro Light" pitchFamily="34" charset="0"/>
                <a:ea typeface="Readex Pro Light" pitchFamily="34" charset="-122"/>
                <a:cs typeface="Readex Pro Light" pitchFamily="34" charset="-120"/>
              </a:rPr>
              <a:t> - Array of candidate responses (usually one)</a:t>
            </a:r>
            <a:endParaRPr lang="en-US" sz="1400" dirty="0"/>
          </a:p>
        </p:txBody>
      </p:sp>
      <p:sp>
        <p:nvSpPr>
          <p:cNvPr id="10" name="Text 8"/>
          <p:cNvSpPr/>
          <p:nvPr/>
        </p:nvSpPr>
        <p:spPr>
          <a:xfrm>
            <a:off x="736521" y="6640473"/>
            <a:ext cx="6354128" cy="294680"/>
          </a:xfrm>
          <a:prstGeom prst="rect">
            <a:avLst/>
          </a:prstGeom>
          <a:noFill/>
          <a:ln/>
        </p:spPr>
        <p:txBody>
          <a:bodyPr wrap="none" lIns="0" tIns="0" rIns="0" bIns="0" rtlCol="0" anchor="t"/>
          <a:lstStyle/>
          <a:p>
            <a:pPr algn="l" marL="342900" indent="-342900">
              <a:lnSpc>
                <a:spcPts val="2300"/>
              </a:lnSpc>
              <a:buSzPct val="100000"/>
              <a:buChar char="•"/>
            </a:pPr>
            <a:r>
              <a:rPr lang="en-US" sz="1400" dirty="0">
                <a:solidFill>
                  <a:srgbClr val="000000"/>
                </a:solidFill>
                <a:highlight>
                  <a:srgbClr val="F2F2F2"/>
                </a:highlight>
                <a:latin typeface="Consolas" pitchFamily="34" charset="0"/>
                <a:ea typeface="Consolas" pitchFamily="34" charset="-122"/>
                <a:cs typeface="Consolas" pitchFamily="34" charset="-120"/>
              </a:rPr>
              <a:t>groundingMetadata</a:t>
            </a:r>
            <a:pPr algn="l" indent="0" marL="0">
              <a:lnSpc>
                <a:spcPts val="2300"/>
              </a:lnSpc>
              <a:buNone/>
            </a:pPr>
            <a:r>
              <a:rPr lang="en-US" sz="1400" dirty="0">
                <a:solidFill>
                  <a:srgbClr val="000000"/>
                </a:solidFill>
                <a:latin typeface="Readex Pro Light" pitchFamily="34" charset="0"/>
                <a:ea typeface="Readex Pro Light" pitchFamily="34" charset="-122"/>
                <a:cs typeface="Readex Pro Light" pitchFamily="34" charset="-120"/>
              </a:rPr>
              <a:t> - Information about sources and tools used</a:t>
            </a:r>
            <a:endParaRPr lang="en-US" sz="1400" dirty="0"/>
          </a:p>
        </p:txBody>
      </p:sp>
      <p:sp>
        <p:nvSpPr>
          <p:cNvPr id="11" name="Text 9"/>
          <p:cNvSpPr/>
          <p:nvPr/>
        </p:nvSpPr>
        <p:spPr>
          <a:xfrm>
            <a:off x="736521" y="6999565"/>
            <a:ext cx="6354128" cy="294680"/>
          </a:xfrm>
          <a:prstGeom prst="rect">
            <a:avLst/>
          </a:prstGeom>
          <a:noFill/>
          <a:ln/>
        </p:spPr>
        <p:txBody>
          <a:bodyPr wrap="none" lIns="0" tIns="0" rIns="0" bIns="0" rtlCol="0" anchor="t"/>
          <a:lstStyle/>
          <a:p>
            <a:pPr algn="l" marL="342900" indent="-342900">
              <a:lnSpc>
                <a:spcPts val="2300"/>
              </a:lnSpc>
              <a:buSzPct val="100000"/>
              <a:buChar char="•"/>
            </a:pPr>
            <a:r>
              <a:rPr lang="en-US" sz="1400" dirty="0">
                <a:solidFill>
                  <a:srgbClr val="000000"/>
                </a:solidFill>
                <a:highlight>
                  <a:srgbClr val="F2F2F2"/>
                </a:highlight>
                <a:latin typeface="Consolas" pitchFamily="34" charset="0"/>
                <a:ea typeface="Consolas" pitchFamily="34" charset="-122"/>
                <a:cs typeface="Consolas" pitchFamily="34" charset="-120"/>
              </a:rPr>
              <a:t>groundingChunks</a:t>
            </a:r>
            <a:pPr algn="l" indent="0" marL="0">
              <a:lnSpc>
                <a:spcPts val="2300"/>
              </a:lnSpc>
              <a:buNone/>
            </a:pPr>
            <a:r>
              <a:rPr lang="en-US" sz="1400" dirty="0">
                <a:solidFill>
                  <a:srgbClr val="000000"/>
                </a:solidFill>
                <a:latin typeface="Readex Pro Light" pitchFamily="34" charset="0"/>
                <a:ea typeface="Readex Pro Light" pitchFamily="34" charset="-122"/>
                <a:cs typeface="Readex Pro Light" pitchFamily="34" charset="-120"/>
              </a:rPr>
              <a:t> - Specific citations and references</a:t>
            </a:r>
            <a:endParaRPr lang="en-US" sz="1400" dirty="0"/>
          </a:p>
        </p:txBody>
      </p:sp>
      <p:sp>
        <p:nvSpPr>
          <p:cNvPr id="12" name="Text 10"/>
          <p:cNvSpPr/>
          <p:nvPr/>
        </p:nvSpPr>
        <p:spPr>
          <a:xfrm>
            <a:off x="7547372" y="5450562"/>
            <a:ext cx="2372320" cy="287655"/>
          </a:xfrm>
          <a:prstGeom prst="rect">
            <a:avLst/>
          </a:prstGeom>
          <a:noFill/>
          <a:ln/>
        </p:spPr>
        <p:txBody>
          <a:bodyPr wrap="none" lIns="0" tIns="0" rIns="0" bIns="0" rtlCol="0" anchor="t"/>
          <a:lstStyle/>
          <a:p>
            <a:pPr algn="l" indent="0" marL="0">
              <a:lnSpc>
                <a:spcPts val="2250"/>
              </a:lnSpc>
              <a:buNone/>
            </a:pPr>
            <a:r>
              <a:rPr lang="en-US" sz="1800" dirty="0">
                <a:solidFill>
                  <a:srgbClr val="111111"/>
                </a:solidFill>
                <a:latin typeface="Readex Pro" pitchFamily="34" charset="0"/>
                <a:ea typeface="Readex Pro" pitchFamily="34" charset="-122"/>
                <a:cs typeface="Readex Pro" pitchFamily="34" charset="-120"/>
              </a:rPr>
              <a:t>Accumulation Pattern</a:t>
            </a:r>
            <a:endParaRPr lang="en-US" sz="1800" dirty="0"/>
          </a:p>
        </p:txBody>
      </p:sp>
      <p:sp>
        <p:nvSpPr>
          <p:cNvPr id="13" name="Text 11"/>
          <p:cNvSpPr/>
          <p:nvPr/>
        </p:nvSpPr>
        <p:spPr>
          <a:xfrm>
            <a:off x="7547372" y="5922288"/>
            <a:ext cx="6354128" cy="884039"/>
          </a:xfrm>
          <a:prstGeom prst="rect">
            <a:avLst/>
          </a:prstGeom>
          <a:noFill/>
          <a:ln/>
        </p:spPr>
        <p:txBody>
          <a:bodyPr wrap="square" lIns="0" tIns="0" rIns="0" bIns="0" rtlCol="0" anchor="t"/>
          <a:lstStyle/>
          <a:p>
            <a:pPr algn="l" indent="0" marL="0">
              <a:lnSpc>
                <a:spcPts val="2300"/>
              </a:lnSpc>
              <a:buNone/>
            </a:pPr>
            <a:r>
              <a:rPr lang="en-US" sz="1400" dirty="0">
                <a:solidFill>
                  <a:srgbClr val="000000"/>
                </a:solidFill>
                <a:latin typeface="Readex Pro Light" pitchFamily="34" charset="0"/>
                <a:ea typeface="Readex Pro Light" pitchFamily="34" charset="-122"/>
                <a:cs typeface="Readex Pro Light" pitchFamily="34" charset="-120"/>
              </a:rPr>
              <a:t>We accumulate the complete response in </a:t>
            </a:r>
            <a:pPr algn="l" indent="0" marL="0">
              <a:lnSpc>
                <a:spcPts val="2300"/>
              </a:lnSpc>
              <a:buNone/>
            </a:pPr>
            <a:r>
              <a:rPr lang="en-US" sz="1400" dirty="0">
                <a:solidFill>
                  <a:srgbClr val="000000"/>
                </a:solidFill>
                <a:highlight>
                  <a:srgbClr val="F2F2F2"/>
                </a:highlight>
                <a:latin typeface="Consolas" pitchFamily="34" charset="0"/>
                <a:ea typeface="Consolas" pitchFamily="34" charset="-122"/>
                <a:cs typeface="Consolas" pitchFamily="34" charset="-120"/>
              </a:rPr>
              <a:t>modelResponse</a:t>
            </a:r>
            <a:pPr algn="l" indent="0" marL="0">
              <a:lnSpc>
                <a:spcPts val="2300"/>
              </a:lnSpc>
              <a:buNone/>
            </a:pPr>
            <a:r>
              <a:rPr lang="en-US" sz="1400" dirty="0">
                <a:solidFill>
                  <a:srgbClr val="000000"/>
                </a:solidFill>
                <a:latin typeface="Readex Pro Light" pitchFamily="34" charset="0"/>
                <a:ea typeface="Readex Pro Light" pitchFamily="34" charset="-122"/>
                <a:cs typeface="Readex Pro Light" pitchFamily="34" charset="-120"/>
              </a:rPr>
              <a:t> by concatenating each chunk's text. This gives us both incremental updates for the UI and the final complete response.</a:t>
            </a:r>
            <a:endParaRPr lang="en-US" sz="1400" dirty="0"/>
          </a:p>
        </p:txBody>
      </p:sp>
      <p:sp>
        <p:nvSpPr>
          <p:cNvPr id="14" name="Text 12"/>
          <p:cNvSpPr/>
          <p:nvPr/>
        </p:nvSpPr>
        <p:spPr>
          <a:xfrm>
            <a:off x="7547372" y="6971943"/>
            <a:ext cx="6354128" cy="589359"/>
          </a:xfrm>
          <a:prstGeom prst="rect">
            <a:avLst/>
          </a:prstGeom>
          <a:noFill/>
          <a:ln/>
        </p:spPr>
        <p:txBody>
          <a:bodyPr wrap="square" lIns="0" tIns="0" rIns="0" bIns="0" rtlCol="0" anchor="t"/>
          <a:lstStyle/>
          <a:p>
            <a:pPr algn="l" indent="0" marL="0">
              <a:lnSpc>
                <a:spcPts val="2300"/>
              </a:lnSpc>
              <a:buNone/>
            </a:pPr>
            <a:r>
              <a:rPr lang="en-US" sz="1400" dirty="0">
                <a:solidFill>
                  <a:srgbClr val="000000"/>
                </a:solidFill>
                <a:latin typeface="Readex Pro Light" pitchFamily="34" charset="0"/>
                <a:ea typeface="Readex Pro Light" pitchFamily="34" charset="-122"/>
                <a:cs typeface="Readex Pro Light" pitchFamily="34" charset="-120"/>
              </a:rPr>
              <a:t>Grounding chunks are extracted when available and stored separately for rendering as source citations after the response completes.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80561" y="505063"/>
            <a:ext cx="7022068" cy="425291"/>
          </a:xfrm>
          <a:prstGeom prst="rect">
            <a:avLst/>
          </a:prstGeom>
          <a:noFill/>
          <a:ln/>
        </p:spPr>
        <p:txBody>
          <a:bodyPr wrap="none" lIns="0" tIns="0" rIns="0" bIns="0" rtlCol="0" anchor="t"/>
          <a:lstStyle/>
          <a:p>
            <a:pPr algn="l" indent="0" marL="0">
              <a:lnSpc>
                <a:spcPts val="3300"/>
              </a:lnSpc>
              <a:buNone/>
            </a:pPr>
            <a:r>
              <a:rPr lang="en-US" sz="2650" dirty="0">
                <a:solidFill>
                  <a:srgbClr val="111111"/>
                </a:solidFill>
                <a:latin typeface="Readex Pro" pitchFamily="34" charset="0"/>
                <a:ea typeface="Readex Pro" pitchFamily="34" charset="-122"/>
                <a:cs typeface="Readex Pro" pitchFamily="34" charset="-120"/>
              </a:rPr>
              <a:t>Real-Time State Updates During Streaming</a:t>
            </a:r>
            <a:endParaRPr lang="en-US" sz="2650" dirty="0"/>
          </a:p>
        </p:txBody>
      </p:sp>
      <p:sp>
        <p:nvSpPr>
          <p:cNvPr id="3" name="Shape 1"/>
          <p:cNvSpPr/>
          <p:nvPr/>
        </p:nvSpPr>
        <p:spPr>
          <a:xfrm>
            <a:off x="680561" y="1270635"/>
            <a:ext cx="13269277" cy="1071563"/>
          </a:xfrm>
          <a:prstGeom prst="roundRect">
            <a:avLst>
              <a:gd name="adj" fmla="val 14292"/>
            </a:avLst>
          </a:prstGeom>
          <a:solidFill>
            <a:srgbClr val="F2F2F2"/>
          </a:solidFill>
          <a:ln/>
        </p:spPr>
      </p:sp>
      <p:sp>
        <p:nvSpPr>
          <p:cNvPr id="4" name="Shape 2"/>
          <p:cNvSpPr/>
          <p:nvPr/>
        </p:nvSpPr>
        <p:spPr>
          <a:xfrm>
            <a:off x="672108" y="1270635"/>
            <a:ext cx="13286184" cy="1071563"/>
          </a:xfrm>
          <a:prstGeom prst="roundRect">
            <a:avLst>
              <a:gd name="adj" fmla="val 2382"/>
            </a:avLst>
          </a:prstGeom>
          <a:solidFill>
            <a:srgbClr val="F2F2F2"/>
          </a:solidFill>
          <a:ln/>
        </p:spPr>
      </p:sp>
      <p:sp>
        <p:nvSpPr>
          <p:cNvPr id="5" name="Text 3"/>
          <p:cNvSpPr/>
          <p:nvPr/>
        </p:nvSpPr>
        <p:spPr>
          <a:xfrm>
            <a:off x="842248" y="1398151"/>
            <a:ext cx="12945904" cy="816531"/>
          </a:xfrm>
          <a:prstGeom prst="rect">
            <a:avLst/>
          </a:prstGeom>
          <a:noFill/>
          <a:ln/>
        </p:spPr>
        <p:txBody>
          <a:bodyPr wrap="square" lIns="0" tIns="0" rIns="0" bIns="0" rtlCol="0" anchor="t"/>
          <a:lstStyle/>
          <a:p>
            <a:pPr algn="l" indent="0" marL="0">
              <a:lnSpc>
                <a:spcPts val="2100"/>
              </a:lnSpc>
              <a:buNone/>
            </a:pPr>
            <a:r>
              <a:rPr lang="en-US" sz="1300" dirty="0">
                <a:solidFill>
                  <a:srgbClr val="000000"/>
                </a:solidFill>
                <a:highlight>
                  <a:srgbClr val="F2F2F2"/>
                </a:highlight>
                <a:latin typeface="Consolas Light" pitchFamily="34" charset="0"/>
                <a:ea typeface="Consolas Light" pitchFamily="34" charset="-122"/>
                <a:cs typeface="Consolas Light" pitchFamily="34" charset="-120"/>
              </a:rPr>
              <a:t>setMessages(prev =&gt; prev.map(msg =&gt;  msg.id === modelMessageId ? { ...msg, content: modelResponse } : msg));</a:t>
            </a:r>
            <a:endParaRPr lang="en-US" sz="1300" dirty="0"/>
          </a:p>
        </p:txBody>
      </p:sp>
      <p:sp>
        <p:nvSpPr>
          <p:cNvPr id="6" name="Text 4"/>
          <p:cNvSpPr/>
          <p:nvPr/>
        </p:nvSpPr>
        <p:spPr>
          <a:xfrm>
            <a:off x="680561" y="2533531"/>
            <a:ext cx="13269277" cy="544354"/>
          </a:xfrm>
          <a:prstGeom prst="rect">
            <a:avLst/>
          </a:prstGeom>
          <a:noFill/>
          <a:ln/>
        </p:spPr>
        <p:txBody>
          <a:bodyPr wrap="square" lIns="0" tIns="0" rIns="0" bIns="0" rtlCol="0" anchor="t"/>
          <a:lstStyle/>
          <a:p>
            <a:pPr algn="l" indent="0" marL="0">
              <a:lnSpc>
                <a:spcPts val="2100"/>
              </a:lnSpc>
              <a:buNone/>
            </a:pPr>
            <a:r>
              <a:rPr lang="en-US" sz="1300" dirty="0">
                <a:solidFill>
                  <a:srgbClr val="000000"/>
                </a:solidFill>
                <a:latin typeface="Readex Pro Light" pitchFamily="34" charset="0"/>
                <a:ea typeface="Readex Pro Light" pitchFamily="34" charset="-122"/>
                <a:cs typeface="Readex Pro Light" pitchFamily="34" charset="-120"/>
              </a:rPr>
              <a:t>This pattern updates the specific message being streamed without recreating the entire messages array. It's a functional update that maps over the array, replacing only the message with matching ID. This is efficient and maintains immutability, which is critical for React's rendering optimizations.</a:t>
            </a:r>
            <a:endParaRPr lang="en-US" sz="1300" dirty="0"/>
          </a:p>
        </p:txBody>
      </p:sp>
      <p:sp>
        <p:nvSpPr>
          <p:cNvPr id="7" name="Text 5"/>
          <p:cNvSpPr/>
          <p:nvPr/>
        </p:nvSpPr>
        <p:spPr>
          <a:xfrm>
            <a:off x="680561" y="3269218"/>
            <a:ext cx="13269277" cy="544354"/>
          </a:xfrm>
          <a:prstGeom prst="rect">
            <a:avLst/>
          </a:prstGeom>
          <a:noFill/>
          <a:ln/>
        </p:spPr>
        <p:txBody>
          <a:bodyPr wrap="square" lIns="0" tIns="0" rIns="0" bIns="0" rtlCol="0" anchor="t"/>
          <a:lstStyle/>
          <a:p>
            <a:pPr algn="l" indent="0" marL="0">
              <a:lnSpc>
                <a:spcPts val="2100"/>
              </a:lnSpc>
              <a:buNone/>
            </a:pPr>
            <a:r>
              <a:rPr lang="en-US" sz="1300" dirty="0">
                <a:solidFill>
                  <a:srgbClr val="000000"/>
                </a:solidFill>
                <a:latin typeface="Readex Pro Light" pitchFamily="34" charset="0"/>
                <a:ea typeface="Readex Pro Light" pitchFamily="34" charset="-122"/>
                <a:cs typeface="Readex Pro Light" pitchFamily="34" charset="-120"/>
              </a:rPr>
              <a:t>Each chunk triggers a state update, which causes React to re-render the component. This might seem expensive, but React's reconciliation algorithm is highly optimized for these types of updates. The message list only re-renders the specific message that changed, not the entire conversation history.</a:t>
            </a:r>
            <a:endParaRPr lang="en-US" sz="1300" dirty="0"/>
          </a:p>
        </p:txBody>
      </p:sp>
      <p:sp>
        <p:nvSpPr>
          <p:cNvPr id="8" name="Text 6"/>
          <p:cNvSpPr/>
          <p:nvPr/>
        </p:nvSpPr>
        <p:spPr>
          <a:xfrm>
            <a:off x="1774627" y="5110877"/>
            <a:ext cx="2092881" cy="425291"/>
          </a:xfrm>
          <a:prstGeom prst="rect">
            <a:avLst/>
          </a:prstGeom>
          <a:noFill/>
          <a:ln/>
        </p:spPr>
        <p:txBody>
          <a:bodyPr wrap="none" lIns="0" tIns="0" rIns="0" bIns="0" rtlCol="0" anchor="t"/>
          <a:lstStyle/>
          <a:p>
            <a:pPr algn="ctr" indent="0" marL="0">
              <a:lnSpc>
                <a:spcPts val="3300"/>
              </a:lnSpc>
              <a:buNone/>
            </a:pPr>
            <a:r>
              <a:rPr lang="en-US" sz="3300" dirty="0">
                <a:solidFill>
                  <a:srgbClr val="000000"/>
                </a:solidFill>
                <a:latin typeface="Readex Pro" pitchFamily="34" charset="0"/>
                <a:ea typeface="Readex Pro" pitchFamily="34" charset="-122"/>
                <a:cs typeface="Readex Pro" pitchFamily="34" charset="-120"/>
              </a:rPr>
              <a:t>60fps</a:t>
            </a:r>
            <a:endParaRPr lang="en-US" sz="3300" dirty="0"/>
          </a:p>
        </p:txBody>
      </p:sp>
      <p:pic>
        <p:nvPicPr>
          <p:cNvPr id="9" name="Image 0" descr="preencoded.png">    </p:cNvPr>
          <p:cNvPicPr>
            <a:picLocks noChangeAspect="1"/>
          </p:cNvPicPr>
          <p:nvPr/>
        </p:nvPicPr>
        <p:blipFill>
          <a:blip r:embed="rId1"/>
          <a:stretch>
            <a:fillRect/>
          </a:stretch>
        </p:blipFill>
        <p:spPr>
          <a:xfrm>
            <a:off x="1544955" y="4047411"/>
            <a:ext cx="2552343" cy="2552343"/>
          </a:xfrm>
          <a:prstGeom prst="rect">
            <a:avLst/>
          </a:prstGeom>
        </p:spPr>
      </p:pic>
      <p:sp>
        <p:nvSpPr>
          <p:cNvPr id="10" name="Text 7"/>
          <p:cNvSpPr/>
          <p:nvPr/>
        </p:nvSpPr>
        <p:spPr>
          <a:xfrm>
            <a:off x="1757720" y="6812399"/>
            <a:ext cx="2126933" cy="265747"/>
          </a:xfrm>
          <a:prstGeom prst="rect">
            <a:avLst/>
          </a:prstGeom>
          <a:noFill/>
          <a:ln/>
        </p:spPr>
        <p:txBody>
          <a:bodyPr wrap="none" lIns="0" tIns="0" rIns="0" bIns="0" rtlCol="0" anchor="t"/>
          <a:lstStyle/>
          <a:p>
            <a:pPr algn="ctr" indent="0" marL="0">
              <a:lnSpc>
                <a:spcPts val="2050"/>
              </a:lnSpc>
              <a:buNone/>
            </a:pPr>
            <a:r>
              <a:rPr lang="en-US" sz="1650" dirty="0">
                <a:solidFill>
                  <a:srgbClr val="000000"/>
                </a:solidFill>
                <a:latin typeface="Readex Pro" pitchFamily="34" charset="0"/>
                <a:ea typeface="Readex Pro" pitchFamily="34" charset="-122"/>
                <a:cs typeface="Readex Pro" pitchFamily="34" charset="-120"/>
              </a:rPr>
              <a:t>Smooth Updates</a:t>
            </a:r>
            <a:endParaRPr lang="en-US" sz="1650" dirty="0"/>
          </a:p>
        </p:txBody>
      </p:sp>
      <p:sp>
        <p:nvSpPr>
          <p:cNvPr id="11" name="Text 8"/>
          <p:cNvSpPr/>
          <p:nvPr/>
        </p:nvSpPr>
        <p:spPr>
          <a:xfrm>
            <a:off x="680561" y="7180183"/>
            <a:ext cx="4281249" cy="544354"/>
          </a:xfrm>
          <a:prstGeom prst="rect">
            <a:avLst/>
          </a:prstGeom>
          <a:noFill/>
          <a:ln/>
        </p:spPr>
        <p:txBody>
          <a:bodyPr wrap="square" lIns="0" tIns="0" rIns="0" bIns="0" rtlCol="0" anchor="t"/>
          <a:lstStyle/>
          <a:p>
            <a:pPr algn="ctr" indent="0" marL="0">
              <a:lnSpc>
                <a:spcPts val="2100"/>
              </a:lnSpc>
              <a:buNone/>
            </a:pPr>
            <a:r>
              <a:rPr lang="en-US" sz="1300" dirty="0">
                <a:solidFill>
                  <a:srgbClr val="000000"/>
                </a:solidFill>
                <a:latin typeface="Readex Pro Light" pitchFamily="34" charset="0"/>
                <a:ea typeface="Readex Pro Light" pitchFamily="34" charset="-122"/>
                <a:cs typeface="Readex Pro Light" pitchFamily="34" charset="-120"/>
              </a:rPr>
              <a:t>React maintains smooth 60fps rendering even with rapid state updates during streaming</a:t>
            </a:r>
            <a:endParaRPr lang="en-US" sz="1300" dirty="0"/>
          </a:p>
        </p:txBody>
      </p:sp>
      <p:sp>
        <p:nvSpPr>
          <p:cNvPr id="12" name="Text 9"/>
          <p:cNvSpPr/>
          <p:nvPr/>
        </p:nvSpPr>
        <p:spPr>
          <a:xfrm>
            <a:off x="6268641" y="5110877"/>
            <a:ext cx="2092881" cy="425291"/>
          </a:xfrm>
          <a:prstGeom prst="rect">
            <a:avLst/>
          </a:prstGeom>
          <a:noFill/>
          <a:ln/>
        </p:spPr>
        <p:txBody>
          <a:bodyPr wrap="none" lIns="0" tIns="0" rIns="0" bIns="0" rtlCol="0" anchor="t"/>
          <a:lstStyle/>
          <a:p>
            <a:pPr algn="ctr" indent="0" marL="0">
              <a:lnSpc>
                <a:spcPts val="3300"/>
              </a:lnSpc>
              <a:buNone/>
            </a:pPr>
            <a:r>
              <a:rPr lang="en-US" sz="3300" dirty="0">
                <a:solidFill>
                  <a:srgbClr val="000000"/>
                </a:solidFill>
                <a:latin typeface="Readex Pro" pitchFamily="34" charset="0"/>
                <a:ea typeface="Readex Pro" pitchFamily="34" charset="-122"/>
                <a:cs typeface="Readex Pro" pitchFamily="34" charset="-120"/>
              </a:rPr>
              <a:t>&lt;5ms</a:t>
            </a:r>
            <a:endParaRPr lang="en-US" sz="3300" dirty="0"/>
          </a:p>
        </p:txBody>
      </p:sp>
      <p:pic>
        <p:nvPicPr>
          <p:cNvPr id="13" name="Image 1" descr="preencoded.png">    </p:cNvPr>
          <p:cNvPicPr>
            <a:picLocks noChangeAspect="1"/>
          </p:cNvPicPr>
          <p:nvPr/>
        </p:nvPicPr>
        <p:blipFill>
          <a:blip r:embed="rId2"/>
          <a:stretch>
            <a:fillRect/>
          </a:stretch>
        </p:blipFill>
        <p:spPr>
          <a:xfrm>
            <a:off x="6038969" y="4047411"/>
            <a:ext cx="2552343" cy="2552343"/>
          </a:xfrm>
          <a:prstGeom prst="rect">
            <a:avLst/>
          </a:prstGeom>
        </p:spPr>
      </p:pic>
      <p:sp>
        <p:nvSpPr>
          <p:cNvPr id="14" name="Text 10"/>
          <p:cNvSpPr/>
          <p:nvPr/>
        </p:nvSpPr>
        <p:spPr>
          <a:xfrm>
            <a:off x="6251615" y="6812399"/>
            <a:ext cx="2126933" cy="265747"/>
          </a:xfrm>
          <a:prstGeom prst="rect">
            <a:avLst/>
          </a:prstGeom>
          <a:noFill/>
          <a:ln/>
        </p:spPr>
        <p:txBody>
          <a:bodyPr wrap="none" lIns="0" tIns="0" rIns="0" bIns="0" rtlCol="0" anchor="t"/>
          <a:lstStyle/>
          <a:p>
            <a:pPr algn="ctr" indent="0" marL="0">
              <a:lnSpc>
                <a:spcPts val="2050"/>
              </a:lnSpc>
              <a:buNone/>
            </a:pPr>
            <a:r>
              <a:rPr lang="en-US" sz="1650" dirty="0">
                <a:solidFill>
                  <a:srgbClr val="000000"/>
                </a:solidFill>
                <a:latin typeface="Readex Pro" pitchFamily="34" charset="0"/>
                <a:ea typeface="Readex Pro" pitchFamily="34" charset="-122"/>
                <a:cs typeface="Readex Pro" pitchFamily="34" charset="-120"/>
              </a:rPr>
              <a:t>Update Latency</a:t>
            </a:r>
            <a:endParaRPr lang="en-US" sz="1650" dirty="0"/>
          </a:p>
        </p:txBody>
      </p:sp>
      <p:sp>
        <p:nvSpPr>
          <p:cNvPr id="15" name="Text 11"/>
          <p:cNvSpPr/>
          <p:nvPr/>
        </p:nvSpPr>
        <p:spPr>
          <a:xfrm>
            <a:off x="5174456" y="7180183"/>
            <a:ext cx="4281368" cy="544354"/>
          </a:xfrm>
          <a:prstGeom prst="rect">
            <a:avLst/>
          </a:prstGeom>
          <a:noFill/>
          <a:ln/>
        </p:spPr>
        <p:txBody>
          <a:bodyPr wrap="square" lIns="0" tIns="0" rIns="0" bIns="0" rtlCol="0" anchor="t"/>
          <a:lstStyle/>
          <a:p>
            <a:pPr algn="ctr" indent="0" marL="0">
              <a:lnSpc>
                <a:spcPts val="2100"/>
              </a:lnSpc>
              <a:buNone/>
            </a:pPr>
            <a:r>
              <a:rPr lang="en-US" sz="1300" dirty="0">
                <a:solidFill>
                  <a:srgbClr val="000000"/>
                </a:solidFill>
                <a:latin typeface="Readex Pro Light" pitchFamily="34" charset="0"/>
                <a:ea typeface="Readex Pro Light" pitchFamily="34" charset="-122"/>
                <a:cs typeface="Readex Pro Light" pitchFamily="34" charset="-120"/>
              </a:rPr>
              <a:t>State updates to UI reflection typically takes less than 5 milliseconds in modern browsers</a:t>
            </a:r>
            <a:endParaRPr lang="en-US" sz="1300" dirty="0"/>
          </a:p>
        </p:txBody>
      </p:sp>
      <p:sp>
        <p:nvSpPr>
          <p:cNvPr id="16" name="Text 12"/>
          <p:cNvSpPr/>
          <p:nvPr/>
        </p:nvSpPr>
        <p:spPr>
          <a:xfrm>
            <a:off x="10762655" y="5110877"/>
            <a:ext cx="2092881" cy="425291"/>
          </a:xfrm>
          <a:prstGeom prst="rect">
            <a:avLst/>
          </a:prstGeom>
          <a:noFill/>
          <a:ln/>
        </p:spPr>
        <p:txBody>
          <a:bodyPr wrap="none" lIns="0" tIns="0" rIns="0" bIns="0" rtlCol="0" anchor="t"/>
          <a:lstStyle/>
          <a:p>
            <a:pPr algn="ctr" indent="0" marL="0">
              <a:lnSpc>
                <a:spcPts val="3300"/>
              </a:lnSpc>
              <a:buNone/>
            </a:pPr>
            <a:r>
              <a:rPr lang="en-US" sz="3300" dirty="0">
                <a:solidFill>
                  <a:srgbClr val="000000"/>
                </a:solidFill>
                <a:latin typeface="Readex Pro" pitchFamily="34" charset="0"/>
                <a:ea typeface="Readex Pro" pitchFamily="34" charset="-122"/>
                <a:cs typeface="Readex Pro" pitchFamily="34" charset="-120"/>
              </a:rPr>
              <a:t>1</a:t>
            </a:r>
            <a:endParaRPr lang="en-US" sz="3300" dirty="0"/>
          </a:p>
        </p:txBody>
      </p:sp>
      <p:pic>
        <p:nvPicPr>
          <p:cNvPr id="17" name="Image 2" descr="preencoded.png">    </p:cNvPr>
          <p:cNvPicPr>
            <a:picLocks noChangeAspect="1"/>
          </p:cNvPicPr>
          <p:nvPr/>
        </p:nvPicPr>
        <p:blipFill>
          <a:blip r:embed="rId3"/>
          <a:stretch>
            <a:fillRect/>
          </a:stretch>
        </p:blipFill>
        <p:spPr>
          <a:xfrm>
            <a:off x="10532983" y="4047411"/>
            <a:ext cx="2552343" cy="2552343"/>
          </a:xfrm>
          <a:prstGeom prst="rect">
            <a:avLst/>
          </a:prstGeom>
        </p:spPr>
      </p:pic>
      <p:sp>
        <p:nvSpPr>
          <p:cNvPr id="18" name="Text 13"/>
          <p:cNvSpPr/>
          <p:nvPr/>
        </p:nvSpPr>
        <p:spPr>
          <a:xfrm>
            <a:off x="10616208" y="6812399"/>
            <a:ext cx="2385893" cy="265747"/>
          </a:xfrm>
          <a:prstGeom prst="rect">
            <a:avLst/>
          </a:prstGeom>
          <a:noFill/>
          <a:ln/>
        </p:spPr>
        <p:txBody>
          <a:bodyPr wrap="none" lIns="0" tIns="0" rIns="0" bIns="0" rtlCol="0" anchor="t"/>
          <a:lstStyle/>
          <a:p>
            <a:pPr algn="ctr" indent="0" marL="0">
              <a:lnSpc>
                <a:spcPts val="2050"/>
              </a:lnSpc>
              <a:buNone/>
            </a:pPr>
            <a:r>
              <a:rPr lang="en-US" sz="1650" dirty="0">
                <a:solidFill>
                  <a:srgbClr val="000000"/>
                </a:solidFill>
                <a:latin typeface="Readex Pro" pitchFamily="34" charset="0"/>
                <a:ea typeface="Readex Pro" pitchFamily="34" charset="-122"/>
                <a:cs typeface="Readex Pro" pitchFamily="34" charset="-120"/>
              </a:rPr>
              <a:t>Component Re-renders</a:t>
            </a:r>
            <a:endParaRPr lang="en-US" sz="1650" dirty="0"/>
          </a:p>
        </p:txBody>
      </p:sp>
      <p:sp>
        <p:nvSpPr>
          <p:cNvPr id="19" name="Text 14"/>
          <p:cNvSpPr/>
          <p:nvPr/>
        </p:nvSpPr>
        <p:spPr>
          <a:xfrm>
            <a:off x="9668470" y="7180183"/>
            <a:ext cx="4281368" cy="544354"/>
          </a:xfrm>
          <a:prstGeom prst="rect">
            <a:avLst/>
          </a:prstGeom>
          <a:noFill/>
          <a:ln/>
        </p:spPr>
        <p:txBody>
          <a:bodyPr wrap="square" lIns="0" tIns="0" rIns="0" bIns="0" rtlCol="0" anchor="t"/>
          <a:lstStyle/>
          <a:p>
            <a:pPr algn="ctr" indent="0" marL="0">
              <a:lnSpc>
                <a:spcPts val="2100"/>
              </a:lnSpc>
              <a:buNone/>
            </a:pPr>
            <a:r>
              <a:rPr lang="en-US" sz="1300" dirty="0">
                <a:solidFill>
                  <a:srgbClr val="000000"/>
                </a:solidFill>
                <a:latin typeface="Readex Pro Light" pitchFamily="34" charset="0"/>
                <a:ea typeface="Readex Pro Light" pitchFamily="34" charset="-122"/>
                <a:cs typeface="Readex Pro Light" pitchFamily="34" charset="-120"/>
              </a:rPr>
              <a:t>Only the specific message component re-renders, not the entire chat interface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700207"/>
            <a:ext cx="5954197"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Grounding Metadata Extraction</a:t>
            </a:r>
            <a:endParaRPr lang="en-US" sz="3100" dirty="0"/>
          </a:p>
        </p:txBody>
      </p:sp>
      <p:sp>
        <p:nvSpPr>
          <p:cNvPr id="3" name="Shape 1"/>
          <p:cNvSpPr/>
          <p:nvPr/>
        </p:nvSpPr>
        <p:spPr>
          <a:xfrm>
            <a:off x="793790" y="1593175"/>
            <a:ext cx="13042821" cy="1250275"/>
          </a:xfrm>
          <a:prstGeom prst="roundRect">
            <a:avLst>
              <a:gd name="adj" fmla="val 14287"/>
            </a:avLst>
          </a:prstGeom>
          <a:solidFill>
            <a:srgbClr val="F2F2F2"/>
          </a:solidFill>
          <a:ln/>
        </p:spPr>
      </p:sp>
      <p:sp>
        <p:nvSpPr>
          <p:cNvPr id="4" name="Shape 2"/>
          <p:cNvSpPr/>
          <p:nvPr/>
        </p:nvSpPr>
        <p:spPr>
          <a:xfrm>
            <a:off x="783908" y="1593175"/>
            <a:ext cx="13062585" cy="1250275"/>
          </a:xfrm>
          <a:prstGeom prst="roundRect">
            <a:avLst>
              <a:gd name="adj" fmla="val 2381"/>
            </a:avLst>
          </a:prstGeom>
          <a:solidFill>
            <a:srgbClr val="F2F2F2"/>
          </a:solidFill>
          <a:ln/>
        </p:spPr>
      </p:sp>
      <p:sp>
        <p:nvSpPr>
          <p:cNvPr id="5" name="Text 3"/>
          <p:cNvSpPr/>
          <p:nvPr/>
        </p:nvSpPr>
        <p:spPr>
          <a:xfrm>
            <a:off x="982266" y="1742003"/>
            <a:ext cx="12665869"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if (chunk.candidates?.[0]?.groundingMetadata?.groundingChunks) {  groundingChunks = chunk.candidates[0].groundingMetadata.groundingChunks;}</a:t>
            </a:r>
            <a:endParaRPr lang="en-US" sz="1550" dirty="0"/>
          </a:p>
        </p:txBody>
      </p:sp>
      <p:sp>
        <p:nvSpPr>
          <p:cNvPr id="6" name="Text 4"/>
          <p:cNvSpPr/>
          <p:nvPr/>
        </p:nvSpPr>
        <p:spPr>
          <a:xfrm>
            <a:off x="793790" y="3066693"/>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Grounding chunks represent the sources and tools the model used to generate its response. When Google Search or Maps is used, the API returns metadata about which web pages were consulted or which map locations were referenced. This enables transparent, citation-backed responses.</a:t>
            </a:r>
            <a:endParaRPr lang="en-US" sz="1550" dirty="0"/>
          </a:p>
        </p:txBody>
      </p:sp>
      <p:sp>
        <p:nvSpPr>
          <p:cNvPr id="7" name="Text 5"/>
          <p:cNvSpPr/>
          <p:nvPr/>
        </p:nvSpPr>
        <p:spPr>
          <a:xfrm>
            <a:off x="793790" y="444091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Optional Chaining</a:t>
            </a:r>
            <a:endParaRPr lang="en-US" sz="1950" dirty="0"/>
          </a:p>
        </p:txBody>
      </p:sp>
      <p:sp>
        <p:nvSpPr>
          <p:cNvPr id="8" name="Text 6"/>
          <p:cNvSpPr/>
          <p:nvPr/>
        </p:nvSpPr>
        <p:spPr>
          <a:xfrm>
            <a:off x="793790" y="4949428"/>
            <a:ext cx="4926568"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chain of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operators safely navigates the nested object structure. If any property is undefined, the entire expression evaluates to undefined without throwing an error.</a:t>
            </a:r>
            <a:endParaRPr lang="en-US" sz="1550" dirty="0"/>
          </a:p>
        </p:txBody>
      </p:sp>
      <p:sp>
        <p:nvSpPr>
          <p:cNvPr id="9" name="Text 7"/>
          <p:cNvSpPr/>
          <p:nvPr/>
        </p:nvSpPr>
        <p:spPr>
          <a:xfrm>
            <a:off x="793790" y="6398181"/>
            <a:ext cx="4926568"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This defensive programming is essential when working with API responses that may have varying structures.</a:t>
            </a:r>
            <a:endParaRPr lang="en-US" sz="1550" dirty="0"/>
          </a:p>
        </p:txBody>
      </p:sp>
      <p:sp>
        <p:nvSpPr>
          <p:cNvPr id="10" name="Text 8"/>
          <p:cNvSpPr/>
          <p:nvPr/>
        </p:nvSpPr>
        <p:spPr>
          <a:xfrm>
            <a:off x="6212086" y="4440912"/>
            <a:ext cx="2857857"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Grounding Chunk Types</a:t>
            </a:r>
            <a:endParaRPr lang="en-US" sz="1950" dirty="0"/>
          </a:p>
        </p:txBody>
      </p:sp>
      <p:sp>
        <p:nvSpPr>
          <p:cNvPr id="11" name="Text 9"/>
          <p:cNvSpPr/>
          <p:nvPr/>
        </p:nvSpPr>
        <p:spPr>
          <a:xfrm>
            <a:off x="6212086" y="4949428"/>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00000"/>
                </a:solidFill>
                <a:latin typeface="Readex Pro Light" pitchFamily="34" charset="0"/>
                <a:ea typeface="Readex Pro Light" pitchFamily="34" charset="-122"/>
                <a:cs typeface="Readex Pro Light" pitchFamily="34" charset="-120"/>
              </a:rPr>
              <a:t>Web chunks:</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Include URL, title, and snippet from searched web pages</a:t>
            </a:r>
            <a:endParaRPr lang="en-US" sz="1550" dirty="0"/>
          </a:p>
        </p:txBody>
      </p:sp>
      <p:sp>
        <p:nvSpPr>
          <p:cNvPr id="12" name="Text 10"/>
          <p:cNvSpPr/>
          <p:nvPr/>
        </p:nvSpPr>
        <p:spPr>
          <a:xfrm>
            <a:off x="6212086" y="5336381"/>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00000"/>
                </a:solidFill>
                <a:latin typeface="Readex Pro Light" pitchFamily="34" charset="0"/>
                <a:ea typeface="Readex Pro Light" pitchFamily="34" charset="-122"/>
                <a:cs typeface="Readex Pro Light" pitchFamily="34" charset="-120"/>
              </a:rPr>
              <a:t>Maps chunks:</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Contain place information, coordinates, and Google Maps URLs</a:t>
            </a:r>
            <a:endParaRPr lang="en-US" sz="1550" dirty="0"/>
          </a:p>
        </p:txBody>
      </p:sp>
      <p:sp>
        <p:nvSpPr>
          <p:cNvPr id="13" name="Text 11"/>
          <p:cNvSpPr/>
          <p:nvPr/>
        </p:nvSpPr>
        <p:spPr>
          <a:xfrm>
            <a:off x="6212086" y="5723334"/>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b="1" dirty="0">
                <a:solidFill>
                  <a:srgbClr val="000000"/>
                </a:solidFill>
                <a:latin typeface="Readex Pro Light" pitchFamily="34" charset="0"/>
                <a:ea typeface="Readex Pro Light" pitchFamily="34" charset="-122"/>
                <a:cs typeface="Readex Pro Light" pitchFamily="34" charset="-120"/>
              </a:rPr>
              <a:t>Retrieval chunks:</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References to specific documents or data sources</a:t>
            </a:r>
            <a:endParaRPr lang="en-US" sz="1550" dirty="0"/>
          </a:p>
        </p:txBody>
      </p:sp>
      <p:sp>
        <p:nvSpPr>
          <p:cNvPr id="14" name="Text 12"/>
          <p:cNvSpPr/>
          <p:nvPr/>
        </p:nvSpPr>
        <p:spPr>
          <a:xfrm>
            <a:off x="6212086" y="6219468"/>
            <a:ext cx="763202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These are rendered as clickable citations below the message, allowing users to verify sources and explore further.</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1391007"/>
            <a:ext cx="4304109"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Finalizing the Message</a:t>
            </a:r>
            <a:endParaRPr lang="en-US" sz="3100" dirty="0"/>
          </a:p>
        </p:txBody>
      </p:sp>
      <p:sp>
        <p:nvSpPr>
          <p:cNvPr id="3" name="Shape 1"/>
          <p:cNvSpPr/>
          <p:nvPr/>
        </p:nvSpPr>
        <p:spPr>
          <a:xfrm>
            <a:off x="793790" y="2283976"/>
            <a:ext cx="13042821" cy="2837974"/>
          </a:xfrm>
          <a:prstGeom prst="roundRect">
            <a:avLst>
              <a:gd name="adj" fmla="val 6294"/>
            </a:avLst>
          </a:prstGeom>
          <a:solidFill>
            <a:srgbClr val="F2F2F2"/>
          </a:solidFill>
          <a:ln/>
        </p:spPr>
      </p:sp>
      <p:sp>
        <p:nvSpPr>
          <p:cNvPr id="4" name="Shape 2"/>
          <p:cNvSpPr/>
          <p:nvPr/>
        </p:nvSpPr>
        <p:spPr>
          <a:xfrm>
            <a:off x="783908" y="2283976"/>
            <a:ext cx="13062585" cy="2837974"/>
          </a:xfrm>
          <a:prstGeom prst="roundRect">
            <a:avLst>
              <a:gd name="adj" fmla="val 1049"/>
            </a:avLst>
          </a:prstGeom>
          <a:solidFill>
            <a:srgbClr val="F2F2F2"/>
          </a:solidFill>
          <a:ln/>
        </p:spPr>
      </p:sp>
      <p:sp>
        <p:nvSpPr>
          <p:cNvPr id="5" name="Text 3"/>
          <p:cNvSpPr/>
          <p:nvPr/>
        </p:nvSpPr>
        <p:spPr>
          <a:xfrm>
            <a:off x="982266" y="2432804"/>
            <a:ext cx="12665869" cy="2540318"/>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setMessages(prev =&gt; prev.map(msg =&gt;  msg.id === modelMessageId ? {     ...msg,     content: modelResponse,     isFinal: true,     groundingChunks   } : msg));</a:t>
            </a:r>
            <a:endParaRPr lang="en-US" sz="1550" dirty="0"/>
          </a:p>
        </p:txBody>
      </p:sp>
      <p:sp>
        <p:nvSpPr>
          <p:cNvPr id="6" name="Text 4"/>
          <p:cNvSpPr/>
          <p:nvPr/>
        </p:nvSpPr>
        <p:spPr>
          <a:xfrm>
            <a:off x="793790" y="534519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After the stream completes, we make one final update to mark the message as complete. The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isFinal: true</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flag signals that no more updates will come, allowing the UI to render differently if needed (like stopping a typing indicator or enabling actions on complete messages).</a:t>
            </a:r>
            <a:endParaRPr lang="en-US" sz="1550" dirty="0"/>
          </a:p>
        </p:txBody>
      </p:sp>
      <p:sp>
        <p:nvSpPr>
          <p:cNvPr id="7" name="Text 5"/>
          <p:cNvSpPr/>
          <p:nvPr/>
        </p:nvSpPr>
        <p:spPr>
          <a:xfrm>
            <a:off x="793790" y="620351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Grounding chunks are added at this point because they typically arrive in the final chunk of the stream. By waiting until the end, we avoid multiple updates to the citations section and ensure all sources are available before rendering them.</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37830" y="507325"/>
            <a:ext cx="5445443" cy="461129"/>
          </a:xfrm>
          <a:prstGeom prst="rect">
            <a:avLst/>
          </a:prstGeom>
          <a:noFill/>
          <a:ln/>
        </p:spPr>
        <p:txBody>
          <a:bodyPr wrap="none" lIns="0" tIns="0" rIns="0" bIns="0" rtlCol="0" anchor="t"/>
          <a:lstStyle/>
          <a:p>
            <a:pPr algn="l" indent="0" marL="0">
              <a:lnSpc>
                <a:spcPts val="3600"/>
              </a:lnSpc>
              <a:buNone/>
            </a:pPr>
            <a:r>
              <a:rPr lang="en-US" sz="2900" dirty="0">
                <a:solidFill>
                  <a:srgbClr val="111111"/>
                </a:solidFill>
                <a:latin typeface="Readex Pro" pitchFamily="34" charset="0"/>
                <a:ea typeface="Readex Pro" pitchFamily="34" charset="-122"/>
                <a:cs typeface="Readex Pro" pitchFamily="34" charset="-120"/>
              </a:rPr>
              <a:t>Comprehensive Error Handling</a:t>
            </a:r>
            <a:endParaRPr lang="en-US" sz="2900" dirty="0"/>
          </a:p>
        </p:txBody>
      </p:sp>
      <p:sp>
        <p:nvSpPr>
          <p:cNvPr id="3" name="Shape 1"/>
          <p:cNvSpPr/>
          <p:nvPr/>
        </p:nvSpPr>
        <p:spPr>
          <a:xfrm>
            <a:off x="737830" y="1337310"/>
            <a:ext cx="13154739" cy="5587365"/>
          </a:xfrm>
          <a:prstGeom prst="roundRect">
            <a:avLst>
              <a:gd name="adj" fmla="val 2971"/>
            </a:avLst>
          </a:prstGeom>
          <a:solidFill>
            <a:srgbClr val="F2F2F2"/>
          </a:solidFill>
          <a:ln/>
        </p:spPr>
      </p:sp>
      <p:sp>
        <p:nvSpPr>
          <p:cNvPr id="4" name="Shape 2"/>
          <p:cNvSpPr/>
          <p:nvPr/>
        </p:nvSpPr>
        <p:spPr>
          <a:xfrm>
            <a:off x="728663" y="1337310"/>
            <a:ext cx="13173075" cy="5587365"/>
          </a:xfrm>
          <a:prstGeom prst="roundRect">
            <a:avLst>
              <a:gd name="adj" fmla="val 495"/>
            </a:avLst>
          </a:prstGeom>
          <a:solidFill>
            <a:srgbClr val="F2F2F2"/>
          </a:solidFill>
          <a:ln/>
        </p:spPr>
      </p:sp>
      <p:sp>
        <p:nvSpPr>
          <p:cNvPr id="5" name="Text 3"/>
          <p:cNvSpPr/>
          <p:nvPr/>
        </p:nvSpPr>
        <p:spPr>
          <a:xfrm>
            <a:off x="913090" y="1475661"/>
            <a:ext cx="12804219" cy="5310664"/>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highlight>
                  <a:srgbClr val="F2F2F2"/>
                </a:highlight>
                <a:latin typeface="Consolas Light" pitchFamily="34" charset="0"/>
                <a:ea typeface="Consolas Light" pitchFamily="34" charset="-122"/>
                <a:cs typeface="Consolas Light" pitchFamily="34" charset="-120"/>
              </a:rPr>
              <a:t>catch (err) {  console.error("Gemini API call failed:", err);  let userMessage = "An error occurred. Please try again.";  if (err instanceof Error) {    if(err.message.includes('API key not valid')) {      userMessage = "API key is not valid. Please check your configuration.";    } else if (err.message.includes('fetch failed')) {      userMessage = "Network error. Please check your connection.";    }  }  setError(userMessage);  setMessages(prev =&gt; [...prev, {     id: `error-${Date.now()}`,     role: 'model',     content: userMessage,     isFinal: true   }]);}</a:t>
            </a:r>
            <a:endParaRPr lang="en-US" sz="1450" dirty="0"/>
          </a:p>
        </p:txBody>
      </p:sp>
      <p:sp>
        <p:nvSpPr>
          <p:cNvPr id="6" name="Text 4"/>
          <p:cNvSpPr/>
          <p:nvPr/>
        </p:nvSpPr>
        <p:spPr>
          <a:xfrm>
            <a:off x="737830" y="7132201"/>
            <a:ext cx="13154739" cy="590074"/>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The error handling strategy provides specific, actionable feedback to users while logging technical details for developers. This dual-level approach helps users understand what went wrong while giving developers the information needed to debug issues.</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1173956"/>
            <a:ext cx="6885146"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Error Categories and User Feedback</a:t>
            </a:r>
            <a:endParaRPr lang="en-US" sz="3100" dirty="0"/>
          </a:p>
        </p:txBody>
      </p:sp>
      <p:sp>
        <p:nvSpPr>
          <p:cNvPr id="3" name="Shape 1"/>
          <p:cNvSpPr/>
          <p:nvPr/>
        </p:nvSpPr>
        <p:spPr>
          <a:xfrm>
            <a:off x="793790" y="2066925"/>
            <a:ext cx="4215289" cy="2428875"/>
          </a:xfrm>
          <a:prstGeom prst="roundRect">
            <a:avLst>
              <a:gd name="adj" fmla="val 7354"/>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4" name="Text 2"/>
          <p:cNvSpPr/>
          <p:nvPr/>
        </p:nvSpPr>
        <p:spPr>
          <a:xfrm>
            <a:off x="999768" y="2272903"/>
            <a:ext cx="2537936"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Authentication Errors</a:t>
            </a:r>
            <a:endParaRPr lang="en-US" sz="1950" dirty="0"/>
          </a:p>
        </p:txBody>
      </p:sp>
      <p:sp>
        <p:nvSpPr>
          <p:cNvPr id="5" name="Text 3"/>
          <p:cNvSpPr/>
          <p:nvPr/>
        </p:nvSpPr>
        <p:spPr>
          <a:xfrm>
            <a:off x="999768" y="2702123"/>
            <a:ext cx="3803333" cy="1587698"/>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Invalid API key errors receive specific messaging directing users to check configuration. These are typically developer errors caught during development.</a:t>
            </a:r>
            <a:endParaRPr lang="en-US" sz="1550" dirty="0"/>
          </a:p>
        </p:txBody>
      </p:sp>
      <p:sp>
        <p:nvSpPr>
          <p:cNvPr id="6" name="Shape 4"/>
          <p:cNvSpPr/>
          <p:nvPr/>
        </p:nvSpPr>
        <p:spPr>
          <a:xfrm>
            <a:off x="5207437" y="2066925"/>
            <a:ext cx="4215408" cy="2428875"/>
          </a:xfrm>
          <a:prstGeom prst="roundRect">
            <a:avLst>
              <a:gd name="adj" fmla="val 7354"/>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7" name="Text 5"/>
          <p:cNvSpPr/>
          <p:nvPr/>
        </p:nvSpPr>
        <p:spPr>
          <a:xfrm>
            <a:off x="5413415" y="227290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Network Errors</a:t>
            </a:r>
            <a:endParaRPr lang="en-US" sz="1950" dirty="0"/>
          </a:p>
        </p:txBody>
      </p:sp>
      <p:sp>
        <p:nvSpPr>
          <p:cNvPr id="8" name="Text 6"/>
          <p:cNvSpPr/>
          <p:nvPr/>
        </p:nvSpPr>
        <p:spPr>
          <a:xfrm>
            <a:off x="5413415" y="2702123"/>
            <a:ext cx="3803452"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Fetch failures get their own messaging about connectivity. This helps users distinguish between service issues and local network problems.</a:t>
            </a:r>
            <a:endParaRPr lang="en-US" sz="1550" dirty="0"/>
          </a:p>
        </p:txBody>
      </p:sp>
      <p:sp>
        <p:nvSpPr>
          <p:cNvPr id="9" name="Shape 7"/>
          <p:cNvSpPr/>
          <p:nvPr/>
        </p:nvSpPr>
        <p:spPr>
          <a:xfrm>
            <a:off x="9621203" y="2066925"/>
            <a:ext cx="4215289" cy="2428875"/>
          </a:xfrm>
          <a:prstGeom prst="roundRect">
            <a:avLst>
              <a:gd name="adj" fmla="val 7354"/>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0" name="Text 8"/>
          <p:cNvSpPr/>
          <p:nvPr/>
        </p:nvSpPr>
        <p:spPr>
          <a:xfrm>
            <a:off x="9827181" y="227290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Generic Fallback</a:t>
            </a:r>
            <a:endParaRPr lang="en-US" sz="1950" dirty="0"/>
          </a:p>
        </p:txBody>
      </p:sp>
      <p:sp>
        <p:nvSpPr>
          <p:cNvPr id="11" name="Text 9"/>
          <p:cNvSpPr/>
          <p:nvPr/>
        </p:nvSpPr>
        <p:spPr>
          <a:xfrm>
            <a:off x="9827181" y="2702123"/>
            <a:ext cx="3803333"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Unexpected errors receive a friendly generic message. This prevents exposing technical details while still acknowledging the failure.</a:t>
            </a:r>
            <a:endParaRPr lang="en-US" sz="1550" dirty="0"/>
          </a:p>
        </p:txBody>
      </p:sp>
      <p:sp>
        <p:nvSpPr>
          <p:cNvPr id="12" name="Text 10"/>
          <p:cNvSpPr/>
          <p:nvPr/>
        </p:nvSpPr>
        <p:spPr>
          <a:xfrm>
            <a:off x="793790" y="4719042"/>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Each error also updates the error state variable, which is rendered as a distinct error banner in the UI. This separation between error messages in the conversation and error state banners allows for different UI treatments and ensures errors don't get lost in conversation history.</a:t>
            </a:r>
            <a:endParaRPr lang="en-US" sz="1550" dirty="0"/>
          </a:p>
        </p:txBody>
      </p:sp>
      <p:sp>
        <p:nvSpPr>
          <p:cNvPr id="13" name="Shape 11"/>
          <p:cNvSpPr/>
          <p:nvPr/>
        </p:nvSpPr>
        <p:spPr>
          <a:xfrm>
            <a:off x="793790" y="5894903"/>
            <a:ext cx="13042821" cy="1160740"/>
          </a:xfrm>
          <a:prstGeom prst="roundRect">
            <a:avLst>
              <a:gd name="adj" fmla="val 15389"/>
            </a:avLst>
          </a:prstGeom>
          <a:solidFill>
            <a:srgbClr val="D9D9D9"/>
          </a:solidFill>
          <a:ln/>
        </p:spPr>
      </p:sp>
      <p:pic>
        <p:nvPicPr>
          <p:cNvPr id="14" name="Image 0" descr="preencoded.png">    </p:cNvPr>
          <p:cNvPicPr>
            <a:picLocks noChangeAspect="1"/>
          </p:cNvPicPr>
          <p:nvPr/>
        </p:nvPicPr>
        <p:blipFill>
          <a:blip r:embed="rId1"/>
          <a:stretch>
            <a:fillRect/>
          </a:stretch>
        </p:blipFill>
        <p:spPr>
          <a:xfrm>
            <a:off x="992148" y="6197798"/>
            <a:ext cx="248007" cy="198358"/>
          </a:xfrm>
          <a:prstGeom prst="rect">
            <a:avLst/>
          </a:prstGeom>
        </p:spPr>
      </p:pic>
      <p:sp>
        <p:nvSpPr>
          <p:cNvPr id="15" name="Text 12"/>
          <p:cNvSpPr/>
          <p:nvPr/>
        </p:nvSpPr>
        <p:spPr>
          <a:xfrm>
            <a:off x="1438513" y="6142792"/>
            <a:ext cx="12199739" cy="635079"/>
          </a:xfrm>
          <a:prstGeom prst="rect">
            <a:avLst/>
          </a:prstGeom>
          <a:noFill/>
          <a:ln/>
        </p:spPr>
        <p:txBody>
          <a:bodyPr wrap="square" lIns="0" tIns="0" rIns="0" bIns="0" rtlCol="0" anchor="t"/>
          <a:lstStyle/>
          <a:p>
            <a:pPr algn="l" indent="0" marL="0">
              <a:lnSpc>
                <a:spcPts val="2500"/>
              </a:lnSpc>
              <a:buNone/>
            </a:pPr>
            <a:r>
              <a:rPr lang="en-US" sz="1550" b="1" dirty="0">
                <a:solidFill>
                  <a:srgbClr val="000000"/>
                </a:solidFill>
                <a:latin typeface="Readex Pro Light" pitchFamily="34" charset="0"/>
                <a:ea typeface="Readex Pro Light" pitchFamily="34" charset="-122"/>
                <a:cs typeface="Readex Pro Light" pitchFamily="34" charset="-120"/>
              </a:rPr>
              <a:t>Production Tip:</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Consider implementing error telemetry here to track API failures. Tools like Sentry can automatically capture these errors with context, helping you identify patterns and prioritize fixes.</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2184797"/>
            <a:ext cx="7258169"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The Finally Block: Cleanup Guaranteed</a:t>
            </a:r>
            <a:endParaRPr lang="en-US" sz="3100" dirty="0"/>
          </a:p>
        </p:txBody>
      </p:sp>
      <p:sp>
        <p:nvSpPr>
          <p:cNvPr id="3" name="Shape 1"/>
          <p:cNvSpPr/>
          <p:nvPr/>
        </p:nvSpPr>
        <p:spPr>
          <a:xfrm>
            <a:off x="793790" y="3077766"/>
            <a:ext cx="13042821" cy="1250275"/>
          </a:xfrm>
          <a:prstGeom prst="roundRect">
            <a:avLst>
              <a:gd name="adj" fmla="val 14287"/>
            </a:avLst>
          </a:prstGeom>
          <a:solidFill>
            <a:srgbClr val="F2F2F2"/>
          </a:solidFill>
          <a:ln/>
        </p:spPr>
      </p:sp>
      <p:sp>
        <p:nvSpPr>
          <p:cNvPr id="4" name="Shape 2"/>
          <p:cNvSpPr/>
          <p:nvPr/>
        </p:nvSpPr>
        <p:spPr>
          <a:xfrm>
            <a:off x="783908" y="3077766"/>
            <a:ext cx="13062585" cy="1250275"/>
          </a:xfrm>
          <a:prstGeom prst="roundRect">
            <a:avLst>
              <a:gd name="adj" fmla="val 2381"/>
            </a:avLst>
          </a:prstGeom>
          <a:solidFill>
            <a:srgbClr val="F2F2F2"/>
          </a:solidFill>
          <a:ln/>
        </p:spPr>
      </p:sp>
      <p:sp>
        <p:nvSpPr>
          <p:cNvPr id="5" name="Text 3"/>
          <p:cNvSpPr/>
          <p:nvPr/>
        </p:nvSpPr>
        <p:spPr>
          <a:xfrm>
            <a:off x="982266" y="3226594"/>
            <a:ext cx="12665869"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finally {  setIsLoading(false);}</a:t>
            </a:r>
            <a:endParaRPr lang="en-US" sz="1550" dirty="0"/>
          </a:p>
        </p:txBody>
      </p:sp>
      <p:sp>
        <p:nvSpPr>
          <p:cNvPr id="6" name="Text 4"/>
          <p:cNvSpPr/>
          <p:nvPr/>
        </p:nvSpPr>
        <p:spPr>
          <a:xfrm>
            <a:off x="793790" y="455128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finally block ensures that the loading state is always cleared, regardless of whether the API call succeeded or failed. This is critical for maintaining a functional UI—without this, a failed request would leave the interface stuck in a loading state, preventing further interactions.</a:t>
            </a:r>
            <a:endParaRPr lang="en-US" sz="1550" dirty="0"/>
          </a:p>
        </p:txBody>
      </p:sp>
      <p:sp>
        <p:nvSpPr>
          <p:cNvPr id="7" name="Text 5"/>
          <p:cNvSpPr/>
          <p:nvPr/>
        </p:nvSpPr>
        <p:spPr>
          <a:xfrm>
            <a:off x="793790" y="540960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This single line represents a best practice in async error handling: critical cleanup operations should always be in a finally block to guarantee execution. It's a small detail that prevents major UX issues.</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93790" y="1257062"/>
            <a:ext cx="7487960"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Render Function: Component Structure</a:t>
            </a:r>
            <a:endParaRPr lang="en-US" sz="3100" dirty="0"/>
          </a:p>
        </p:txBody>
      </p:sp>
      <p:sp>
        <p:nvSpPr>
          <p:cNvPr id="3" name="Shape 1"/>
          <p:cNvSpPr/>
          <p:nvPr/>
        </p:nvSpPr>
        <p:spPr>
          <a:xfrm>
            <a:off x="793790" y="2150031"/>
            <a:ext cx="13042821" cy="932736"/>
          </a:xfrm>
          <a:prstGeom prst="roundRect">
            <a:avLst>
              <a:gd name="adj" fmla="val 19151"/>
            </a:avLst>
          </a:prstGeom>
          <a:solidFill>
            <a:srgbClr val="F2F2F2"/>
          </a:solidFill>
          <a:ln/>
        </p:spPr>
      </p:sp>
      <p:sp>
        <p:nvSpPr>
          <p:cNvPr id="4" name="Shape 2"/>
          <p:cNvSpPr/>
          <p:nvPr/>
        </p:nvSpPr>
        <p:spPr>
          <a:xfrm>
            <a:off x="783908" y="2150031"/>
            <a:ext cx="13062585" cy="932736"/>
          </a:xfrm>
          <a:prstGeom prst="roundRect">
            <a:avLst>
              <a:gd name="adj" fmla="val 3192"/>
            </a:avLst>
          </a:prstGeom>
          <a:solidFill>
            <a:srgbClr val="F2F2F2"/>
          </a:solidFill>
          <a:ln/>
        </p:spPr>
      </p:sp>
      <p:sp>
        <p:nvSpPr>
          <p:cNvPr id="5" name="Text 3"/>
          <p:cNvSpPr/>
          <p:nvPr/>
        </p:nvSpPr>
        <p:spPr>
          <a:xfrm>
            <a:off x="982266" y="2298859"/>
            <a:ext cx="12665869"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return (  </a:t>
            </a:r>
            <a:endParaRPr lang="en-US" sz="1550" dirty="0"/>
          </a:p>
        </p:txBody>
      </p:sp>
      <p:sp>
        <p:nvSpPr>
          <p:cNvPr id="6" name="Text 4"/>
          <p:cNvSpPr/>
          <p:nvPr/>
        </p:nvSpPr>
        <p:spPr>
          <a:xfrm>
            <a:off x="793790" y="3380423"/>
            <a:ext cx="6895505"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       CONVERSATIONAL INTERFACE</a:t>
            </a:r>
            <a:endParaRPr lang="en-US" sz="3100" dirty="0"/>
          </a:p>
        </p:txBody>
      </p:sp>
      <p:sp>
        <p:nvSpPr>
          <p:cNvPr id="7" name="Text 5"/>
          <p:cNvSpPr/>
          <p:nvPr/>
        </p:nvSpPr>
        <p:spPr>
          <a:xfrm>
            <a:off x="793790" y="4174212"/>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 Messages */}     </a:t>
            </a:r>
            <a:endParaRPr lang="en-US" sz="1550" dirty="0"/>
          </a:p>
        </p:txBody>
      </p:sp>
      <p:sp>
        <p:nvSpPr>
          <p:cNvPr id="8" name="Text 6"/>
          <p:cNvSpPr/>
          <p:nvPr/>
        </p:nvSpPr>
        <p:spPr>
          <a:xfrm>
            <a:off x="793790" y="4714994"/>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 Error display */}</a:t>
            </a:r>
            <a:endParaRPr lang="en-US" sz="1550" dirty="0"/>
          </a:p>
        </p:txBody>
      </p:sp>
      <p:sp>
        <p:nvSpPr>
          <p:cNvPr id="9" name="Text 7"/>
          <p:cNvSpPr/>
          <p:nvPr/>
        </p:nvSpPr>
        <p:spPr>
          <a:xfrm>
            <a:off x="793790" y="5255776"/>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 Input and button */}     </a:t>
            </a:r>
            <a:endParaRPr lang="en-US" sz="1550" dirty="0"/>
          </a:p>
        </p:txBody>
      </p:sp>
      <p:sp>
        <p:nvSpPr>
          <p:cNvPr id="10" name="Text 8"/>
          <p:cNvSpPr/>
          <p:nvPr/>
        </p:nvSpPr>
        <p:spPr>
          <a:xfrm>
            <a:off x="793790" y="5796558"/>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 </a:t>
            </a:r>
            <a:endParaRPr lang="en-US" sz="1550" dirty="0"/>
          </a:p>
        </p:txBody>
      </p:sp>
      <p:sp>
        <p:nvSpPr>
          <p:cNvPr id="11" name="Text 9"/>
          <p:cNvSpPr/>
          <p:nvPr/>
        </p:nvSpPr>
        <p:spPr>
          <a:xfrm>
            <a:off x="793790" y="6337340"/>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render structure uses a flex column layout with three main sections: header, scrollable message area, and fixed input area. This is a common pattern for chat interfaces that keeps input accessible while allowing conversation history to scroll.</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93790" y="1060609"/>
            <a:ext cx="5675233"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Styling Strategy: Tailwind CSS</a:t>
            </a:r>
            <a:endParaRPr lang="en-US" sz="3100" dirty="0"/>
          </a:p>
        </p:txBody>
      </p:sp>
      <p:sp>
        <p:nvSpPr>
          <p:cNvPr id="3" name="Text 1"/>
          <p:cNvSpPr/>
          <p:nvPr/>
        </p:nvSpPr>
        <p:spPr>
          <a:xfrm>
            <a:off x="793790" y="195357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component uses Tailwind CSS for styling, evident from utility class names like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w-full</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bg-black</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and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flex-col</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This approach provides several benefits for conversational UI development.</a:t>
            </a:r>
            <a:endParaRPr lang="en-US" sz="1550" dirty="0"/>
          </a:p>
        </p:txBody>
      </p:sp>
      <p:sp>
        <p:nvSpPr>
          <p:cNvPr id="4" name="Shape 2"/>
          <p:cNvSpPr/>
          <p:nvPr/>
        </p:nvSpPr>
        <p:spPr>
          <a:xfrm>
            <a:off x="793790" y="3109555"/>
            <a:ext cx="6422231" cy="1781651"/>
          </a:xfrm>
          <a:prstGeom prst="roundRect">
            <a:avLst>
              <a:gd name="adj" fmla="val 6159"/>
            </a:avLst>
          </a:prstGeom>
          <a:solidFill>
            <a:srgbClr val="FFFFFF">
              <a:alpha val="95000"/>
            </a:srgbClr>
          </a:solidFill>
          <a:ln/>
          <a:effectLst>
            <a:outerShdw sx="100000" sy="100000" kx="0" ky="0" algn="bl" rotWithShape="0" blurRad="297180" dist="0" dir="0">
              <a:srgbClr val="333333">
                <a:alpha val="10000"/>
              </a:srgbClr>
            </a:outerShdw>
          </a:effectLst>
        </p:spPr>
      </p:sp>
      <p:pic>
        <p:nvPicPr>
          <p:cNvPr id="5" name="Image 0" descr="preencoded.png">    </p:cNvPr>
          <p:cNvPicPr>
            <a:picLocks noChangeAspect="1"/>
          </p:cNvPicPr>
          <p:nvPr/>
        </p:nvPicPr>
        <p:blipFill>
          <a:blip r:embed="rId1"/>
          <a:stretch>
            <a:fillRect/>
          </a:stretch>
        </p:blipFill>
        <p:spPr>
          <a:xfrm>
            <a:off x="793790" y="3086695"/>
            <a:ext cx="6422231" cy="91440"/>
          </a:xfrm>
          <a:prstGeom prst="rect">
            <a:avLst/>
          </a:prstGeom>
        </p:spPr>
      </p:pic>
      <p:pic>
        <p:nvPicPr>
          <p:cNvPr id="6" name="Image 1" descr="preencoded.png">    </p:cNvPr>
          <p:cNvPicPr>
            <a:picLocks noChangeAspect="1"/>
          </p:cNvPicPr>
          <p:nvPr/>
        </p:nvPicPr>
        <p:blipFill>
          <a:blip r:embed="rId2"/>
          <a:stretch>
            <a:fillRect/>
          </a:stretch>
        </p:blipFill>
        <p:spPr>
          <a:xfrm>
            <a:off x="3707249" y="2811899"/>
            <a:ext cx="595313" cy="595313"/>
          </a:xfrm>
          <a:prstGeom prst="rect">
            <a:avLst/>
          </a:prstGeom>
        </p:spPr>
      </p:pic>
      <p:sp>
        <p:nvSpPr>
          <p:cNvPr id="7" name="Text 3"/>
          <p:cNvSpPr/>
          <p:nvPr/>
        </p:nvSpPr>
        <p:spPr>
          <a:xfrm>
            <a:off x="3885843" y="2960727"/>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Readex Pro" pitchFamily="34" charset="0"/>
                <a:ea typeface="Readex Pro" pitchFamily="34" charset="-122"/>
                <a:cs typeface="Readex Pro" pitchFamily="34" charset="-120"/>
              </a:rPr>
              <a:t>1</a:t>
            </a:r>
            <a:endParaRPr lang="en-US" sz="1850" dirty="0"/>
          </a:p>
        </p:txBody>
      </p:sp>
      <p:sp>
        <p:nvSpPr>
          <p:cNvPr id="8" name="Text 4"/>
          <p:cNvSpPr/>
          <p:nvPr/>
        </p:nvSpPr>
        <p:spPr>
          <a:xfrm>
            <a:off x="1015008" y="360568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Rapid Development</a:t>
            </a:r>
            <a:endParaRPr lang="en-US" sz="1950" dirty="0"/>
          </a:p>
        </p:txBody>
      </p:sp>
      <p:sp>
        <p:nvSpPr>
          <p:cNvPr id="9" name="Text 5"/>
          <p:cNvSpPr/>
          <p:nvPr/>
        </p:nvSpPr>
        <p:spPr>
          <a:xfrm>
            <a:off x="1015008" y="4034909"/>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Utility classes enable fast iteration without switching between files. You can adjust layout, colors, and spacing directly in JSX.</a:t>
            </a:r>
            <a:endParaRPr lang="en-US" sz="1550" dirty="0"/>
          </a:p>
        </p:txBody>
      </p:sp>
      <p:sp>
        <p:nvSpPr>
          <p:cNvPr id="10" name="Shape 6"/>
          <p:cNvSpPr/>
          <p:nvPr/>
        </p:nvSpPr>
        <p:spPr>
          <a:xfrm>
            <a:off x="7414379" y="3109555"/>
            <a:ext cx="6422231" cy="1781651"/>
          </a:xfrm>
          <a:prstGeom prst="roundRect">
            <a:avLst>
              <a:gd name="adj" fmla="val 6159"/>
            </a:avLst>
          </a:prstGeom>
          <a:solidFill>
            <a:srgbClr val="FFFFFF">
              <a:alpha val="95000"/>
            </a:srgbClr>
          </a:solidFill>
          <a:ln/>
          <a:effectLst>
            <a:outerShdw sx="100000" sy="100000" kx="0" ky="0" algn="bl" rotWithShape="0" blurRad="297180" dist="0" dir="0">
              <a:srgbClr val="333333">
                <a:alpha val="10000"/>
              </a:srgbClr>
            </a:outerShdw>
          </a:effectLst>
        </p:spPr>
      </p:sp>
      <p:pic>
        <p:nvPicPr>
          <p:cNvPr id="11" name="Image 2" descr="preencoded.png">    </p:cNvPr>
          <p:cNvPicPr>
            <a:picLocks noChangeAspect="1"/>
          </p:cNvPicPr>
          <p:nvPr/>
        </p:nvPicPr>
        <p:blipFill>
          <a:blip r:embed="rId3"/>
          <a:stretch>
            <a:fillRect/>
          </a:stretch>
        </p:blipFill>
        <p:spPr>
          <a:xfrm>
            <a:off x="7414379" y="3086695"/>
            <a:ext cx="6422231" cy="91440"/>
          </a:xfrm>
          <a:prstGeom prst="rect">
            <a:avLst/>
          </a:prstGeom>
        </p:spPr>
      </p:pic>
      <p:pic>
        <p:nvPicPr>
          <p:cNvPr id="12" name="Image 3" descr="preencoded.png">    </p:cNvPr>
          <p:cNvPicPr>
            <a:picLocks noChangeAspect="1"/>
          </p:cNvPicPr>
          <p:nvPr/>
        </p:nvPicPr>
        <p:blipFill>
          <a:blip r:embed="rId4"/>
          <a:stretch>
            <a:fillRect/>
          </a:stretch>
        </p:blipFill>
        <p:spPr>
          <a:xfrm>
            <a:off x="10327838" y="2811899"/>
            <a:ext cx="595313" cy="595313"/>
          </a:xfrm>
          <a:prstGeom prst="rect">
            <a:avLst/>
          </a:prstGeom>
        </p:spPr>
      </p:pic>
      <p:sp>
        <p:nvSpPr>
          <p:cNvPr id="13" name="Text 7"/>
          <p:cNvSpPr/>
          <p:nvPr/>
        </p:nvSpPr>
        <p:spPr>
          <a:xfrm>
            <a:off x="10506432" y="2960727"/>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Readex Pro" pitchFamily="34" charset="0"/>
                <a:ea typeface="Readex Pro" pitchFamily="34" charset="-122"/>
                <a:cs typeface="Readex Pro" pitchFamily="34" charset="-120"/>
              </a:rPr>
              <a:t>2</a:t>
            </a:r>
            <a:endParaRPr lang="en-US" sz="1850" dirty="0"/>
          </a:p>
        </p:txBody>
      </p:sp>
      <p:sp>
        <p:nvSpPr>
          <p:cNvPr id="14" name="Text 8"/>
          <p:cNvSpPr/>
          <p:nvPr/>
        </p:nvSpPr>
        <p:spPr>
          <a:xfrm>
            <a:off x="7635597" y="360568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Consistency</a:t>
            </a:r>
            <a:endParaRPr lang="en-US" sz="1950" dirty="0"/>
          </a:p>
        </p:txBody>
      </p:sp>
      <p:sp>
        <p:nvSpPr>
          <p:cNvPr id="15" name="Text 9"/>
          <p:cNvSpPr/>
          <p:nvPr/>
        </p:nvSpPr>
        <p:spPr>
          <a:xfrm>
            <a:off x="7635597" y="4034909"/>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Tailwind's design system ensures consistent spacing, colors, and sizing across the application without manual coordination.</a:t>
            </a:r>
            <a:endParaRPr lang="en-US" sz="1550" dirty="0"/>
          </a:p>
        </p:txBody>
      </p:sp>
      <p:sp>
        <p:nvSpPr>
          <p:cNvPr id="16" name="Shape 10"/>
          <p:cNvSpPr/>
          <p:nvPr/>
        </p:nvSpPr>
        <p:spPr>
          <a:xfrm>
            <a:off x="793790" y="5387221"/>
            <a:ext cx="6422231" cy="1781651"/>
          </a:xfrm>
          <a:prstGeom prst="roundRect">
            <a:avLst>
              <a:gd name="adj" fmla="val 6159"/>
            </a:avLst>
          </a:prstGeom>
          <a:solidFill>
            <a:srgbClr val="FFFFFF">
              <a:alpha val="95000"/>
            </a:srgbClr>
          </a:solidFill>
          <a:ln/>
          <a:effectLst>
            <a:outerShdw sx="100000" sy="100000" kx="0" ky="0" algn="bl" rotWithShape="0" blurRad="297180" dist="0" dir="0">
              <a:srgbClr val="333333">
                <a:alpha val="10000"/>
              </a:srgbClr>
            </a:outerShdw>
          </a:effectLst>
        </p:spPr>
      </p:sp>
      <p:pic>
        <p:nvPicPr>
          <p:cNvPr id="17" name="Image 4" descr="preencoded.png">    </p:cNvPr>
          <p:cNvPicPr>
            <a:picLocks noChangeAspect="1"/>
          </p:cNvPicPr>
          <p:nvPr/>
        </p:nvPicPr>
        <p:blipFill>
          <a:blip r:embed="rId5"/>
          <a:stretch>
            <a:fillRect/>
          </a:stretch>
        </p:blipFill>
        <p:spPr>
          <a:xfrm>
            <a:off x="793790" y="5364361"/>
            <a:ext cx="6422231" cy="91440"/>
          </a:xfrm>
          <a:prstGeom prst="rect">
            <a:avLst/>
          </a:prstGeom>
        </p:spPr>
      </p:pic>
      <p:pic>
        <p:nvPicPr>
          <p:cNvPr id="18" name="Image 5" descr="preencoded.png">    </p:cNvPr>
          <p:cNvPicPr>
            <a:picLocks noChangeAspect="1"/>
          </p:cNvPicPr>
          <p:nvPr/>
        </p:nvPicPr>
        <p:blipFill>
          <a:blip r:embed="rId6"/>
          <a:stretch>
            <a:fillRect/>
          </a:stretch>
        </p:blipFill>
        <p:spPr>
          <a:xfrm>
            <a:off x="3707249" y="5089565"/>
            <a:ext cx="595313" cy="595313"/>
          </a:xfrm>
          <a:prstGeom prst="rect">
            <a:avLst/>
          </a:prstGeom>
        </p:spPr>
      </p:pic>
      <p:sp>
        <p:nvSpPr>
          <p:cNvPr id="19" name="Text 11"/>
          <p:cNvSpPr/>
          <p:nvPr/>
        </p:nvSpPr>
        <p:spPr>
          <a:xfrm>
            <a:off x="3885843" y="5238393"/>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Readex Pro" pitchFamily="34" charset="0"/>
                <a:ea typeface="Readex Pro" pitchFamily="34" charset="-122"/>
                <a:cs typeface="Readex Pro" pitchFamily="34" charset="-120"/>
              </a:rPr>
              <a:t>3</a:t>
            </a:r>
            <a:endParaRPr lang="en-US" sz="1850" dirty="0"/>
          </a:p>
        </p:txBody>
      </p:sp>
      <p:sp>
        <p:nvSpPr>
          <p:cNvPr id="20" name="Text 12"/>
          <p:cNvSpPr/>
          <p:nvPr/>
        </p:nvSpPr>
        <p:spPr>
          <a:xfrm>
            <a:off x="1015008" y="588335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Responsive Design</a:t>
            </a:r>
            <a:endParaRPr lang="en-US" sz="1950" dirty="0"/>
          </a:p>
        </p:txBody>
      </p:sp>
      <p:sp>
        <p:nvSpPr>
          <p:cNvPr id="21" name="Text 13"/>
          <p:cNvSpPr/>
          <p:nvPr/>
        </p:nvSpPr>
        <p:spPr>
          <a:xfrm>
            <a:off x="1015008" y="6312575"/>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Built-in responsive modifiers make it easy to adapt the interface for different screen sizes without media queries.</a:t>
            </a:r>
            <a:endParaRPr lang="en-US" sz="1550" dirty="0"/>
          </a:p>
        </p:txBody>
      </p:sp>
      <p:sp>
        <p:nvSpPr>
          <p:cNvPr id="22" name="Shape 14"/>
          <p:cNvSpPr/>
          <p:nvPr/>
        </p:nvSpPr>
        <p:spPr>
          <a:xfrm>
            <a:off x="7414379" y="5387221"/>
            <a:ext cx="6422231" cy="1781651"/>
          </a:xfrm>
          <a:prstGeom prst="roundRect">
            <a:avLst>
              <a:gd name="adj" fmla="val 6159"/>
            </a:avLst>
          </a:prstGeom>
          <a:solidFill>
            <a:srgbClr val="FFFFFF">
              <a:alpha val="95000"/>
            </a:srgbClr>
          </a:solidFill>
          <a:ln/>
          <a:effectLst>
            <a:outerShdw sx="100000" sy="100000" kx="0" ky="0" algn="bl" rotWithShape="0" blurRad="297180" dist="0" dir="0">
              <a:srgbClr val="333333">
                <a:alpha val="10000"/>
              </a:srgbClr>
            </a:outerShdw>
          </a:effectLst>
        </p:spPr>
      </p:sp>
      <p:pic>
        <p:nvPicPr>
          <p:cNvPr id="23" name="Image 6" descr="preencoded.png">    </p:cNvPr>
          <p:cNvPicPr>
            <a:picLocks noChangeAspect="1"/>
          </p:cNvPicPr>
          <p:nvPr/>
        </p:nvPicPr>
        <p:blipFill>
          <a:blip r:embed="rId7"/>
          <a:stretch>
            <a:fillRect/>
          </a:stretch>
        </p:blipFill>
        <p:spPr>
          <a:xfrm>
            <a:off x="7414379" y="5364361"/>
            <a:ext cx="6422231" cy="91440"/>
          </a:xfrm>
          <a:prstGeom prst="rect">
            <a:avLst/>
          </a:prstGeom>
        </p:spPr>
      </p:pic>
      <p:pic>
        <p:nvPicPr>
          <p:cNvPr id="24" name="Image 7" descr="preencoded.png">    </p:cNvPr>
          <p:cNvPicPr>
            <a:picLocks noChangeAspect="1"/>
          </p:cNvPicPr>
          <p:nvPr/>
        </p:nvPicPr>
        <p:blipFill>
          <a:blip r:embed="rId8"/>
          <a:stretch>
            <a:fillRect/>
          </a:stretch>
        </p:blipFill>
        <p:spPr>
          <a:xfrm>
            <a:off x="10327838" y="5089565"/>
            <a:ext cx="595313" cy="595313"/>
          </a:xfrm>
          <a:prstGeom prst="rect">
            <a:avLst/>
          </a:prstGeom>
        </p:spPr>
      </p:pic>
      <p:sp>
        <p:nvSpPr>
          <p:cNvPr id="25" name="Text 15"/>
          <p:cNvSpPr/>
          <p:nvPr/>
        </p:nvSpPr>
        <p:spPr>
          <a:xfrm>
            <a:off x="10506432" y="5238393"/>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FFFFFF"/>
                </a:solidFill>
                <a:latin typeface="Readex Pro" pitchFamily="34" charset="0"/>
                <a:ea typeface="Readex Pro" pitchFamily="34" charset="-122"/>
                <a:cs typeface="Readex Pro" pitchFamily="34" charset="-120"/>
              </a:rPr>
              <a:t>4</a:t>
            </a:r>
            <a:endParaRPr lang="en-US" sz="1850" dirty="0"/>
          </a:p>
        </p:txBody>
      </p:sp>
      <p:sp>
        <p:nvSpPr>
          <p:cNvPr id="26" name="Text 16"/>
          <p:cNvSpPr/>
          <p:nvPr/>
        </p:nvSpPr>
        <p:spPr>
          <a:xfrm>
            <a:off x="7635597" y="588335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Performance</a:t>
            </a:r>
            <a:endParaRPr lang="en-US" sz="1950" dirty="0"/>
          </a:p>
        </p:txBody>
      </p:sp>
      <p:sp>
        <p:nvSpPr>
          <p:cNvPr id="27" name="Text 17"/>
          <p:cNvSpPr/>
          <p:nvPr/>
        </p:nvSpPr>
        <p:spPr>
          <a:xfrm>
            <a:off x="7635597" y="6312575"/>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Purging unused styles in production results in tiny CSS bundles despite Tailwind's comprehensive utility set.</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93790" y="1754505"/>
            <a:ext cx="4176355"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Visual Design Choices</a:t>
            </a:r>
            <a:endParaRPr lang="en-US" sz="3100" dirty="0"/>
          </a:p>
        </p:txBody>
      </p:sp>
      <p:sp>
        <p:nvSpPr>
          <p:cNvPr id="3" name="Text 1"/>
          <p:cNvSpPr/>
          <p:nvPr/>
        </p:nvSpPr>
        <p:spPr>
          <a:xfrm>
            <a:off x="793790" y="2647474"/>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styling creates a futuristic, semi-transparent interface that feels modern and professional. Let's break down some key visual decisions:</a:t>
            </a:r>
            <a:endParaRPr lang="en-US" sz="1550" dirty="0"/>
          </a:p>
        </p:txBody>
      </p:sp>
      <p:sp>
        <p:nvSpPr>
          <p:cNvPr id="4" name="Text 2"/>
          <p:cNvSpPr/>
          <p:nvPr/>
        </p:nvSpPr>
        <p:spPr>
          <a:xfrm>
            <a:off x="793790" y="3386614"/>
            <a:ext cx="2605802"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Glassmorphism Effect</a:t>
            </a:r>
            <a:endParaRPr lang="en-US" sz="1950" dirty="0"/>
          </a:p>
        </p:txBody>
      </p:sp>
      <p:sp>
        <p:nvSpPr>
          <p:cNvPr id="5" name="Text 3"/>
          <p:cNvSpPr/>
          <p:nvPr/>
        </p:nvSpPr>
        <p:spPr>
          <a:xfrm>
            <a:off x="793790" y="3895130"/>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bg-black bg-opacity-30 backdrop-blur-sm</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creates a frosted glass appearance. This design trend, called glassmorphism, provides visual interest while maintaining readability by blurring content behind the interface.</a:t>
            </a:r>
            <a:endParaRPr lang="en-US" sz="1550" dirty="0"/>
          </a:p>
        </p:txBody>
      </p:sp>
      <p:sp>
        <p:nvSpPr>
          <p:cNvPr id="6" name="Text 4"/>
          <p:cNvSpPr/>
          <p:nvPr/>
        </p:nvSpPr>
        <p:spPr>
          <a:xfrm>
            <a:off x="793790" y="5343882"/>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semi-transparent background allows the interface to integrate elegantly with various page backgrounds without appearing as a solid, disconnected block.</a:t>
            </a:r>
            <a:endParaRPr lang="en-US" sz="1550" dirty="0"/>
          </a:p>
        </p:txBody>
      </p:sp>
      <p:sp>
        <p:nvSpPr>
          <p:cNvPr id="7" name="Text 5"/>
          <p:cNvSpPr/>
          <p:nvPr/>
        </p:nvSpPr>
        <p:spPr>
          <a:xfrm>
            <a:off x="7564874" y="3386614"/>
            <a:ext cx="2635329"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Typography Hierarchy</a:t>
            </a:r>
            <a:endParaRPr lang="en-US" sz="1950" dirty="0"/>
          </a:p>
        </p:txBody>
      </p:sp>
      <p:sp>
        <p:nvSpPr>
          <p:cNvPr id="8" name="Text 6"/>
          <p:cNvSpPr/>
          <p:nvPr/>
        </p:nvSpPr>
        <p:spPr>
          <a:xfrm>
            <a:off x="7564874" y="3895130"/>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custom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font-orbitron</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font for the header creates a distinctive, technical aesthetic. Orbitron is a geometric sans-serif that conveys modernity and technology.</a:t>
            </a:r>
            <a:endParaRPr lang="en-US" sz="1550" dirty="0"/>
          </a:p>
        </p:txBody>
      </p:sp>
      <p:sp>
        <p:nvSpPr>
          <p:cNvPr id="9" name="Text 7"/>
          <p:cNvSpPr/>
          <p:nvPr/>
        </p:nvSpPr>
        <p:spPr>
          <a:xfrm>
            <a:off x="7564874" y="5026343"/>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Color choices (blue-300 for headers, gray-200 for messages) provide sufficient contrast against the dark background while maintaining the futuristic theme.</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93790" y="2073235"/>
            <a:ext cx="4832747"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Message Rendering Loop</a:t>
            </a:r>
            <a:endParaRPr lang="en-US" sz="3100" dirty="0"/>
          </a:p>
        </p:txBody>
      </p:sp>
      <p:sp>
        <p:nvSpPr>
          <p:cNvPr id="3" name="Shape 1"/>
          <p:cNvSpPr/>
          <p:nvPr/>
        </p:nvSpPr>
        <p:spPr>
          <a:xfrm>
            <a:off x="793790" y="2966204"/>
            <a:ext cx="13042821" cy="932736"/>
          </a:xfrm>
          <a:prstGeom prst="roundRect">
            <a:avLst>
              <a:gd name="adj" fmla="val 19151"/>
            </a:avLst>
          </a:prstGeom>
          <a:solidFill>
            <a:srgbClr val="F2F2F2"/>
          </a:solidFill>
          <a:ln/>
        </p:spPr>
      </p:sp>
      <p:sp>
        <p:nvSpPr>
          <p:cNvPr id="4" name="Shape 2"/>
          <p:cNvSpPr/>
          <p:nvPr/>
        </p:nvSpPr>
        <p:spPr>
          <a:xfrm>
            <a:off x="783908" y="2966204"/>
            <a:ext cx="13062585" cy="932736"/>
          </a:xfrm>
          <a:prstGeom prst="roundRect">
            <a:avLst>
              <a:gd name="adj" fmla="val 3192"/>
            </a:avLst>
          </a:prstGeom>
          <a:solidFill>
            <a:srgbClr val="F2F2F2"/>
          </a:solidFill>
          <a:ln/>
        </p:spPr>
      </p:sp>
      <p:sp>
        <p:nvSpPr>
          <p:cNvPr id="5" name="Text 3"/>
          <p:cNvSpPr/>
          <p:nvPr/>
        </p:nvSpPr>
        <p:spPr>
          <a:xfrm>
            <a:off x="982266" y="3115032"/>
            <a:ext cx="12665869"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{messages.map((msg) =&gt; (  </a:t>
            </a:r>
            <a:endParaRPr lang="en-US" sz="1550" dirty="0"/>
          </a:p>
        </p:txBody>
      </p:sp>
      <p:sp>
        <p:nvSpPr>
          <p:cNvPr id="6" name="Text 4"/>
          <p:cNvSpPr/>
          <p:nvPr/>
        </p:nvSpPr>
        <p:spPr>
          <a:xfrm>
            <a:off x="793790" y="4122182"/>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 Grounding chunks */}   </a:t>
            </a:r>
            <a:endParaRPr lang="en-US" sz="1550" dirty="0"/>
          </a:p>
        </p:txBody>
      </p:sp>
      <p:sp>
        <p:nvSpPr>
          <p:cNvPr id="7" name="Text 5"/>
          <p:cNvSpPr/>
          <p:nvPr/>
        </p:nvSpPr>
        <p:spPr>
          <a:xfrm>
            <a:off x="793790" y="4662964"/>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 </a:t>
            </a:r>
            <a:endParaRPr lang="en-US" sz="1550" dirty="0"/>
          </a:p>
        </p:txBody>
      </p:sp>
      <p:sp>
        <p:nvSpPr>
          <p:cNvPr id="8" name="Text 6"/>
          <p:cNvSpPr/>
          <p:nvPr/>
        </p:nvSpPr>
        <p:spPr>
          <a:xfrm>
            <a:off x="793790" y="5203746"/>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message rendering uses conditional styling to visually distinguish user and model messages. User messages align right with blue backgrounds, while model messages align left with gray backgrounds. This creates the familiar chat interface pattern used by messaging apps.</a:t>
            </a:r>
            <a:endParaRPr lang="en-US" sz="15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93790" y="1634966"/>
            <a:ext cx="7442240"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Message Alignment and Bubble Styling</a:t>
            </a:r>
            <a:endParaRPr lang="en-US" sz="3100" dirty="0"/>
          </a:p>
        </p:txBody>
      </p:sp>
      <p:sp>
        <p:nvSpPr>
          <p:cNvPr id="3" name="Text 1"/>
          <p:cNvSpPr/>
          <p:nvPr/>
        </p:nvSpPr>
        <p:spPr>
          <a:xfrm>
            <a:off x="793790" y="252793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asymmetric rounded corners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rounded-br-none</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for user,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rounded-bl-none</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for model) create message bubble tails pointing toward the sender. This subtle detail reinforces the conversational metaphor and improves readability by making it obvious who sent each message.</a:t>
            </a:r>
            <a:endParaRPr lang="en-US" sz="1550" dirty="0"/>
          </a:p>
        </p:txBody>
      </p:sp>
      <p:sp>
        <p:nvSpPr>
          <p:cNvPr id="4" name="Shape 2"/>
          <p:cNvSpPr/>
          <p:nvPr/>
        </p:nvSpPr>
        <p:spPr>
          <a:xfrm>
            <a:off x="793790" y="3386257"/>
            <a:ext cx="6422231" cy="2350056"/>
          </a:xfrm>
          <a:prstGeom prst="roundRect">
            <a:avLst>
              <a:gd name="adj" fmla="val 7601"/>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sp>
        <p:nvSpPr>
          <p:cNvPr id="5" name="Text 3"/>
          <p:cNvSpPr/>
          <p:nvPr/>
        </p:nvSpPr>
        <p:spPr>
          <a:xfrm>
            <a:off x="1015008" y="360747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User Messages</a:t>
            </a:r>
            <a:endParaRPr lang="en-US" sz="1950" dirty="0"/>
          </a:p>
        </p:txBody>
      </p:sp>
      <p:sp>
        <p:nvSpPr>
          <p:cNvPr id="6" name="Text 4"/>
          <p:cNvSpPr/>
          <p:nvPr/>
        </p:nvSpPr>
        <p:spPr>
          <a:xfrm>
            <a:off x="1015008" y="4036695"/>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Right-aligned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items-end</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t>
            </a:r>
            <a:endParaRPr lang="en-US" sz="1550" dirty="0"/>
          </a:p>
        </p:txBody>
      </p:sp>
      <p:sp>
        <p:nvSpPr>
          <p:cNvPr id="7" name="Text 5"/>
          <p:cNvSpPr/>
          <p:nvPr/>
        </p:nvSpPr>
        <p:spPr>
          <a:xfrm>
            <a:off x="1015008" y="4423648"/>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Blue background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bg-blue-800/40</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t>
            </a:r>
            <a:endParaRPr lang="en-US" sz="1550" dirty="0"/>
          </a:p>
        </p:txBody>
      </p:sp>
      <p:sp>
        <p:nvSpPr>
          <p:cNvPr id="8" name="Text 6"/>
          <p:cNvSpPr/>
          <p:nvPr/>
        </p:nvSpPr>
        <p:spPr>
          <a:xfrm>
            <a:off x="1015008" y="4810601"/>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Tail on bottom-right corner</a:t>
            </a:r>
            <a:endParaRPr lang="en-US" sz="1550" dirty="0"/>
          </a:p>
        </p:txBody>
      </p:sp>
      <p:sp>
        <p:nvSpPr>
          <p:cNvPr id="9" name="Text 7"/>
          <p:cNvSpPr/>
          <p:nvPr/>
        </p:nvSpPr>
        <p:spPr>
          <a:xfrm>
            <a:off x="1015008" y="5197554"/>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Lighter blue text for contrast</a:t>
            </a:r>
            <a:endParaRPr lang="en-US" sz="1550" dirty="0"/>
          </a:p>
        </p:txBody>
      </p:sp>
      <p:sp>
        <p:nvSpPr>
          <p:cNvPr id="10" name="Shape 8"/>
          <p:cNvSpPr/>
          <p:nvPr/>
        </p:nvSpPr>
        <p:spPr>
          <a:xfrm>
            <a:off x="7414379" y="3386257"/>
            <a:ext cx="6422231" cy="2350056"/>
          </a:xfrm>
          <a:prstGeom prst="roundRect">
            <a:avLst>
              <a:gd name="adj" fmla="val 7601"/>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sp>
        <p:nvSpPr>
          <p:cNvPr id="11" name="Text 9"/>
          <p:cNvSpPr/>
          <p:nvPr/>
        </p:nvSpPr>
        <p:spPr>
          <a:xfrm>
            <a:off x="7635597" y="360747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Model Messages</a:t>
            </a:r>
            <a:endParaRPr lang="en-US" sz="1950" dirty="0"/>
          </a:p>
        </p:txBody>
      </p:sp>
      <p:sp>
        <p:nvSpPr>
          <p:cNvPr id="12" name="Text 10"/>
          <p:cNvSpPr/>
          <p:nvPr/>
        </p:nvSpPr>
        <p:spPr>
          <a:xfrm>
            <a:off x="7635597" y="4036695"/>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Left-aligned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items-start</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t>
            </a:r>
            <a:endParaRPr lang="en-US" sz="1550" dirty="0"/>
          </a:p>
        </p:txBody>
      </p:sp>
      <p:sp>
        <p:nvSpPr>
          <p:cNvPr id="13" name="Text 11"/>
          <p:cNvSpPr/>
          <p:nvPr/>
        </p:nvSpPr>
        <p:spPr>
          <a:xfrm>
            <a:off x="7635597" y="4423648"/>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Gray background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bg-gray-800/40</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t>
            </a:r>
            <a:endParaRPr lang="en-US" sz="1550" dirty="0"/>
          </a:p>
        </p:txBody>
      </p:sp>
      <p:sp>
        <p:nvSpPr>
          <p:cNvPr id="14" name="Text 12"/>
          <p:cNvSpPr/>
          <p:nvPr/>
        </p:nvSpPr>
        <p:spPr>
          <a:xfrm>
            <a:off x="7635597" y="4810601"/>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Tail on bottom-left corner</a:t>
            </a:r>
            <a:endParaRPr lang="en-US" sz="1550" dirty="0"/>
          </a:p>
        </p:txBody>
      </p:sp>
      <p:sp>
        <p:nvSpPr>
          <p:cNvPr id="15" name="Text 13"/>
          <p:cNvSpPr/>
          <p:nvPr/>
        </p:nvSpPr>
        <p:spPr>
          <a:xfrm>
            <a:off x="7635597" y="5197554"/>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Light gray text for readability</a:t>
            </a:r>
            <a:endParaRPr lang="en-US" sz="1550" dirty="0"/>
          </a:p>
        </p:txBody>
      </p:sp>
      <p:sp>
        <p:nvSpPr>
          <p:cNvPr id="16" name="Text 14"/>
          <p:cNvSpPr/>
          <p:nvPr/>
        </p:nvSpPr>
        <p:spPr>
          <a:xfrm>
            <a:off x="793790" y="595955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max-w-[85%]</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constraint prevents messages from spanning the full width, which would be hard to read. This 85% limit ensures comfortable line lengths while allowing enough space for longer messages.</a:t>
            </a:r>
            <a:endParaRPr lang="en-US" sz="15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93790" y="1532453"/>
            <a:ext cx="5633085"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Grounding Chunks Rendering</a:t>
            </a:r>
            <a:endParaRPr lang="en-US" sz="3100" dirty="0"/>
          </a:p>
        </p:txBody>
      </p:sp>
      <p:sp>
        <p:nvSpPr>
          <p:cNvPr id="3" name="Shape 1"/>
          <p:cNvSpPr/>
          <p:nvPr/>
        </p:nvSpPr>
        <p:spPr>
          <a:xfrm>
            <a:off x="793790" y="2425422"/>
            <a:ext cx="13042821" cy="932736"/>
          </a:xfrm>
          <a:prstGeom prst="roundRect">
            <a:avLst>
              <a:gd name="adj" fmla="val 19151"/>
            </a:avLst>
          </a:prstGeom>
          <a:solidFill>
            <a:srgbClr val="F2F2F2"/>
          </a:solidFill>
          <a:ln/>
        </p:spPr>
      </p:sp>
      <p:sp>
        <p:nvSpPr>
          <p:cNvPr id="4" name="Shape 2"/>
          <p:cNvSpPr/>
          <p:nvPr/>
        </p:nvSpPr>
        <p:spPr>
          <a:xfrm>
            <a:off x="783908" y="2425422"/>
            <a:ext cx="13062585" cy="932736"/>
          </a:xfrm>
          <a:prstGeom prst="roundRect">
            <a:avLst>
              <a:gd name="adj" fmla="val 3192"/>
            </a:avLst>
          </a:prstGeom>
          <a:solidFill>
            <a:srgbClr val="F2F2F2"/>
          </a:solidFill>
          <a:ln/>
        </p:spPr>
      </p:sp>
      <p:sp>
        <p:nvSpPr>
          <p:cNvPr id="5" name="Text 3"/>
          <p:cNvSpPr/>
          <p:nvPr/>
        </p:nvSpPr>
        <p:spPr>
          <a:xfrm>
            <a:off x="982266" y="2574250"/>
            <a:ext cx="12665869"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{msg.groundingChunks &amp;&amp; msg.groundingChunks.length &gt; 0 &amp;&amp; (  </a:t>
            </a:r>
            <a:endParaRPr lang="en-US" sz="1550" dirty="0"/>
          </a:p>
        </p:txBody>
      </p:sp>
      <p:sp>
        <p:nvSpPr>
          <p:cNvPr id="6" name="Text 4"/>
          <p:cNvSpPr/>
          <p:nvPr/>
        </p:nvSpPr>
        <p:spPr>
          <a:xfrm>
            <a:off x="793790" y="3581400"/>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Sources:</a:t>
            </a:r>
            <a:endParaRPr lang="en-US" sz="1550" dirty="0"/>
          </a:p>
        </p:txBody>
      </p:sp>
      <p:sp>
        <p:nvSpPr>
          <p:cNvPr id="7" name="Text 5"/>
          <p:cNvSpPr/>
          <p:nvPr/>
        </p:nvSpPr>
        <p:spPr>
          <a:xfrm>
            <a:off x="793790" y="4122182"/>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{msg.groundingChunks.map((chunk, index) =&gt; (                ))}     </a:t>
            </a:r>
            <a:endParaRPr lang="en-US" sz="1550" dirty="0"/>
          </a:p>
        </p:txBody>
      </p:sp>
      <p:sp>
        <p:nvSpPr>
          <p:cNvPr id="8" name="Text 6"/>
          <p:cNvSpPr/>
          <p:nvPr/>
        </p:nvSpPr>
        <p:spPr>
          <a:xfrm>
            <a:off x="793790" y="4662964"/>
            <a:ext cx="13042821"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           {chunk.web &amp;&amp; (             </a:t>
            </a:r>
            <a:pPr algn="l" indent="0" marL="0">
              <a:lnSpc>
                <a:spcPts val="2500"/>
              </a:lnSpc>
              <a:buNone/>
            </a:pPr>
            <a:r>
              <a:rPr lang="en-US" sz="1550" u="sng" dirty="0">
                <a:solidFill>
                  <a:srgbClr val="2222CA"/>
                </a:solidFill>
                <a:latin typeface="Readex Pro Light" pitchFamily="34" charset="0"/>
                <a:ea typeface="Readex Pro Light" pitchFamily="34" charset="-122"/>
                <a:cs typeface="Readex Pro Light" pitchFamily="34" charset="-120"/>
                <a:hlinkClick r:id="rId1" invalidUrl="" action="" tgtFrame="" tooltip="" history="1" highlightClick="0" endSnd="0">
                  <a:extLst>
                    <a:ext uri="{A12FA001-AC4F-418D-AE19-62706E023703}">
                      <ahyp:hlinkClr xmlns:ahyp="http://schemas.microsoft.com/office/drawing/2018/hyperlinkcolor" val="tx"/>
                    </a:ext>
                  </a:extLst>
                </a:hlinkClick>
              </a:rPr>
              <a:t>               {chunk.web.title || chunk.web.uri}             </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           {chunk.maps &amp;&amp; (             </a:t>
            </a:r>
            <a:pPr algn="l" indent="0" marL="0">
              <a:lnSpc>
                <a:spcPts val="2500"/>
              </a:lnSpc>
              <a:buNone/>
            </a:pPr>
            <a:r>
              <a:rPr lang="en-US" sz="1550" u="sng" dirty="0">
                <a:solidFill>
                  <a:srgbClr val="2222CA"/>
                </a:solidFill>
                <a:latin typeface="Readex Pro Light" pitchFamily="34" charset="0"/>
                <a:ea typeface="Readex Pro Light" pitchFamily="34" charset="-122"/>
                <a:cs typeface="Readex Pro Light" pitchFamily="34" charset="-120"/>
                <a:hlinkClick r:id="rId2" invalidUrl="" action="" tgtFrame="" tooltip="" history="1" highlightClick="0" endSnd="0">
                  <a:extLst>
                    <a:ext uri="{A12FA001-AC4F-418D-AE19-62706E023703}">
                      <ahyp:hlinkClr xmlns:ahyp="http://schemas.microsoft.com/office/drawing/2018/hyperlinkcolor" val="tx"/>
                    </a:ext>
                  </a:extLst>
                </a:hlinkClick>
              </a:rPr>
              <a:t>               {chunk.maps.title || 'View on Google Maps'}             </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t>
            </a:r>
            <a:endParaRPr lang="en-US" sz="1550" dirty="0"/>
          </a:p>
        </p:txBody>
      </p:sp>
      <p:sp>
        <p:nvSpPr>
          <p:cNvPr id="9" name="Text 7"/>
          <p:cNvSpPr/>
          <p:nvPr/>
        </p:nvSpPr>
        <p:spPr>
          <a:xfrm>
            <a:off x="793790" y="552128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 </a:t>
            </a:r>
            <a:endParaRPr lang="en-US" sz="1550" dirty="0"/>
          </a:p>
        </p:txBody>
      </p:sp>
      <p:sp>
        <p:nvSpPr>
          <p:cNvPr id="10" name="Text 8"/>
          <p:cNvSpPr/>
          <p:nvPr/>
        </p:nvSpPr>
        <p:spPr>
          <a:xfrm>
            <a:off x="793790" y="606206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Source citations render below messages when grounding data is available. Each source becomes a clickable link that opens in a new tab, allowing users to verify information or explore topics further.</a:t>
            </a:r>
            <a:endParaRPr lang="en-US" sz="15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793790" y="1754505"/>
            <a:ext cx="4425910"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Source Citation Pattern</a:t>
            </a:r>
            <a:endParaRPr lang="en-US" sz="3100" dirty="0"/>
          </a:p>
        </p:txBody>
      </p:sp>
      <p:sp>
        <p:nvSpPr>
          <p:cNvPr id="3" name="Text 1"/>
          <p:cNvSpPr/>
          <p:nvPr/>
        </p:nvSpPr>
        <p:spPr>
          <a:xfrm>
            <a:off x="793790" y="2647474"/>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citation rendering demonstrates careful attention to detail in both functionality and UX. Let's examine the key patterns:</a:t>
            </a:r>
            <a:endParaRPr lang="en-US" sz="1550" dirty="0"/>
          </a:p>
        </p:txBody>
      </p:sp>
      <p:sp>
        <p:nvSpPr>
          <p:cNvPr id="4" name="Text 2"/>
          <p:cNvSpPr/>
          <p:nvPr/>
        </p:nvSpPr>
        <p:spPr>
          <a:xfrm>
            <a:off x="793790" y="3386614"/>
            <a:ext cx="2663428"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Conditional Rendering</a:t>
            </a:r>
            <a:endParaRPr lang="en-US" sz="1950" dirty="0"/>
          </a:p>
        </p:txBody>
      </p:sp>
      <p:sp>
        <p:nvSpPr>
          <p:cNvPr id="5" name="Text 3"/>
          <p:cNvSpPr/>
          <p:nvPr/>
        </p:nvSpPr>
        <p:spPr>
          <a:xfrm>
            <a:off x="793790" y="3895130"/>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Sources only appear when grounding chunks exist and the array has items. This prevents empty "Sources:" sections from cluttering the UI. The conditional is written efficiently using short-circuit evaluation.</a:t>
            </a:r>
            <a:endParaRPr lang="en-US" sz="1550" dirty="0"/>
          </a:p>
        </p:txBody>
      </p:sp>
      <p:sp>
        <p:nvSpPr>
          <p:cNvPr id="6" name="Text 4"/>
          <p:cNvSpPr/>
          <p:nvPr/>
        </p:nvSpPr>
        <p:spPr>
          <a:xfrm>
            <a:off x="793790" y="5343882"/>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Each chunk type (web vs maps) is checked separately, rendering appropriate links with specific styling and text. This handles the API's varied response formats gracefully.</a:t>
            </a:r>
            <a:endParaRPr lang="en-US" sz="1550" dirty="0"/>
          </a:p>
        </p:txBody>
      </p:sp>
      <p:sp>
        <p:nvSpPr>
          <p:cNvPr id="7" name="Text 5"/>
          <p:cNvSpPr/>
          <p:nvPr/>
        </p:nvSpPr>
        <p:spPr>
          <a:xfrm>
            <a:off x="7564874" y="3386614"/>
            <a:ext cx="2829282"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Security Considerations</a:t>
            </a:r>
            <a:endParaRPr lang="en-US" sz="1950" dirty="0"/>
          </a:p>
        </p:txBody>
      </p:sp>
      <p:sp>
        <p:nvSpPr>
          <p:cNvPr id="8" name="Text 6"/>
          <p:cNvSpPr/>
          <p:nvPr/>
        </p:nvSpPr>
        <p:spPr>
          <a:xfrm>
            <a:off x="7564874" y="3895130"/>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target="_blank"</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opens links in new tabs to keep the conversation active. The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rel="noopener noreferrer"</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attribute is critical security—it prevents the new page from accessing the opener window and protects against tabnabbing attacks.</a:t>
            </a:r>
            <a:endParaRPr lang="en-US" sz="1550" dirty="0"/>
          </a:p>
        </p:txBody>
      </p:sp>
      <p:sp>
        <p:nvSpPr>
          <p:cNvPr id="9" name="Text 7"/>
          <p:cNvSpPr/>
          <p:nvPr/>
        </p:nvSpPr>
        <p:spPr>
          <a:xfrm>
            <a:off x="7564874" y="5343882"/>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Fallback text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chunk.web.title || chunk.web.uri</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ensures links always have readable text, even if the API doesn't provide a title.</a:t>
            </a:r>
            <a:endParaRPr lang="en-US" sz="15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793790" y="2502337"/>
            <a:ext cx="4522827"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Loading State Indicator</a:t>
            </a:r>
            <a:endParaRPr lang="en-US" sz="3100" dirty="0"/>
          </a:p>
        </p:txBody>
      </p:sp>
      <p:sp>
        <p:nvSpPr>
          <p:cNvPr id="3" name="Shape 1"/>
          <p:cNvSpPr/>
          <p:nvPr/>
        </p:nvSpPr>
        <p:spPr>
          <a:xfrm>
            <a:off x="793790" y="3395305"/>
            <a:ext cx="13042821" cy="932736"/>
          </a:xfrm>
          <a:prstGeom prst="roundRect">
            <a:avLst>
              <a:gd name="adj" fmla="val 19151"/>
            </a:avLst>
          </a:prstGeom>
          <a:solidFill>
            <a:srgbClr val="F2F2F2"/>
          </a:solidFill>
          <a:ln/>
        </p:spPr>
      </p:sp>
      <p:sp>
        <p:nvSpPr>
          <p:cNvPr id="4" name="Shape 2"/>
          <p:cNvSpPr/>
          <p:nvPr/>
        </p:nvSpPr>
        <p:spPr>
          <a:xfrm>
            <a:off x="783908" y="3395305"/>
            <a:ext cx="13062585" cy="932736"/>
          </a:xfrm>
          <a:prstGeom prst="roundRect">
            <a:avLst>
              <a:gd name="adj" fmla="val 3192"/>
            </a:avLst>
          </a:prstGeom>
          <a:solidFill>
            <a:srgbClr val="F2F2F2"/>
          </a:solidFill>
          <a:ln/>
        </p:spPr>
      </p:sp>
      <p:sp>
        <p:nvSpPr>
          <p:cNvPr id="5" name="Text 3"/>
          <p:cNvSpPr/>
          <p:nvPr/>
        </p:nvSpPr>
        <p:spPr>
          <a:xfrm>
            <a:off x="982266" y="3544133"/>
            <a:ext cx="12665869"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{isLoading &amp;&amp; messages[messages.length - 1]?.role !== 'model' &amp;&amp; (  </a:t>
            </a:r>
            <a:endParaRPr lang="en-US" sz="1550" dirty="0"/>
          </a:p>
        </p:txBody>
      </p:sp>
      <p:sp>
        <p:nvSpPr>
          <p:cNvPr id="6" name="Text 4"/>
          <p:cNvSpPr/>
          <p:nvPr/>
        </p:nvSpPr>
        <p:spPr>
          <a:xfrm>
            <a:off x="793790" y="4551283"/>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 </a:t>
            </a:r>
            <a:endParaRPr lang="en-US" sz="1550" dirty="0"/>
          </a:p>
        </p:txBody>
      </p:sp>
      <p:sp>
        <p:nvSpPr>
          <p:cNvPr id="7" name="Text 5"/>
          <p:cNvSpPr/>
          <p:nvPr/>
        </p:nvSpPr>
        <p:spPr>
          <a:xfrm>
            <a:off x="793790" y="509206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This animated ellipsis appears when waiting for the AI's response. The staggered animation delays create a wave effect that clearly indicates activity. This pattern is more engaging than a static "Loading..." text or spinner.</a:t>
            </a:r>
            <a:endParaRPr lang="en-US" sz="1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793790" y="1110615"/>
            <a:ext cx="6256139"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Loading Indicator Design Details</a:t>
            </a:r>
            <a:endParaRPr lang="en-US" sz="3100" dirty="0"/>
          </a:p>
        </p:txBody>
      </p:sp>
      <p:sp>
        <p:nvSpPr>
          <p:cNvPr id="3" name="Text 1"/>
          <p:cNvSpPr/>
          <p:nvPr/>
        </p:nvSpPr>
        <p:spPr>
          <a:xfrm>
            <a:off x="793790" y="2003584"/>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three-dot animation uses Tailwind's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animate-pulse</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utility with custom animation delays for each dot. This creates the characteristic typing indicator seen in modern messaging apps. The implementation demonstrates both technical sophistication and attention to UX polish.</a:t>
            </a:r>
            <a:endParaRPr lang="en-US" sz="1550" dirty="0"/>
          </a:p>
        </p:txBody>
      </p:sp>
      <p:sp>
        <p:nvSpPr>
          <p:cNvPr id="4" name="Shape 2"/>
          <p:cNvSpPr/>
          <p:nvPr/>
        </p:nvSpPr>
        <p:spPr>
          <a:xfrm>
            <a:off x="793790" y="4719995"/>
            <a:ext cx="13042821" cy="22860"/>
          </a:xfrm>
          <a:prstGeom prst="roundRect">
            <a:avLst>
              <a:gd name="adj" fmla="val 781396"/>
            </a:avLst>
          </a:prstGeom>
          <a:solidFill>
            <a:srgbClr val="CCCCCC"/>
          </a:solidFill>
          <a:ln/>
        </p:spPr>
      </p:sp>
      <p:sp>
        <p:nvSpPr>
          <p:cNvPr id="5" name="Shape 3"/>
          <p:cNvSpPr/>
          <p:nvPr/>
        </p:nvSpPr>
        <p:spPr>
          <a:xfrm>
            <a:off x="3980974" y="4124682"/>
            <a:ext cx="22860" cy="595313"/>
          </a:xfrm>
          <a:prstGeom prst="roundRect">
            <a:avLst>
              <a:gd name="adj" fmla="val 781396"/>
            </a:avLst>
          </a:prstGeom>
          <a:solidFill>
            <a:srgbClr val="CCCCCC"/>
          </a:solidFill>
          <a:ln/>
        </p:spPr>
      </p:sp>
      <p:sp>
        <p:nvSpPr>
          <p:cNvPr id="6" name="Shape 4"/>
          <p:cNvSpPr/>
          <p:nvPr/>
        </p:nvSpPr>
        <p:spPr>
          <a:xfrm>
            <a:off x="3769162" y="4496753"/>
            <a:ext cx="446484" cy="446484"/>
          </a:xfrm>
          <a:prstGeom prst="roundRect">
            <a:avLst>
              <a:gd name="adj" fmla="val 4000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7" name="Text 5"/>
          <p:cNvSpPr/>
          <p:nvPr/>
        </p:nvSpPr>
        <p:spPr>
          <a:xfrm>
            <a:off x="3843576" y="4533960"/>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000000"/>
                </a:solidFill>
                <a:latin typeface="Readex Pro" pitchFamily="34" charset="0"/>
                <a:ea typeface="Readex Pro" pitchFamily="34" charset="-122"/>
                <a:cs typeface="Readex Pro" pitchFamily="34" charset="-120"/>
              </a:rPr>
              <a:t>1</a:t>
            </a:r>
            <a:endParaRPr lang="en-US" sz="2300" dirty="0"/>
          </a:p>
        </p:txBody>
      </p:sp>
      <p:sp>
        <p:nvSpPr>
          <p:cNvPr id="8" name="Text 6"/>
          <p:cNvSpPr/>
          <p:nvPr/>
        </p:nvSpPr>
        <p:spPr>
          <a:xfrm>
            <a:off x="2752011" y="3179445"/>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Dot 1</a:t>
            </a:r>
            <a:endParaRPr lang="en-US" sz="1950" dirty="0"/>
          </a:p>
        </p:txBody>
      </p:sp>
      <p:sp>
        <p:nvSpPr>
          <p:cNvPr id="9" name="Text 7"/>
          <p:cNvSpPr/>
          <p:nvPr/>
        </p:nvSpPr>
        <p:spPr>
          <a:xfrm>
            <a:off x="992148" y="3608665"/>
            <a:ext cx="6000631" cy="317540"/>
          </a:xfrm>
          <a:prstGeom prst="rect">
            <a:avLst/>
          </a:prstGeom>
          <a:noFill/>
          <a:ln/>
        </p:spPr>
        <p:txBody>
          <a:bodyPr wrap="none" lIns="0" tIns="0" rIns="0" bIns="0" rtlCol="0" anchor="t"/>
          <a:lstStyle/>
          <a:p>
            <a:pPr algn="ctr"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Pulses immediately with default timing</a:t>
            </a:r>
            <a:endParaRPr lang="en-US" sz="1550" dirty="0"/>
          </a:p>
        </p:txBody>
      </p:sp>
      <p:sp>
        <p:nvSpPr>
          <p:cNvPr id="10" name="Shape 8"/>
          <p:cNvSpPr/>
          <p:nvPr/>
        </p:nvSpPr>
        <p:spPr>
          <a:xfrm>
            <a:off x="7303651" y="4719995"/>
            <a:ext cx="22860" cy="595313"/>
          </a:xfrm>
          <a:prstGeom prst="roundRect">
            <a:avLst>
              <a:gd name="adj" fmla="val 781396"/>
            </a:avLst>
          </a:prstGeom>
          <a:solidFill>
            <a:srgbClr val="CCCCCC"/>
          </a:solidFill>
          <a:ln/>
        </p:spPr>
      </p:sp>
      <p:sp>
        <p:nvSpPr>
          <p:cNvPr id="11" name="Shape 9"/>
          <p:cNvSpPr/>
          <p:nvPr/>
        </p:nvSpPr>
        <p:spPr>
          <a:xfrm>
            <a:off x="7091839" y="4496753"/>
            <a:ext cx="446484" cy="446484"/>
          </a:xfrm>
          <a:prstGeom prst="roundRect">
            <a:avLst>
              <a:gd name="adj" fmla="val 4000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2" name="Text 10"/>
          <p:cNvSpPr/>
          <p:nvPr/>
        </p:nvSpPr>
        <p:spPr>
          <a:xfrm>
            <a:off x="7166253" y="4533960"/>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000000"/>
                </a:solidFill>
                <a:latin typeface="Readex Pro" pitchFamily="34" charset="0"/>
                <a:ea typeface="Readex Pro" pitchFamily="34" charset="-122"/>
                <a:cs typeface="Readex Pro" pitchFamily="34" charset="-120"/>
              </a:rPr>
              <a:t>2</a:t>
            </a:r>
            <a:endParaRPr lang="en-US" sz="2300" dirty="0"/>
          </a:p>
        </p:txBody>
      </p:sp>
      <p:sp>
        <p:nvSpPr>
          <p:cNvPr id="13" name="Text 11"/>
          <p:cNvSpPr/>
          <p:nvPr/>
        </p:nvSpPr>
        <p:spPr>
          <a:xfrm>
            <a:off x="6074688" y="5513784"/>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Dot 2</a:t>
            </a:r>
            <a:endParaRPr lang="en-US" sz="1950" dirty="0"/>
          </a:p>
        </p:txBody>
      </p:sp>
      <p:sp>
        <p:nvSpPr>
          <p:cNvPr id="14" name="Text 12"/>
          <p:cNvSpPr/>
          <p:nvPr/>
        </p:nvSpPr>
        <p:spPr>
          <a:xfrm>
            <a:off x="4314825" y="5943005"/>
            <a:ext cx="6000631" cy="317540"/>
          </a:xfrm>
          <a:prstGeom prst="rect">
            <a:avLst/>
          </a:prstGeom>
          <a:noFill/>
          <a:ln/>
        </p:spPr>
        <p:txBody>
          <a:bodyPr wrap="none" lIns="0" tIns="0" rIns="0" bIns="0" rtlCol="0" anchor="t"/>
          <a:lstStyle/>
          <a:p>
            <a:pPr algn="ctr"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Delayed 0.2s for staggered effect</a:t>
            </a:r>
            <a:endParaRPr lang="en-US" sz="1550" dirty="0"/>
          </a:p>
        </p:txBody>
      </p:sp>
      <p:sp>
        <p:nvSpPr>
          <p:cNvPr id="15" name="Shape 13"/>
          <p:cNvSpPr/>
          <p:nvPr/>
        </p:nvSpPr>
        <p:spPr>
          <a:xfrm>
            <a:off x="10626447" y="4124682"/>
            <a:ext cx="22860" cy="595313"/>
          </a:xfrm>
          <a:prstGeom prst="roundRect">
            <a:avLst>
              <a:gd name="adj" fmla="val 781396"/>
            </a:avLst>
          </a:prstGeom>
          <a:solidFill>
            <a:srgbClr val="CCCCCC"/>
          </a:solidFill>
          <a:ln/>
        </p:spPr>
      </p:sp>
      <p:sp>
        <p:nvSpPr>
          <p:cNvPr id="16" name="Shape 14"/>
          <p:cNvSpPr/>
          <p:nvPr/>
        </p:nvSpPr>
        <p:spPr>
          <a:xfrm>
            <a:off x="10414635" y="4496753"/>
            <a:ext cx="446484" cy="446484"/>
          </a:xfrm>
          <a:prstGeom prst="roundRect">
            <a:avLst>
              <a:gd name="adj" fmla="val 4000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7" name="Text 15"/>
          <p:cNvSpPr/>
          <p:nvPr/>
        </p:nvSpPr>
        <p:spPr>
          <a:xfrm>
            <a:off x="10489049" y="4533960"/>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000000"/>
                </a:solidFill>
                <a:latin typeface="Readex Pro" pitchFamily="34" charset="0"/>
                <a:ea typeface="Readex Pro" pitchFamily="34" charset="-122"/>
                <a:cs typeface="Readex Pro" pitchFamily="34" charset="-120"/>
              </a:rPr>
              <a:t>3</a:t>
            </a:r>
            <a:endParaRPr lang="en-US" sz="2300" dirty="0"/>
          </a:p>
        </p:txBody>
      </p:sp>
      <p:sp>
        <p:nvSpPr>
          <p:cNvPr id="18" name="Text 16"/>
          <p:cNvSpPr/>
          <p:nvPr/>
        </p:nvSpPr>
        <p:spPr>
          <a:xfrm>
            <a:off x="9397365" y="3179445"/>
            <a:ext cx="2480905" cy="310158"/>
          </a:xfrm>
          <a:prstGeom prst="rect">
            <a:avLst/>
          </a:prstGeom>
          <a:noFill/>
          <a:ln/>
        </p:spPr>
        <p:txBody>
          <a:bodyPr wrap="none" lIns="0" tIns="0" rIns="0" bIns="0" rtlCol="0" anchor="t"/>
          <a:lstStyle/>
          <a:p>
            <a:pPr algn="ctr"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Dot 3</a:t>
            </a:r>
            <a:endParaRPr lang="en-US" sz="1950" dirty="0"/>
          </a:p>
        </p:txBody>
      </p:sp>
      <p:sp>
        <p:nvSpPr>
          <p:cNvPr id="19" name="Text 17"/>
          <p:cNvSpPr/>
          <p:nvPr/>
        </p:nvSpPr>
        <p:spPr>
          <a:xfrm>
            <a:off x="7637502" y="3608665"/>
            <a:ext cx="6000750" cy="317540"/>
          </a:xfrm>
          <a:prstGeom prst="rect">
            <a:avLst/>
          </a:prstGeom>
          <a:noFill/>
          <a:ln/>
        </p:spPr>
        <p:txBody>
          <a:bodyPr wrap="none" lIns="0" tIns="0" rIns="0" bIns="0" rtlCol="0" anchor="t"/>
          <a:lstStyle/>
          <a:p>
            <a:pPr algn="ctr"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Delayed 0.4s completing the wave</a:t>
            </a:r>
            <a:endParaRPr lang="en-US" sz="1550" dirty="0"/>
          </a:p>
        </p:txBody>
      </p:sp>
      <p:sp>
        <p:nvSpPr>
          <p:cNvPr id="20" name="Text 18"/>
          <p:cNvSpPr/>
          <p:nvPr/>
        </p:nvSpPr>
        <p:spPr>
          <a:xfrm>
            <a:off x="793790" y="648378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conditional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messages[messages.length - 1]?.role !== 'model'</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prevents showing the indicator when streaming a response. Once the first chunk arrives and creates a model message, the indicator disappears and streaming text takes over.</a:t>
            </a:r>
            <a:endParaRPr lang="en-US" sz="15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793790" y="1373624"/>
            <a:ext cx="4792623"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Error Display Component</a:t>
            </a:r>
            <a:endParaRPr lang="en-US" sz="3100" dirty="0"/>
          </a:p>
        </p:txBody>
      </p:sp>
      <p:sp>
        <p:nvSpPr>
          <p:cNvPr id="3" name="Shape 1"/>
          <p:cNvSpPr/>
          <p:nvPr/>
        </p:nvSpPr>
        <p:spPr>
          <a:xfrm>
            <a:off x="793790" y="2266593"/>
            <a:ext cx="13042821" cy="932736"/>
          </a:xfrm>
          <a:prstGeom prst="roundRect">
            <a:avLst>
              <a:gd name="adj" fmla="val 19151"/>
            </a:avLst>
          </a:prstGeom>
          <a:solidFill>
            <a:srgbClr val="F2F2F2"/>
          </a:solidFill>
          <a:ln/>
        </p:spPr>
      </p:sp>
      <p:sp>
        <p:nvSpPr>
          <p:cNvPr id="4" name="Shape 2"/>
          <p:cNvSpPr/>
          <p:nvPr/>
        </p:nvSpPr>
        <p:spPr>
          <a:xfrm>
            <a:off x="783908" y="2266593"/>
            <a:ext cx="13062585" cy="932736"/>
          </a:xfrm>
          <a:prstGeom prst="roundRect">
            <a:avLst>
              <a:gd name="adj" fmla="val 3192"/>
            </a:avLst>
          </a:prstGeom>
          <a:solidFill>
            <a:srgbClr val="F2F2F2"/>
          </a:solidFill>
          <a:ln/>
        </p:spPr>
      </p:sp>
      <p:sp>
        <p:nvSpPr>
          <p:cNvPr id="5" name="Text 3"/>
          <p:cNvSpPr/>
          <p:nvPr/>
        </p:nvSpPr>
        <p:spPr>
          <a:xfrm>
            <a:off x="982266" y="2415421"/>
            <a:ext cx="12665869"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{error &amp;&amp; !isLoading &amp;&amp; (  </a:t>
            </a:r>
            <a:endParaRPr lang="en-US" sz="1550" dirty="0"/>
          </a:p>
        </p:txBody>
      </p:sp>
      <p:sp>
        <p:nvSpPr>
          <p:cNvPr id="6" name="Text 4"/>
          <p:cNvSpPr/>
          <p:nvPr/>
        </p:nvSpPr>
        <p:spPr>
          <a:xfrm>
            <a:off x="793790" y="3422571"/>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{error}   </a:t>
            </a:r>
            <a:endParaRPr lang="en-US" sz="1550" dirty="0"/>
          </a:p>
        </p:txBody>
      </p:sp>
      <p:sp>
        <p:nvSpPr>
          <p:cNvPr id="7" name="Text 5"/>
          <p:cNvSpPr/>
          <p:nvPr/>
        </p:nvSpPr>
        <p:spPr>
          <a:xfrm>
            <a:off x="793790" y="3963353"/>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 </a:t>
            </a:r>
            <a:endParaRPr lang="en-US" sz="1550" dirty="0"/>
          </a:p>
        </p:txBody>
      </p:sp>
      <p:sp>
        <p:nvSpPr>
          <p:cNvPr id="8" name="Text 6"/>
          <p:cNvSpPr/>
          <p:nvPr/>
        </p:nvSpPr>
        <p:spPr>
          <a:xfrm>
            <a:off x="793790" y="450413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Error messages render in a distinct banner above the input area. The red color scheme immediately signals something went wrong, while the semi-transparent background maintains visual consistency with the rest of the interface.</a:t>
            </a:r>
            <a:endParaRPr lang="en-US" sz="1550" dirty="0"/>
          </a:p>
        </p:txBody>
      </p:sp>
      <p:sp>
        <p:nvSpPr>
          <p:cNvPr id="9" name="Text 7"/>
          <p:cNvSpPr/>
          <p:nvPr/>
        </p:nvSpPr>
        <p:spPr>
          <a:xfrm>
            <a:off x="793790" y="536245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role="alert"</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attribute is an accessibility feature that announces the error to screen readers, ensuring users with disabilities are informed about issues. This small addition makes the component more inclusive.</a:t>
            </a:r>
            <a:endParaRPr lang="en-US" sz="1550" dirty="0"/>
          </a:p>
        </p:txBody>
      </p:sp>
      <p:sp>
        <p:nvSpPr>
          <p:cNvPr id="10" name="Text 8"/>
          <p:cNvSpPr/>
          <p:nvPr/>
        </p:nvSpPr>
        <p:spPr>
          <a:xfrm>
            <a:off x="793790" y="622077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condition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!isLoading</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ensures errors only show when not actively processing a request. This prevents error messages from lingering during retry attempts.</a:t>
            </a:r>
            <a:endParaRPr lang="en-US" sz="15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793790" y="1118116"/>
            <a:ext cx="3969425"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Input Area Structure</a:t>
            </a:r>
            <a:endParaRPr lang="en-US" sz="3100" dirty="0"/>
          </a:p>
        </p:txBody>
      </p:sp>
      <p:sp>
        <p:nvSpPr>
          <p:cNvPr id="3" name="Shape 1"/>
          <p:cNvSpPr/>
          <p:nvPr/>
        </p:nvSpPr>
        <p:spPr>
          <a:xfrm>
            <a:off x="793790" y="2011085"/>
            <a:ext cx="13042821" cy="3473053"/>
          </a:xfrm>
          <a:prstGeom prst="roundRect">
            <a:avLst>
              <a:gd name="adj" fmla="val 5143"/>
            </a:avLst>
          </a:prstGeom>
          <a:solidFill>
            <a:srgbClr val="F2F2F2"/>
          </a:solidFill>
          <a:ln/>
        </p:spPr>
      </p:sp>
      <p:sp>
        <p:nvSpPr>
          <p:cNvPr id="4" name="Shape 2"/>
          <p:cNvSpPr/>
          <p:nvPr/>
        </p:nvSpPr>
        <p:spPr>
          <a:xfrm>
            <a:off x="783908" y="2011085"/>
            <a:ext cx="13062585" cy="3473053"/>
          </a:xfrm>
          <a:prstGeom prst="roundRect">
            <a:avLst>
              <a:gd name="adj" fmla="val 857"/>
            </a:avLst>
          </a:prstGeom>
          <a:solidFill>
            <a:srgbClr val="F2F2F2"/>
          </a:solidFill>
          <a:ln/>
        </p:spPr>
      </p:sp>
      <p:sp>
        <p:nvSpPr>
          <p:cNvPr id="5" name="Text 3"/>
          <p:cNvSpPr/>
          <p:nvPr/>
        </p:nvSpPr>
        <p:spPr>
          <a:xfrm>
            <a:off x="982266" y="2159913"/>
            <a:ext cx="12665869" cy="3175397"/>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   setInput(e.target.value)}    onKeyDown={(e) =&gt; e.key === 'Enter' &amp;&amp; handleSend()}    placeholder="Ask about the architecture..."    className="flex-grow px-3 py-2 text-sm bg-black/30 border-2 border-gray-600 rounded-md focus:outline-none focus:border-blue-400 focus:shadow-[0_0_15px_rgba(59,130,246,0.5)] text-blue-200 placeholder-gray-500 transition-all duration-300"    aria-label="Chat input"    disabled={isLoading}  /&gt;  </a:t>
            </a:r>
            <a:endParaRPr lang="en-US" sz="1550" dirty="0"/>
          </a:p>
        </p:txBody>
      </p:sp>
      <p:pic>
        <p:nvPicPr>
          <p:cNvPr id="6" name="Image 0" descr="preencoded.png">    </p:cNvPr>
          <p:cNvPicPr>
            <a:picLocks noChangeAspect="1"/>
          </p:cNvPicPr>
          <p:nvPr/>
        </p:nvPicPr>
        <p:blipFill>
          <a:blip r:embed="rId1"/>
          <a:stretch>
            <a:fillRect/>
          </a:stretch>
        </p:blipFill>
        <p:spPr>
          <a:xfrm>
            <a:off x="793790" y="5707380"/>
            <a:ext cx="1262182" cy="545783"/>
          </a:xfrm>
          <a:prstGeom prst="rect">
            <a:avLst/>
          </a:prstGeom>
        </p:spPr>
      </p:pic>
      <p:sp>
        <p:nvSpPr>
          <p:cNvPr id="7" name="Text 4"/>
          <p:cNvSpPr/>
          <p:nvPr/>
        </p:nvSpPr>
        <p:spPr>
          <a:xfrm>
            <a:off x="793790" y="647640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input area combines a controlled text input with a submit button in a flexible layout. The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flex gap-2</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ensures consistent spacing that adapts to different screen sizes.</a:t>
            </a:r>
            <a:endParaRPr lang="en-US" sz="15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793790" y="1595676"/>
            <a:ext cx="4658439"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Controlled Input Pattern</a:t>
            </a:r>
            <a:endParaRPr lang="en-US" sz="3100" dirty="0"/>
          </a:p>
        </p:txBody>
      </p:sp>
      <p:sp>
        <p:nvSpPr>
          <p:cNvPr id="3" name="Text 1"/>
          <p:cNvSpPr/>
          <p:nvPr/>
        </p:nvSpPr>
        <p:spPr>
          <a:xfrm>
            <a:off x="793790" y="248864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input is implemented as a controlled component, meaning React state manages its value rather than relying on DOM state. This pattern provides several benefits:</a:t>
            </a:r>
            <a:endParaRPr lang="en-US" sz="1550" dirty="0"/>
          </a:p>
        </p:txBody>
      </p:sp>
      <p:sp>
        <p:nvSpPr>
          <p:cNvPr id="4" name="Text 2"/>
          <p:cNvSpPr/>
          <p:nvPr/>
        </p:nvSpPr>
        <p:spPr>
          <a:xfrm>
            <a:off x="793790" y="3545324"/>
            <a:ext cx="2641283"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Single Source of Truth</a:t>
            </a:r>
            <a:endParaRPr lang="en-US" sz="1950" dirty="0"/>
          </a:p>
        </p:txBody>
      </p:sp>
      <p:sp>
        <p:nvSpPr>
          <p:cNvPr id="5" name="Text 3"/>
          <p:cNvSpPr/>
          <p:nvPr/>
        </p:nvSpPr>
        <p:spPr>
          <a:xfrm>
            <a:off x="793790" y="4053840"/>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input</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state variable is the only source of the current input value. This makes the component's behavior predictable and easy to reason about. You always know what's in the input by checking state.</a:t>
            </a:r>
            <a:endParaRPr lang="en-US" sz="1550" dirty="0"/>
          </a:p>
        </p:txBody>
      </p:sp>
      <p:sp>
        <p:nvSpPr>
          <p:cNvPr id="6" name="Text 4"/>
          <p:cNvSpPr/>
          <p:nvPr/>
        </p:nvSpPr>
        <p:spPr>
          <a:xfrm>
            <a:off x="793790" y="5502593"/>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Controlled inputs enable features like input validation, character limits, and programmatic value changes that would be difficult with uncontrolled inputs.</a:t>
            </a:r>
            <a:endParaRPr lang="en-US" sz="1550" dirty="0"/>
          </a:p>
        </p:txBody>
      </p:sp>
      <p:sp>
        <p:nvSpPr>
          <p:cNvPr id="7" name="Text 5"/>
          <p:cNvSpPr/>
          <p:nvPr/>
        </p:nvSpPr>
        <p:spPr>
          <a:xfrm>
            <a:off x="7564874" y="3545324"/>
            <a:ext cx="3232071"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React Lifecycle Integration</a:t>
            </a:r>
            <a:endParaRPr lang="en-US" sz="1950" dirty="0"/>
          </a:p>
        </p:txBody>
      </p:sp>
      <p:sp>
        <p:nvSpPr>
          <p:cNvPr id="8" name="Text 6"/>
          <p:cNvSpPr/>
          <p:nvPr/>
        </p:nvSpPr>
        <p:spPr>
          <a:xfrm>
            <a:off x="7564874" y="4053840"/>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Because React manages the value, it can trigger re-renders when the input changes. This enables real-time features like showing character counts, search-as-you-type, or enabling/disabling the send button based on input validity.</a:t>
            </a:r>
            <a:endParaRPr lang="en-US" sz="1550" dirty="0"/>
          </a:p>
        </p:txBody>
      </p:sp>
      <p:sp>
        <p:nvSpPr>
          <p:cNvPr id="9" name="Text 7"/>
          <p:cNvSpPr/>
          <p:nvPr/>
        </p:nvSpPr>
        <p:spPr>
          <a:xfrm>
            <a:off x="7564874" y="5502593"/>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onChange</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handler updates state on every keystroke, keeping the UI synchronized with user input.</a:t>
            </a:r>
            <a:endParaRPr lang="en-US" sz="15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793790" y="1810345"/>
            <a:ext cx="4848225"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Keyboard Event Handling</a:t>
            </a:r>
            <a:endParaRPr lang="en-US" sz="3100" dirty="0"/>
          </a:p>
        </p:txBody>
      </p:sp>
      <p:sp>
        <p:nvSpPr>
          <p:cNvPr id="3" name="Shape 1"/>
          <p:cNvSpPr/>
          <p:nvPr/>
        </p:nvSpPr>
        <p:spPr>
          <a:xfrm>
            <a:off x="793790" y="2703314"/>
            <a:ext cx="13042821" cy="615196"/>
          </a:xfrm>
          <a:prstGeom prst="roundRect">
            <a:avLst>
              <a:gd name="adj" fmla="val 29036"/>
            </a:avLst>
          </a:prstGeom>
          <a:solidFill>
            <a:srgbClr val="F2F2F2"/>
          </a:solidFill>
          <a:ln/>
        </p:spPr>
      </p:sp>
      <p:sp>
        <p:nvSpPr>
          <p:cNvPr id="4" name="Shape 2"/>
          <p:cNvSpPr/>
          <p:nvPr/>
        </p:nvSpPr>
        <p:spPr>
          <a:xfrm>
            <a:off x="783908" y="2703314"/>
            <a:ext cx="13062585" cy="615196"/>
          </a:xfrm>
          <a:prstGeom prst="roundRect">
            <a:avLst>
              <a:gd name="adj" fmla="val 4839"/>
            </a:avLst>
          </a:prstGeom>
          <a:solidFill>
            <a:srgbClr val="F2F2F2"/>
          </a:solidFill>
          <a:ln/>
        </p:spPr>
      </p:sp>
      <p:sp>
        <p:nvSpPr>
          <p:cNvPr id="5" name="Text 3"/>
          <p:cNvSpPr/>
          <p:nvPr/>
        </p:nvSpPr>
        <p:spPr>
          <a:xfrm>
            <a:off x="982266" y="2852142"/>
            <a:ext cx="12665869"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onKeyDown={(e) =&gt; e.key === 'Enter' &amp;&amp; handleSend()}</a:t>
            </a:r>
            <a:endParaRPr lang="en-US" sz="1550" dirty="0"/>
          </a:p>
        </p:txBody>
      </p:sp>
      <p:sp>
        <p:nvSpPr>
          <p:cNvPr id="6" name="Text 4"/>
          <p:cNvSpPr/>
          <p:nvPr/>
        </p:nvSpPr>
        <p:spPr>
          <a:xfrm>
            <a:off x="793790" y="354175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This handler enables sending messages by pressing Enter, a pattern users expect from every modern chat interface. The implementation uses short-circuit evaluation as a concise way to conditionally call handleSend.</a:t>
            </a:r>
            <a:endParaRPr lang="en-US" sz="1550" dirty="0"/>
          </a:p>
        </p:txBody>
      </p:sp>
      <p:sp>
        <p:nvSpPr>
          <p:cNvPr id="7" name="Text 5"/>
          <p:cNvSpPr/>
          <p:nvPr/>
        </p:nvSpPr>
        <p:spPr>
          <a:xfrm>
            <a:off x="793790" y="440007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For production, you might want to enhance this to support Shift+Enter for multi-line messages while Enter alone sends. This would require checking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e.shiftKey</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and preventing default behavior conditionally.</a:t>
            </a:r>
            <a:endParaRPr lang="en-US" sz="1550" dirty="0"/>
          </a:p>
        </p:txBody>
      </p:sp>
      <p:sp>
        <p:nvSpPr>
          <p:cNvPr id="8" name="Shape 6"/>
          <p:cNvSpPr/>
          <p:nvPr/>
        </p:nvSpPr>
        <p:spPr>
          <a:xfrm>
            <a:off x="793790" y="5258395"/>
            <a:ext cx="13042821" cy="1160740"/>
          </a:xfrm>
          <a:prstGeom prst="roundRect">
            <a:avLst>
              <a:gd name="adj" fmla="val 15389"/>
            </a:avLst>
          </a:prstGeom>
          <a:solidFill>
            <a:srgbClr val="D9D9D9"/>
          </a:solidFill>
          <a:ln/>
        </p:spPr>
      </p:sp>
      <p:pic>
        <p:nvPicPr>
          <p:cNvPr id="9" name="Image 0" descr="preencoded.png">    </p:cNvPr>
          <p:cNvPicPr>
            <a:picLocks noChangeAspect="1"/>
          </p:cNvPicPr>
          <p:nvPr/>
        </p:nvPicPr>
        <p:blipFill>
          <a:blip r:embed="rId1"/>
          <a:stretch>
            <a:fillRect/>
          </a:stretch>
        </p:blipFill>
        <p:spPr>
          <a:xfrm>
            <a:off x="992148" y="5561290"/>
            <a:ext cx="248007" cy="198358"/>
          </a:xfrm>
          <a:prstGeom prst="rect">
            <a:avLst/>
          </a:prstGeom>
        </p:spPr>
      </p:pic>
      <p:sp>
        <p:nvSpPr>
          <p:cNvPr id="10" name="Text 7"/>
          <p:cNvSpPr/>
          <p:nvPr/>
        </p:nvSpPr>
        <p:spPr>
          <a:xfrm>
            <a:off x="1438513" y="5506283"/>
            <a:ext cx="12199739" cy="635079"/>
          </a:xfrm>
          <a:prstGeom prst="rect">
            <a:avLst/>
          </a:prstGeom>
          <a:noFill/>
          <a:ln/>
        </p:spPr>
        <p:txBody>
          <a:bodyPr wrap="square" lIns="0" tIns="0" rIns="0" bIns="0" rtlCol="0" anchor="t"/>
          <a:lstStyle/>
          <a:p>
            <a:pPr algn="l" indent="0" marL="0">
              <a:lnSpc>
                <a:spcPts val="2500"/>
              </a:lnSpc>
              <a:buNone/>
            </a:pPr>
            <a:r>
              <a:rPr lang="en-US" sz="1550" b="1" dirty="0">
                <a:solidFill>
                  <a:srgbClr val="000000"/>
                </a:solidFill>
                <a:latin typeface="Readex Pro Light" pitchFamily="34" charset="0"/>
                <a:ea typeface="Readex Pro Light" pitchFamily="34" charset="-122"/>
                <a:cs typeface="Readex Pro Light" pitchFamily="34" charset="-120"/>
              </a:rPr>
              <a:t>Enhancement Idea:</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Consider adding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if (e.key === 'Enter' &amp;&amp; !e.shiftKey) { e.preventDefault(); handleSend(); }</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to support multi-line input with Shift+Enter while keeping Enter for sending.</a:t>
            </a:r>
            <a:endParaRPr lang="en-US" sz="15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793790" y="1637348"/>
            <a:ext cx="4848582"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Input Focus State Styling</a:t>
            </a:r>
            <a:endParaRPr lang="en-US" sz="3100" dirty="0"/>
          </a:p>
        </p:txBody>
      </p:sp>
      <p:sp>
        <p:nvSpPr>
          <p:cNvPr id="3" name="Shape 1"/>
          <p:cNvSpPr/>
          <p:nvPr/>
        </p:nvSpPr>
        <p:spPr>
          <a:xfrm>
            <a:off x="793790" y="2530316"/>
            <a:ext cx="13042821" cy="615196"/>
          </a:xfrm>
          <a:prstGeom prst="roundRect">
            <a:avLst>
              <a:gd name="adj" fmla="val 29036"/>
            </a:avLst>
          </a:prstGeom>
          <a:solidFill>
            <a:srgbClr val="F2F2F2"/>
          </a:solidFill>
          <a:ln/>
        </p:spPr>
      </p:sp>
      <p:sp>
        <p:nvSpPr>
          <p:cNvPr id="4" name="Shape 2"/>
          <p:cNvSpPr/>
          <p:nvPr/>
        </p:nvSpPr>
        <p:spPr>
          <a:xfrm>
            <a:off x="783908" y="2530316"/>
            <a:ext cx="13062585" cy="615196"/>
          </a:xfrm>
          <a:prstGeom prst="roundRect">
            <a:avLst>
              <a:gd name="adj" fmla="val 4839"/>
            </a:avLst>
          </a:prstGeom>
          <a:solidFill>
            <a:srgbClr val="F2F2F2"/>
          </a:solidFill>
          <a:ln/>
        </p:spPr>
      </p:sp>
      <p:sp>
        <p:nvSpPr>
          <p:cNvPr id="5" name="Text 3"/>
          <p:cNvSpPr/>
          <p:nvPr/>
        </p:nvSpPr>
        <p:spPr>
          <a:xfrm>
            <a:off x="982266" y="2679144"/>
            <a:ext cx="12665869"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focus:outline-none focus:border-blue-400 focus:shadow-[0_0_15px_rgba(59,130,246,0.5)]</a:t>
            </a:r>
            <a:endParaRPr lang="en-US" sz="1550" dirty="0"/>
          </a:p>
        </p:txBody>
      </p:sp>
      <p:sp>
        <p:nvSpPr>
          <p:cNvPr id="6" name="Text 4"/>
          <p:cNvSpPr/>
          <p:nvPr/>
        </p:nvSpPr>
        <p:spPr>
          <a:xfrm>
            <a:off x="793790" y="336875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focus state styling creates an eye-catching glow effect when the input is active. This visual feedback helps users understand where keyboard input will be directed and reinforces the futuristic aesthetic.</a:t>
            </a:r>
            <a:endParaRPr lang="en-US" sz="1550" dirty="0"/>
          </a:p>
        </p:txBody>
      </p:sp>
      <p:sp>
        <p:nvSpPr>
          <p:cNvPr id="7" name="Shape 5"/>
          <p:cNvSpPr/>
          <p:nvPr/>
        </p:nvSpPr>
        <p:spPr>
          <a:xfrm>
            <a:off x="793790" y="4227076"/>
            <a:ext cx="4215289" cy="1824276"/>
          </a:xfrm>
          <a:prstGeom prst="roundRect">
            <a:avLst>
              <a:gd name="adj" fmla="val 9792"/>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sp>
        <p:nvSpPr>
          <p:cNvPr id="8" name="Text 6"/>
          <p:cNvSpPr/>
          <p:nvPr/>
        </p:nvSpPr>
        <p:spPr>
          <a:xfrm>
            <a:off x="1015008" y="4448294"/>
            <a:ext cx="2836069"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Remove Default Outline</a:t>
            </a:r>
            <a:endParaRPr lang="en-US" sz="1950" dirty="0"/>
          </a:p>
        </p:txBody>
      </p:sp>
      <p:sp>
        <p:nvSpPr>
          <p:cNvPr id="9" name="Text 7"/>
          <p:cNvSpPr/>
          <p:nvPr/>
        </p:nvSpPr>
        <p:spPr>
          <a:xfrm>
            <a:off x="1015008" y="4877514"/>
            <a:ext cx="3772853"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focus:outline-none</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removes the browser's default focus ring, which often clashes with custom designs</a:t>
            </a:r>
            <a:endParaRPr lang="en-US" sz="1550" dirty="0"/>
          </a:p>
        </p:txBody>
      </p:sp>
      <p:sp>
        <p:nvSpPr>
          <p:cNvPr id="10" name="Shape 8"/>
          <p:cNvSpPr/>
          <p:nvPr/>
        </p:nvSpPr>
        <p:spPr>
          <a:xfrm>
            <a:off x="5207437" y="4227076"/>
            <a:ext cx="4215408" cy="1824276"/>
          </a:xfrm>
          <a:prstGeom prst="roundRect">
            <a:avLst>
              <a:gd name="adj" fmla="val 9792"/>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sp>
        <p:nvSpPr>
          <p:cNvPr id="11" name="Text 9"/>
          <p:cNvSpPr/>
          <p:nvPr/>
        </p:nvSpPr>
        <p:spPr>
          <a:xfrm>
            <a:off x="5428655" y="444829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Custom Border</a:t>
            </a:r>
            <a:endParaRPr lang="en-US" sz="1950" dirty="0"/>
          </a:p>
        </p:txBody>
      </p:sp>
      <p:sp>
        <p:nvSpPr>
          <p:cNvPr id="12" name="Text 10"/>
          <p:cNvSpPr/>
          <p:nvPr/>
        </p:nvSpPr>
        <p:spPr>
          <a:xfrm>
            <a:off x="5428655" y="4877514"/>
            <a:ext cx="3772972"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focus:border-blue-400</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changes border color to a bright blue, creating clear visual feedback</a:t>
            </a:r>
            <a:endParaRPr lang="en-US" sz="1550" dirty="0"/>
          </a:p>
        </p:txBody>
      </p:sp>
      <p:sp>
        <p:nvSpPr>
          <p:cNvPr id="13" name="Shape 11"/>
          <p:cNvSpPr/>
          <p:nvPr/>
        </p:nvSpPr>
        <p:spPr>
          <a:xfrm>
            <a:off x="9621203" y="4227076"/>
            <a:ext cx="4215289" cy="1824276"/>
          </a:xfrm>
          <a:prstGeom prst="roundRect">
            <a:avLst>
              <a:gd name="adj" fmla="val 9792"/>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sp>
        <p:nvSpPr>
          <p:cNvPr id="14" name="Text 12"/>
          <p:cNvSpPr/>
          <p:nvPr/>
        </p:nvSpPr>
        <p:spPr>
          <a:xfrm>
            <a:off x="9842421" y="444829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Glow Effect</a:t>
            </a:r>
            <a:endParaRPr lang="en-US" sz="1950" dirty="0"/>
          </a:p>
        </p:txBody>
      </p:sp>
      <p:sp>
        <p:nvSpPr>
          <p:cNvPr id="15" name="Text 13"/>
          <p:cNvSpPr/>
          <p:nvPr/>
        </p:nvSpPr>
        <p:spPr>
          <a:xfrm>
            <a:off x="9842421" y="4877514"/>
            <a:ext cx="3772853"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Custom box shadow creates a glowing halo around the input, making it prominent without being distracting</a:t>
            </a:r>
            <a:endParaRPr lang="en-US" sz="1550" dirty="0"/>
          </a:p>
        </p:txBody>
      </p:sp>
      <p:sp>
        <p:nvSpPr>
          <p:cNvPr id="16" name="Text 14"/>
          <p:cNvSpPr/>
          <p:nvPr/>
        </p:nvSpPr>
        <p:spPr>
          <a:xfrm>
            <a:off x="793790" y="6274594"/>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transition-all duration-300</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ensures smooth animation when transitioning between states, adding polish to the interaction.</a:t>
            </a:r>
            <a:endParaRPr lang="en-US" sz="15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793790" y="1493996"/>
            <a:ext cx="4987885"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Button State Management</a:t>
            </a:r>
            <a:endParaRPr lang="en-US" sz="3100" dirty="0"/>
          </a:p>
        </p:txBody>
      </p:sp>
      <p:sp>
        <p:nvSpPr>
          <p:cNvPr id="3" name="Shape 1"/>
          <p:cNvSpPr/>
          <p:nvPr/>
        </p:nvSpPr>
        <p:spPr>
          <a:xfrm>
            <a:off x="793790" y="2386965"/>
            <a:ext cx="13042821" cy="615196"/>
          </a:xfrm>
          <a:prstGeom prst="roundRect">
            <a:avLst>
              <a:gd name="adj" fmla="val 29036"/>
            </a:avLst>
          </a:prstGeom>
          <a:solidFill>
            <a:srgbClr val="F2F2F2"/>
          </a:solidFill>
          <a:ln/>
        </p:spPr>
      </p:sp>
      <p:sp>
        <p:nvSpPr>
          <p:cNvPr id="4" name="Shape 2"/>
          <p:cNvSpPr/>
          <p:nvPr/>
        </p:nvSpPr>
        <p:spPr>
          <a:xfrm>
            <a:off x="783908" y="2386965"/>
            <a:ext cx="13062585" cy="615196"/>
          </a:xfrm>
          <a:prstGeom prst="roundRect">
            <a:avLst>
              <a:gd name="adj" fmla="val 4839"/>
            </a:avLst>
          </a:prstGeom>
          <a:solidFill>
            <a:srgbClr val="F2F2F2"/>
          </a:solidFill>
          <a:ln/>
        </p:spPr>
      </p:sp>
      <p:sp>
        <p:nvSpPr>
          <p:cNvPr id="5" name="Text 3"/>
          <p:cNvSpPr/>
          <p:nvPr/>
        </p:nvSpPr>
        <p:spPr>
          <a:xfrm>
            <a:off x="982266" y="2535793"/>
            <a:ext cx="12665869"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disabled={isLoading || !input.trim()}</a:t>
            </a:r>
            <a:endParaRPr lang="en-US" sz="1550" dirty="0"/>
          </a:p>
        </p:txBody>
      </p:sp>
      <p:sp>
        <p:nvSpPr>
          <p:cNvPr id="6" name="Text 4"/>
          <p:cNvSpPr/>
          <p:nvPr/>
        </p:nvSpPr>
        <p:spPr>
          <a:xfrm>
            <a:off x="793790" y="322540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button intelligently disables during API calls and when the input is empty or whitespace-only. This prevents duplicate submissions and empty messages, common issues in conversational interfaces. The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trim()</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check ensures users can't send messages containing only spaces.</a:t>
            </a:r>
            <a:endParaRPr lang="en-US" sz="1550" dirty="0"/>
          </a:p>
        </p:txBody>
      </p:sp>
      <p:sp>
        <p:nvSpPr>
          <p:cNvPr id="7" name="Text 5"/>
          <p:cNvSpPr/>
          <p:nvPr/>
        </p:nvSpPr>
        <p:spPr>
          <a:xfrm>
            <a:off x="793790" y="4282083"/>
            <a:ext cx="2493526"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Visual Disabled State</a:t>
            </a:r>
            <a:endParaRPr lang="en-US" sz="1950" dirty="0"/>
          </a:p>
        </p:txBody>
      </p:sp>
      <p:sp>
        <p:nvSpPr>
          <p:cNvPr id="8" name="Text 6"/>
          <p:cNvSpPr/>
          <p:nvPr/>
        </p:nvSpPr>
        <p:spPr>
          <a:xfrm>
            <a:off x="793790" y="4790599"/>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When disabled, the button receives multiple style changes: reduced opacity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opacity-50</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cursor change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cursor-not-allowed</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and removal of hover effects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disabled:hover:bg-transparent</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t>
            </a:r>
            <a:endParaRPr lang="en-US" sz="1550" dirty="0"/>
          </a:p>
        </p:txBody>
      </p:sp>
      <p:sp>
        <p:nvSpPr>
          <p:cNvPr id="9" name="Text 7"/>
          <p:cNvSpPr/>
          <p:nvPr/>
        </p:nvSpPr>
        <p:spPr>
          <a:xfrm>
            <a:off x="793790" y="5921812"/>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These combined changes make it obvious the button is not interactive, preventing user confusion.</a:t>
            </a:r>
            <a:endParaRPr lang="en-US" sz="1550" dirty="0"/>
          </a:p>
        </p:txBody>
      </p:sp>
      <p:sp>
        <p:nvSpPr>
          <p:cNvPr id="10" name="Text 8"/>
          <p:cNvSpPr/>
          <p:nvPr/>
        </p:nvSpPr>
        <p:spPr>
          <a:xfrm>
            <a:off x="7564874" y="428208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Accessibility Label</a:t>
            </a:r>
            <a:endParaRPr lang="en-US" sz="1950" dirty="0"/>
          </a:p>
        </p:txBody>
      </p:sp>
      <p:sp>
        <p:nvSpPr>
          <p:cNvPr id="11" name="Text 9"/>
          <p:cNvSpPr/>
          <p:nvPr/>
        </p:nvSpPr>
        <p:spPr>
          <a:xfrm>
            <a:off x="7564874" y="4790599"/>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aria-label="Chat input"</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attribute provides context for screen readers. While visual users see the placeholder text and surrounding UI, screen reader users benefit from explicit labeling that describes the input's purpose.</a:t>
            </a:r>
            <a:endParaRPr lang="en-US" sz="15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793790" y="2184797"/>
            <a:ext cx="4012406"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Button Hover Effects</a:t>
            </a:r>
            <a:endParaRPr lang="en-US" sz="3100" dirty="0"/>
          </a:p>
        </p:txBody>
      </p:sp>
      <p:sp>
        <p:nvSpPr>
          <p:cNvPr id="3" name="Shape 1"/>
          <p:cNvSpPr/>
          <p:nvPr/>
        </p:nvSpPr>
        <p:spPr>
          <a:xfrm>
            <a:off x="793790" y="3077766"/>
            <a:ext cx="13042821" cy="1250275"/>
          </a:xfrm>
          <a:prstGeom prst="roundRect">
            <a:avLst>
              <a:gd name="adj" fmla="val 14287"/>
            </a:avLst>
          </a:prstGeom>
          <a:solidFill>
            <a:srgbClr val="F2F2F2"/>
          </a:solidFill>
          <a:ln/>
        </p:spPr>
      </p:sp>
      <p:sp>
        <p:nvSpPr>
          <p:cNvPr id="4" name="Shape 2"/>
          <p:cNvSpPr/>
          <p:nvPr/>
        </p:nvSpPr>
        <p:spPr>
          <a:xfrm>
            <a:off x="783908" y="3077766"/>
            <a:ext cx="13062585" cy="1250275"/>
          </a:xfrm>
          <a:prstGeom prst="roundRect">
            <a:avLst>
              <a:gd name="adj" fmla="val 2381"/>
            </a:avLst>
          </a:prstGeom>
          <a:solidFill>
            <a:srgbClr val="F2F2F2"/>
          </a:solidFill>
          <a:ln/>
        </p:spPr>
      </p:sp>
      <p:sp>
        <p:nvSpPr>
          <p:cNvPr id="5" name="Text 3"/>
          <p:cNvSpPr/>
          <p:nvPr/>
        </p:nvSpPr>
        <p:spPr>
          <a:xfrm>
            <a:off x="982266" y="3226594"/>
            <a:ext cx="12665869"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hover:bg-blue-700/50 hover:border-blue-400 hover:text-white shadow-[0_0_10px_rgba(59,130,246,0.3)] hover:shadow-[0_0_20px_rgba(59,130,246,0.6)]</a:t>
            </a:r>
            <a:endParaRPr lang="en-US" sz="1550" dirty="0"/>
          </a:p>
        </p:txBody>
      </p:sp>
      <p:sp>
        <p:nvSpPr>
          <p:cNvPr id="6" name="Text 4"/>
          <p:cNvSpPr/>
          <p:nvPr/>
        </p:nvSpPr>
        <p:spPr>
          <a:xfrm>
            <a:off x="793790" y="455128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button's hover state creates an engaging interaction with multiple simultaneous changes: background brightens, border intensifies, text turns pure white, and the glow effect doubles in intensity. These coordinated changes create satisfying tactile feedback.</a:t>
            </a:r>
            <a:endParaRPr lang="en-US" sz="1550" dirty="0"/>
          </a:p>
        </p:txBody>
      </p:sp>
      <p:sp>
        <p:nvSpPr>
          <p:cNvPr id="7" name="Text 5"/>
          <p:cNvSpPr/>
          <p:nvPr/>
        </p:nvSpPr>
        <p:spPr>
          <a:xfrm>
            <a:off x="793790" y="540960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glow effect is achieved through custom box shadows using Tailwind's arbitrary value syntax. The normal state has a subtle 10px blur, while hover increases to 20px blur, creating the impression of the button "powering up" when activated.</a:t>
            </a:r>
            <a:endParaRPr lang="en-US" sz="15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793790" y="1663660"/>
            <a:ext cx="4593788"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Type Safety Throughout</a:t>
            </a:r>
            <a:endParaRPr lang="en-US" sz="3100" dirty="0"/>
          </a:p>
        </p:txBody>
      </p:sp>
      <p:sp>
        <p:nvSpPr>
          <p:cNvPr id="3" name="Text 1"/>
          <p:cNvSpPr/>
          <p:nvPr/>
        </p:nvSpPr>
        <p:spPr>
          <a:xfrm>
            <a:off x="793790" y="2556629"/>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component demonstrates excellent TypeScript usage with explicit type annotations and proper type imports. This type safety prevents entire categories of bugs and makes the code easier to maintain.</a:t>
            </a:r>
            <a:endParaRPr lang="en-US" sz="1550" dirty="0"/>
          </a:p>
        </p:txBody>
      </p:sp>
      <p:sp>
        <p:nvSpPr>
          <p:cNvPr id="4" name="Shape 2"/>
          <p:cNvSpPr/>
          <p:nvPr/>
        </p:nvSpPr>
        <p:spPr>
          <a:xfrm>
            <a:off x="793790" y="3414951"/>
            <a:ext cx="6422231" cy="1476256"/>
          </a:xfrm>
          <a:prstGeom prst="roundRect">
            <a:avLst>
              <a:gd name="adj" fmla="val 12100"/>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5" name="Text 3"/>
          <p:cNvSpPr/>
          <p:nvPr/>
        </p:nvSpPr>
        <p:spPr>
          <a:xfrm>
            <a:off x="999768" y="362092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Props and State</a:t>
            </a:r>
            <a:endParaRPr lang="en-US" sz="1950" dirty="0"/>
          </a:p>
        </p:txBody>
      </p:sp>
      <p:sp>
        <p:nvSpPr>
          <p:cNvPr id="6" name="Text 4"/>
          <p:cNvSpPr/>
          <p:nvPr/>
        </p:nvSpPr>
        <p:spPr>
          <a:xfrm>
            <a:off x="999768" y="4050149"/>
            <a:ext cx="601027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All state variables are explicitly typed: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ChatMessage[]</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string</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boolean</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string | null</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and complex location objects</a:t>
            </a:r>
            <a:endParaRPr lang="en-US" sz="1550" dirty="0"/>
          </a:p>
        </p:txBody>
      </p:sp>
      <p:sp>
        <p:nvSpPr>
          <p:cNvPr id="7" name="Shape 5"/>
          <p:cNvSpPr/>
          <p:nvPr/>
        </p:nvSpPr>
        <p:spPr>
          <a:xfrm>
            <a:off x="7414379" y="3414951"/>
            <a:ext cx="6422231" cy="1476256"/>
          </a:xfrm>
          <a:prstGeom prst="roundRect">
            <a:avLst>
              <a:gd name="adj" fmla="val 12100"/>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8" name="Text 6"/>
          <p:cNvSpPr/>
          <p:nvPr/>
        </p:nvSpPr>
        <p:spPr>
          <a:xfrm>
            <a:off x="7620357" y="362092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Ref Types</a:t>
            </a:r>
            <a:endParaRPr lang="en-US" sz="1950" dirty="0"/>
          </a:p>
        </p:txBody>
      </p:sp>
      <p:sp>
        <p:nvSpPr>
          <p:cNvPr id="9" name="Text 7"/>
          <p:cNvSpPr/>
          <p:nvPr/>
        </p:nvSpPr>
        <p:spPr>
          <a:xfrm>
            <a:off x="7620357" y="4050149"/>
            <a:ext cx="601027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Refs are typed with their expected content: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Chat | null</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and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HTMLDivElement | null</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enabling type-safe access</a:t>
            </a:r>
            <a:endParaRPr lang="en-US" sz="1550" dirty="0"/>
          </a:p>
        </p:txBody>
      </p:sp>
      <p:sp>
        <p:nvSpPr>
          <p:cNvPr id="10" name="Shape 8"/>
          <p:cNvSpPr/>
          <p:nvPr/>
        </p:nvSpPr>
        <p:spPr>
          <a:xfrm>
            <a:off x="793790" y="5089565"/>
            <a:ext cx="6422231" cy="1476256"/>
          </a:xfrm>
          <a:prstGeom prst="roundRect">
            <a:avLst>
              <a:gd name="adj" fmla="val 12100"/>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1" name="Text 9"/>
          <p:cNvSpPr/>
          <p:nvPr/>
        </p:nvSpPr>
        <p:spPr>
          <a:xfrm>
            <a:off x="999768" y="529554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Event Handlers</a:t>
            </a:r>
            <a:endParaRPr lang="en-US" sz="1950" dirty="0"/>
          </a:p>
        </p:txBody>
      </p:sp>
      <p:sp>
        <p:nvSpPr>
          <p:cNvPr id="12" name="Text 10"/>
          <p:cNvSpPr/>
          <p:nvPr/>
        </p:nvSpPr>
        <p:spPr>
          <a:xfrm>
            <a:off x="999768" y="5724763"/>
            <a:ext cx="601027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React synthetic events are properly typed, with TypeScript inferring parameter types from event handler registrations</a:t>
            </a:r>
            <a:endParaRPr lang="en-US" sz="1550" dirty="0"/>
          </a:p>
        </p:txBody>
      </p:sp>
      <p:sp>
        <p:nvSpPr>
          <p:cNvPr id="13" name="Shape 11"/>
          <p:cNvSpPr/>
          <p:nvPr/>
        </p:nvSpPr>
        <p:spPr>
          <a:xfrm>
            <a:off x="7414379" y="5089565"/>
            <a:ext cx="6422231" cy="1476256"/>
          </a:xfrm>
          <a:prstGeom prst="roundRect">
            <a:avLst>
              <a:gd name="adj" fmla="val 12100"/>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4" name="Text 12"/>
          <p:cNvSpPr/>
          <p:nvPr/>
        </p:nvSpPr>
        <p:spPr>
          <a:xfrm>
            <a:off x="7620357" y="529554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API Responses</a:t>
            </a:r>
            <a:endParaRPr lang="en-US" sz="1950" dirty="0"/>
          </a:p>
        </p:txBody>
      </p:sp>
      <p:sp>
        <p:nvSpPr>
          <p:cNvPr id="15" name="Text 13"/>
          <p:cNvSpPr/>
          <p:nvPr/>
        </p:nvSpPr>
        <p:spPr>
          <a:xfrm>
            <a:off x="7620357" y="5724763"/>
            <a:ext cx="601027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Imported types from the SDK ensure API interactions are type-safe, catching mismatches at compile time</a:t>
            </a:r>
            <a:endParaRPr lang="en-US" sz="15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793790" y="1166574"/>
            <a:ext cx="5362932"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Performance Characteristics</a:t>
            </a:r>
            <a:endParaRPr lang="en-US" sz="3100" dirty="0"/>
          </a:p>
        </p:txBody>
      </p:sp>
      <p:sp>
        <p:nvSpPr>
          <p:cNvPr id="3" name="Text 1"/>
          <p:cNvSpPr/>
          <p:nvPr/>
        </p:nvSpPr>
        <p:spPr>
          <a:xfrm>
            <a:off x="793790" y="205954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This implementation balances functionality with performance through several smart decisions. Let's analyze the performance implications of key patterns:</a:t>
            </a:r>
            <a:endParaRPr lang="en-US" sz="1550" dirty="0"/>
          </a:p>
        </p:txBody>
      </p:sp>
      <p:sp>
        <p:nvSpPr>
          <p:cNvPr id="4" name="Text 2"/>
          <p:cNvSpPr/>
          <p:nvPr/>
        </p:nvSpPr>
        <p:spPr>
          <a:xfrm>
            <a:off x="793790" y="311622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Efficient Re-renders</a:t>
            </a:r>
            <a:endParaRPr lang="en-US" sz="1950" dirty="0"/>
          </a:p>
        </p:txBody>
      </p:sp>
      <p:sp>
        <p:nvSpPr>
          <p:cNvPr id="5" name="Text 3"/>
          <p:cNvSpPr/>
          <p:nvPr/>
        </p:nvSpPr>
        <p:spPr>
          <a:xfrm>
            <a:off x="793790" y="3624739"/>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React's reconciliation means only changed messages re-render during streaming. The messages array is updated immutably, allowing React to detect that unchanged messages haven't changed via shallow comparison.</a:t>
            </a:r>
            <a:endParaRPr lang="en-US" sz="1550" dirty="0"/>
          </a:p>
        </p:txBody>
      </p:sp>
      <p:sp>
        <p:nvSpPr>
          <p:cNvPr id="6" name="Text 4"/>
          <p:cNvSpPr/>
          <p:nvPr/>
        </p:nvSpPr>
        <p:spPr>
          <a:xfrm>
            <a:off x="793790" y="5073491"/>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auto-scroll effect depends only on the messages array, preventing unnecessary scroll calculations when other state changes.</a:t>
            </a:r>
            <a:endParaRPr lang="en-US" sz="1550" dirty="0"/>
          </a:p>
        </p:txBody>
      </p:sp>
      <p:sp>
        <p:nvSpPr>
          <p:cNvPr id="7" name="Text 5"/>
          <p:cNvSpPr/>
          <p:nvPr/>
        </p:nvSpPr>
        <p:spPr>
          <a:xfrm>
            <a:off x="7564874" y="311622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Lazy Initialization</a:t>
            </a:r>
            <a:endParaRPr lang="en-US" sz="1950" dirty="0"/>
          </a:p>
        </p:txBody>
      </p:sp>
      <p:sp>
        <p:nvSpPr>
          <p:cNvPr id="8" name="Text 6"/>
          <p:cNvSpPr/>
          <p:nvPr/>
        </p:nvSpPr>
        <p:spPr>
          <a:xfrm>
            <a:off x="7564874" y="3624739"/>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Chat instance is created only on first send, not during component mount. This defers expensive initialization until actually needed, improving initial render performance.</a:t>
            </a:r>
            <a:endParaRPr lang="en-US" sz="1550" dirty="0"/>
          </a:p>
        </p:txBody>
      </p:sp>
      <p:sp>
        <p:nvSpPr>
          <p:cNvPr id="9" name="Text 7"/>
          <p:cNvSpPr/>
          <p:nvPr/>
        </p:nvSpPr>
        <p:spPr>
          <a:xfrm>
            <a:off x="7564874" y="4755952"/>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Geolocation is requested on mount because permission dialogs can't be triggered by user gestures in all browsers, but the result doesn't block rendering.</a:t>
            </a:r>
            <a:endParaRPr lang="en-US" sz="1550" dirty="0"/>
          </a:p>
        </p:txBody>
      </p:sp>
      <p:sp>
        <p:nvSpPr>
          <p:cNvPr id="10" name="Text 8"/>
          <p:cNvSpPr/>
          <p:nvPr/>
        </p:nvSpPr>
        <p:spPr>
          <a:xfrm>
            <a:off x="793790" y="642794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For very large conversations (hundreds of messages), you might want to implement virtualization using libraries like react-window to render only visible messages. Current implementation would slow down with 500+ messages.</a:t>
            </a:r>
            <a:endParaRPr lang="en-US" sz="15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793790" y="2041446"/>
            <a:ext cx="7107317"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Memory Management Considerations</a:t>
            </a:r>
            <a:endParaRPr lang="en-US" sz="3100" dirty="0"/>
          </a:p>
        </p:txBody>
      </p:sp>
      <p:sp>
        <p:nvSpPr>
          <p:cNvPr id="3" name="Text 1"/>
          <p:cNvSpPr/>
          <p:nvPr/>
        </p:nvSpPr>
        <p:spPr>
          <a:xfrm>
            <a:off x="793790" y="293441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component maintains conversation history in memory, which grows unbounded as the conversation continues. For production applications, consider implementing history management strategies:</a:t>
            </a:r>
            <a:endParaRPr lang="en-US" sz="1550" dirty="0"/>
          </a:p>
        </p:txBody>
      </p:sp>
      <p:sp>
        <p:nvSpPr>
          <p:cNvPr id="4" name="Shape 2"/>
          <p:cNvSpPr/>
          <p:nvPr/>
        </p:nvSpPr>
        <p:spPr>
          <a:xfrm>
            <a:off x="793790" y="3792736"/>
            <a:ext cx="446484" cy="446484"/>
          </a:xfrm>
          <a:prstGeom prst="roundRect">
            <a:avLst>
              <a:gd name="adj" fmla="val 4000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5" name="Text 3"/>
          <p:cNvSpPr/>
          <p:nvPr/>
        </p:nvSpPr>
        <p:spPr>
          <a:xfrm>
            <a:off x="868204" y="3829943"/>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000000"/>
                </a:solidFill>
                <a:latin typeface="Readex Pro" pitchFamily="34" charset="0"/>
                <a:ea typeface="Readex Pro" pitchFamily="34" charset="-122"/>
                <a:cs typeface="Readex Pro" pitchFamily="34" charset="-120"/>
              </a:rPr>
              <a:t>1</a:t>
            </a:r>
            <a:endParaRPr lang="en-US" sz="2300" dirty="0"/>
          </a:p>
        </p:txBody>
      </p:sp>
      <p:sp>
        <p:nvSpPr>
          <p:cNvPr id="6" name="Text 4"/>
          <p:cNvSpPr/>
          <p:nvPr/>
        </p:nvSpPr>
        <p:spPr>
          <a:xfrm>
            <a:off x="1438632" y="3860959"/>
            <a:ext cx="3537347" cy="620316"/>
          </a:xfrm>
          <a:prstGeom prst="rect">
            <a:avLst/>
          </a:prstGeom>
          <a:noFill/>
          <a:ln/>
        </p:spPr>
        <p:txBody>
          <a:bodyPr wrap="squar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Context Window Management</a:t>
            </a:r>
            <a:endParaRPr lang="en-US" sz="1950" dirty="0"/>
          </a:p>
        </p:txBody>
      </p:sp>
      <p:sp>
        <p:nvSpPr>
          <p:cNvPr id="7" name="Text 5"/>
          <p:cNvSpPr/>
          <p:nvPr/>
        </p:nvSpPr>
        <p:spPr>
          <a:xfrm>
            <a:off x="1438632" y="4600337"/>
            <a:ext cx="3537347" cy="1587698"/>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Keep only recent messages in the UI while persisting full history. Gemini models have context limits, so you'll need to truncate history for API calls anyway.</a:t>
            </a:r>
            <a:endParaRPr lang="en-US" sz="1550" dirty="0"/>
          </a:p>
        </p:txBody>
      </p:sp>
      <p:sp>
        <p:nvSpPr>
          <p:cNvPr id="8" name="Shape 6"/>
          <p:cNvSpPr/>
          <p:nvPr/>
        </p:nvSpPr>
        <p:spPr>
          <a:xfrm>
            <a:off x="5223986" y="3792736"/>
            <a:ext cx="446484" cy="446484"/>
          </a:xfrm>
          <a:prstGeom prst="roundRect">
            <a:avLst>
              <a:gd name="adj" fmla="val 4000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9" name="Text 7"/>
          <p:cNvSpPr/>
          <p:nvPr/>
        </p:nvSpPr>
        <p:spPr>
          <a:xfrm>
            <a:off x="5298400" y="3829943"/>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000000"/>
                </a:solidFill>
                <a:latin typeface="Readex Pro" pitchFamily="34" charset="0"/>
                <a:ea typeface="Readex Pro" pitchFamily="34" charset="-122"/>
                <a:cs typeface="Readex Pro" pitchFamily="34" charset="-120"/>
              </a:rPr>
              <a:t>2</a:t>
            </a:r>
            <a:endParaRPr lang="en-US" sz="2300" dirty="0"/>
          </a:p>
        </p:txBody>
      </p:sp>
      <p:sp>
        <p:nvSpPr>
          <p:cNvPr id="10" name="Text 8"/>
          <p:cNvSpPr/>
          <p:nvPr/>
        </p:nvSpPr>
        <p:spPr>
          <a:xfrm>
            <a:off x="5868829" y="386095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Persistence Layer</a:t>
            </a:r>
            <a:endParaRPr lang="en-US" sz="1950" dirty="0"/>
          </a:p>
        </p:txBody>
      </p:sp>
      <p:sp>
        <p:nvSpPr>
          <p:cNvPr id="11" name="Text 9"/>
          <p:cNvSpPr/>
          <p:nvPr/>
        </p:nvSpPr>
        <p:spPr>
          <a:xfrm>
            <a:off x="5868829" y="4290179"/>
            <a:ext cx="3537466" cy="1587698"/>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Store conversation history in localStorage or a database. This enables conversation resume after page refresh and reduces memory usage.</a:t>
            </a:r>
            <a:endParaRPr lang="en-US" sz="1550" dirty="0"/>
          </a:p>
        </p:txBody>
      </p:sp>
      <p:sp>
        <p:nvSpPr>
          <p:cNvPr id="12" name="Shape 10"/>
          <p:cNvSpPr/>
          <p:nvPr/>
        </p:nvSpPr>
        <p:spPr>
          <a:xfrm>
            <a:off x="9654302" y="3792736"/>
            <a:ext cx="446484" cy="446484"/>
          </a:xfrm>
          <a:prstGeom prst="roundRect">
            <a:avLst>
              <a:gd name="adj" fmla="val 4000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3" name="Text 11"/>
          <p:cNvSpPr/>
          <p:nvPr/>
        </p:nvSpPr>
        <p:spPr>
          <a:xfrm>
            <a:off x="9728716" y="3829943"/>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000000"/>
                </a:solidFill>
                <a:latin typeface="Readex Pro" pitchFamily="34" charset="0"/>
                <a:ea typeface="Readex Pro" pitchFamily="34" charset="-122"/>
                <a:cs typeface="Readex Pro" pitchFamily="34" charset="-120"/>
              </a:rPr>
              <a:t>3</a:t>
            </a:r>
            <a:endParaRPr lang="en-US" sz="2300" dirty="0"/>
          </a:p>
        </p:txBody>
      </p:sp>
      <p:sp>
        <p:nvSpPr>
          <p:cNvPr id="14" name="Text 12"/>
          <p:cNvSpPr/>
          <p:nvPr/>
        </p:nvSpPr>
        <p:spPr>
          <a:xfrm>
            <a:off x="10299144" y="386095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Message Pagination</a:t>
            </a:r>
            <a:endParaRPr lang="en-US" sz="1950" dirty="0"/>
          </a:p>
        </p:txBody>
      </p:sp>
      <p:sp>
        <p:nvSpPr>
          <p:cNvPr id="15" name="Text 13"/>
          <p:cNvSpPr/>
          <p:nvPr/>
        </p:nvSpPr>
        <p:spPr>
          <a:xfrm>
            <a:off x="10299144" y="4290179"/>
            <a:ext cx="3537466" cy="1587698"/>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Load messages on-demand as users scroll up through history, similar to messaging apps. This keeps initial render fast regardless of conversation length.</a:t>
            </a:r>
            <a:endParaRPr lang="en-US" sz="15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793790" y="1633180"/>
            <a:ext cx="4125516"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Accessibility Features</a:t>
            </a:r>
            <a:endParaRPr lang="en-US" sz="3100" dirty="0"/>
          </a:p>
        </p:txBody>
      </p:sp>
      <p:sp>
        <p:nvSpPr>
          <p:cNvPr id="3" name="Text 1"/>
          <p:cNvSpPr/>
          <p:nvPr/>
        </p:nvSpPr>
        <p:spPr>
          <a:xfrm>
            <a:off x="793790" y="2526149"/>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component includes several accessibility features, though there's room for enhancement. Current implementations:</a:t>
            </a:r>
            <a:endParaRPr lang="en-US" sz="1550" dirty="0"/>
          </a:p>
        </p:txBody>
      </p:sp>
      <p:sp>
        <p:nvSpPr>
          <p:cNvPr id="4" name="Shape 2"/>
          <p:cNvSpPr/>
          <p:nvPr/>
        </p:nvSpPr>
        <p:spPr>
          <a:xfrm>
            <a:off x="793790" y="3066931"/>
            <a:ext cx="6422231" cy="1824276"/>
          </a:xfrm>
          <a:prstGeom prst="roundRect">
            <a:avLst>
              <a:gd name="adj" fmla="val 6015"/>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pic>
        <p:nvPicPr>
          <p:cNvPr id="5" name="Image 0" descr="preencoded.png">    </p:cNvPr>
          <p:cNvPicPr>
            <a:picLocks noChangeAspect="1"/>
          </p:cNvPicPr>
          <p:nvPr/>
        </p:nvPicPr>
        <p:blipFill>
          <a:blip r:embed="rId1"/>
          <a:stretch>
            <a:fillRect/>
          </a:stretch>
        </p:blipFill>
        <p:spPr>
          <a:xfrm>
            <a:off x="770930" y="3066931"/>
            <a:ext cx="91440" cy="1824276"/>
          </a:xfrm>
          <a:prstGeom prst="rect">
            <a:avLst/>
          </a:prstGeom>
        </p:spPr>
      </p:pic>
      <p:sp>
        <p:nvSpPr>
          <p:cNvPr id="6" name="Text 3"/>
          <p:cNvSpPr/>
          <p:nvPr/>
        </p:nvSpPr>
        <p:spPr>
          <a:xfrm>
            <a:off x="1083588" y="328814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Semantic HTML</a:t>
            </a:r>
            <a:endParaRPr lang="en-US" sz="1950" dirty="0"/>
          </a:p>
        </p:txBody>
      </p:sp>
      <p:sp>
        <p:nvSpPr>
          <p:cNvPr id="7" name="Text 4"/>
          <p:cNvSpPr/>
          <p:nvPr/>
        </p:nvSpPr>
        <p:spPr>
          <a:xfrm>
            <a:off x="1083588" y="3717369"/>
            <a:ext cx="5911215"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Proper use of semantic elements like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button</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and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input</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ensures keyboard navigation and screen reader compatibility work correctly out of the box.</a:t>
            </a:r>
            <a:endParaRPr lang="en-US" sz="1550" dirty="0"/>
          </a:p>
        </p:txBody>
      </p:sp>
      <p:sp>
        <p:nvSpPr>
          <p:cNvPr id="8" name="Shape 5"/>
          <p:cNvSpPr/>
          <p:nvPr/>
        </p:nvSpPr>
        <p:spPr>
          <a:xfrm>
            <a:off x="7414379" y="3066931"/>
            <a:ext cx="6422231" cy="1824276"/>
          </a:xfrm>
          <a:prstGeom prst="roundRect">
            <a:avLst>
              <a:gd name="adj" fmla="val 6015"/>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pic>
        <p:nvPicPr>
          <p:cNvPr id="9" name="Image 1" descr="preencoded.png">    </p:cNvPr>
          <p:cNvPicPr>
            <a:picLocks noChangeAspect="1"/>
          </p:cNvPicPr>
          <p:nvPr/>
        </p:nvPicPr>
        <p:blipFill>
          <a:blip r:embed="rId2"/>
          <a:stretch>
            <a:fillRect/>
          </a:stretch>
        </p:blipFill>
        <p:spPr>
          <a:xfrm>
            <a:off x="7391519" y="3066931"/>
            <a:ext cx="91440" cy="1824276"/>
          </a:xfrm>
          <a:prstGeom prst="rect">
            <a:avLst/>
          </a:prstGeom>
        </p:spPr>
      </p:pic>
      <p:sp>
        <p:nvSpPr>
          <p:cNvPr id="10" name="Text 6"/>
          <p:cNvSpPr/>
          <p:nvPr/>
        </p:nvSpPr>
        <p:spPr>
          <a:xfrm>
            <a:off x="7704177" y="328814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ARIA Labels</a:t>
            </a:r>
            <a:endParaRPr lang="en-US" sz="1950" dirty="0"/>
          </a:p>
        </p:txBody>
      </p:sp>
      <p:sp>
        <p:nvSpPr>
          <p:cNvPr id="11" name="Text 7"/>
          <p:cNvSpPr/>
          <p:nvPr/>
        </p:nvSpPr>
        <p:spPr>
          <a:xfrm>
            <a:off x="7704177" y="3717369"/>
            <a:ext cx="591121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input has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aria-label</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and errors use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role="alert"</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to provide context for assistive technologies.</a:t>
            </a:r>
            <a:endParaRPr lang="en-US" sz="1550" dirty="0"/>
          </a:p>
        </p:txBody>
      </p:sp>
      <p:sp>
        <p:nvSpPr>
          <p:cNvPr id="12" name="Shape 8"/>
          <p:cNvSpPr/>
          <p:nvPr/>
        </p:nvSpPr>
        <p:spPr>
          <a:xfrm>
            <a:off x="793790" y="5089565"/>
            <a:ext cx="6422231" cy="1506736"/>
          </a:xfrm>
          <a:prstGeom prst="roundRect">
            <a:avLst>
              <a:gd name="adj" fmla="val 7282"/>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pic>
        <p:nvPicPr>
          <p:cNvPr id="13" name="Image 2" descr="preencoded.png">    </p:cNvPr>
          <p:cNvPicPr>
            <a:picLocks noChangeAspect="1"/>
          </p:cNvPicPr>
          <p:nvPr/>
        </p:nvPicPr>
        <p:blipFill>
          <a:blip r:embed="rId3"/>
          <a:stretch>
            <a:fillRect/>
          </a:stretch>
        </p:blipFill>
        <p:spPr>
          <a:xfrm>
            <a:off x="770930" y="5089565"/>
            <a:ext cx="91440" cy="1506736"/>
          </a:xfrm>
          <a:prstGeom prst="rect">
            <a:avLst/>
          </a:prstGeom>
        </p:spPr>
      </p:pic>
      <p:sp>
        <p:nvSpPr>
          <p:cNvPr id="14" name="Text 9"/>
          <p:cNvSpPr/>
          <p:nvPr/>
        </p:nvSpPr>
        <p:spPr>
          <a:xfrm>
            <a:off x="1083588" y="531078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Keyboard Support</a:t>
            </a:r>
            <a:endParaRPr lang="en-US" sz="1950" dirty="0"/>
          </a:p>
        </p:txBody>
      </p:sp>
      <p:sp>
        <p:nvSpPr>
          <p:cNvPr id="15" name="Text 10"/>
          <p:cNvSpPr/>
          <p:nvPr/>
        </p:nvSpPr>
        <p:spPr>
          <a:xfrm>
            <a:off x="1083588" y="5740003"/>
            <a:ext cx="591121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Enter key submission and proper focus management enable keyboard-only operation without mouse dependence.</a:t>
            </a:r>
            <a:endParaRPr lang="en-US" sz="1550" dirty="0"/>
          </a:p>
        </p:txBody>
      </p:sp>
      <p:sp>
        <p:nvSpPr>
          <p:cNvPr id="16" name="Shape 11"/>
          <p:cNvSpPr/>
          <p:nvPr/>
        </p:nvSpPr>
        <p:spPr>
          <a:xfrm>
            <a:off x="7414379" y="5089565"/>
            <a:ext cx="6422231" cy="1506736"/>
          </a:xfrm>
          <a:prstGeom prst="roundRect">
            <a:avLst>
              <a:gd name="adj" fmla="val 7282"/>
            </a:avLst>
          </a:prstGeom>
          <a:solidFill>
            <a:srgbClr val="FFFFFF">
              <a:alpha val="95000"/>
            </a:srgbClr>
          </a:solidFill>
          <a:ln w="22860">
            <a:solidFill>
              <a:srgbClr val="CCCCCC"/>
            </a:solidFill>
            <a:prstDash val="solid"/>
          </a:ln>
          <a:effectLst>
            <a:outerShdw sx="100000" sy="100000" kx="0" ky="0" algn="bl" rotWithShape="0" blurRad="297180" dist="0" dir="0">
              <a:srgbClr val="333333">
                <a:alpha val="10000"/>
              </a:srgbClr>
            </a:outerShdw>
          </a:effectLst>
        </p:spPr>
      </p:sp>
      <p:pic>
        <p:nvPicPr>
          <p:cNvPr id="17" name="Image 3" descr="preencoded.png">    </p:cNvPr>
          <p:cNvPicPr>
            <a:picLocks noChangeAspect="1"/>
          </p:cNvPicPr>
          <p:nvPr/>
        </p:nvPicPr>
        <p:blipFill>
          <a:blip r:embed="rId4"/>
          <a:stretch>
            <a:fillRect/>
          </a:stretch>
        </p:blipFill>
        <p:spPr>
          <a:xfrm>
            <a:off x="7391519" y="5089565"/>
            <a:ext cx="91440" cy="1506736"/>
          </a:xfrm>
          <a:prstGeom prst="rect">
            <a:avLst/>
          </a:prstGeom>
        </p:spPr>
      </p:pic>
      <p:sp>
        <p:nvSpPr>
          <p:cNvPr id="18" name="Text 12"/>
          <p:cNvSpPr/>
          <p:nvPr/>
        </p:nvSpPr>
        <p:spPr>
          <a:xfrm>
            <a:off x="7704177" y="531078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Visual Feedback</a:t>
            </a:r>
            <a:endParaRPr lang="en-US" sz="1950" dirty="0"/>
          </a:p>
        </p:txBody>
      </p:sp>
      <p:sp>
        <p:nvSpPr>
          <p:cNvPr id="19" name="Text 13"/>
          <p:cNvSpPr/>
          <p:nvPr/>
        </p:nvSpPr>
        <p:spPr>
          <a:xfrm>
            <a:off x="7704177" y="5740003"/>
            <a:ext cx="591121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Disabled states and loading indicators provide clear visual feedback about system state.</a:t>
            </a:r>
            <a:endParaRPr lang="en-US" sz="15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793790" y="1913215"/>
            <a:ext cx="7626072"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Accessibility Improvements to Consider</a:t>
            </a:r>
            <a:endParaRPr lang="en-US" sz="3100" dirty="0"/>
          </a:p>
        </p:txBody>
      </p:sp>
      <p:sp>
        <p:nvSpPr>
          <p:cNvPr id="3" name="Text 1"/>
          <p:cNvSpPr/>
          <p:nvPr/>
        </p:nvSpPr>
        <p:spPr>
          <a:xfrm>
            <a:off x="793790" y="2806184"/>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While the current implementation is accessible, several enhancements would improve the experience for users with disabilities:</a:t>
            </a:r>
            <a:endParaRPr lang="en-US" sz="1550" dirty="0"/>
          </a:p>
        </p:txBody>
      </p:sp>
      <p:sp>
        <p:nvSpPr>
          <p:cNvPr id="4" name="Text 2"/>
          <p:cNvSpPr/>
          <p:nvPr/>
        </p:nvSpPr>
        <p:spPr>
          <a:xfrm>
            <a:off x="793790" y="3545324"/>
            <a:ext cx="3050738"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Live Region for Messages</a:t>
            </a:r>
            <a:endParaRPr lang="en-US" sz="1950" dirty="0"/>
          </a:p>
        </p:txBody>
      </p:sp>
      <p:sp>
        <p:nvSpPr>
          <p:cNvPr id="5" name="Text 3"/>
          <p:cNvSpPr/>
          <p:nvPr/>
        </p:nvSpPr>
        <p:spPr>
          <a:xfrm>
            <a:off x="793790" y="4053840"/>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Add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role="log"</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and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aria-live="polite"</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to the messages container so screen readers announce new messages as they arrive. Currently, users might not know when the AI responds.</a:t>
            </a:r>
            <a:endParaRPr lang="en-US" sz="1550" dirty="0"/>
          </a:p>
        </p:txBody>
      </p:sp>
      <p:sp>
        <p:nvSpPr>
          <p:cNvPr id="6" name="Text 4"/>
          <p:cNvSpPr/>
          <p:nvPr/>
        </p:nvSpPr>
        <p:spPr>
          <a:xfrm>
            <a:off x="793790" y="5185053"/>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Consider using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aria-live="assertive"</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for error messages to ensure they're announced immediately.</a:t>
            </a:r>
            <a:endParaRPr lang="en-US" sz="1550" dirty="0"/>
          </a:p>
        </p:txBody>
      </p:sp>
      <p:sp>
        <p:nvSpPr>
          <p:cNvPr id="7" name="Text 5"/>
          <p:cNvSpPr/>
          <p:nvPr/>
        </p:nvSpPr>
        <p:spPr>
          <a:xfrm>
            <a:off x="7564874" y="3545324"/>
            <a:ext cx="296989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Loading Announcements</a:t>
            </a:r>
            <a:endParaRPr lang="en-US" sz="1950" dirty="0"/>
          </a:p>
        </p:txBody>
      </p:sp>
      <p:sp>
        <p:nvSpPr>
          <p:cNvPr id="8" name="Text 6"/>
          <p:cNvSpPr/>
          <p:nvPr/>
        </p:nvSpPr>
        <p:spPr>
          <a:xfrm>
            <a:off x="7564874" y="4053840"/>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loading state should be announced to screen readers. Add an invisible element with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aria-live="polite"</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that updates when loading begins and ends.</a:t>
            </a:r>
            <a:endParaRPr lang="en-US" sz="1550" dirty="0"/>
          </a:p>
        </p:txBody>
      </p:sp>
      <p:sp>
        <p:nvSpPr>
          <p:cNvPr id="9" name="Text 7"/>
          <p:cNvSpPr/>
          <p:nvPr/>
        </p:nvSpPr>
        <p:spPr>
          <a:xfrm>
            <a:off x="7564874" y="5185053"/>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Message count updates could also be announced: "15 messages in conversation" helps screen reader users understand conversation length.</a:t>
            </a:r>
            <a:endParaRPr lang="en-US" sz="15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744855" y="655796"/>
            <a:ext cx="4247317" cy="465534"/>
          </a:xfrm>
          <a:prstGeom prst="rect">
            <a:avLst/>
          </a:prstGeom>
          <a:noFill/>
          <a:ln/>
        </p:spPr>
        <p:txBody>
          <a:bodyPr wrap="none" lIns="0" tIns="0" rIns="0" bIns="0" rtlCol="0" anchor="t"/>
          <a:lstStyle/>
          <a:p>
            <a:pPr algn="l" indent="0" marL="0">
              <a:lnSpc>
                <a:spcPts val="3650"/>
              </a:lnSpc>
              <a:buNone/>
            </a:pPr>
            <a:r>
              <a:rPr lang="en-US" sz="2900" dirty="0">
                <a:solidFill>
                  <a:srgbClr val="111111"/>
                </a:solidFill>
                <a:latin typeface="Readex Pro" pitchFamily="34" charset="0"/>
                <a:ea typeface="Readex Pro" pitchFamily="34" charset="-122"/>
                <a:cs typeface="Readex Pro" pitchFamily="34" charset="-120"/>
              </a:rPr>
              <a:t>Security Considerations</a:t>
            </a:r>
            <a:endParaRPr lang="en-US" sz="2900" dirty="0"/>
          </a:p>
        </p:txBody>
      </p:sp>
      <p:sp>
        <p:nvSpPr>
          <p:cNvPr id="3" name="Text 1"/>
          <p:cNvSpPr/>
          <p:nvPr/>
        </p:nvSpPr>
        <p:spPr>
          <a:xfrm>
            <a:off x="744855" y="1493758"/>
            <a:ext cx="13140690" cy="297894"/>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The implementation demonstrates awareness of security best practices, but several areas require attention for production deployment:</a:t>
            </a:r>
            <a:endParaRPr lang="en-US" sz="1450" dirty="0"/>
          </a:p>
        </p:txBody>
      </p:sp>
      <p:sp>
        <p:nvSpPr>
          <p:cNvPr id="4" name="Shape 2"/>
          <p:cNvSpPr/>
          <p:nvPr/>
        </p:nvSpPr>
        <p:spPr>
          <a:xfrm>
            <a:off x="744855" y="2001083"/>
            <a:ext cx="6477238" cy="2838331"/>
          </a:xfrm>
          <a:prstGeom prst="roundRect">
            <a:avLst>
              <a:gd name="adj" fmla="val 5905"/>
            </a:avLst>
          </a:prstGeom>
          <a:solidFill>
            <a:srgbClr val="F3F3F3"/>
          </a:solidFill>
          <a:ln w="7620">
            <a:solidFill>
              <a:srgbClr val="CCCCCC"/>
            </a:solidFill>
            <a:prstDash val="solid"/>
          </a:ln>
          <a:effectLst>
            <a:outerShdw sx="100000" sy="100000" kx="0" ky="0" algn="bl" rotWithShape="0" blurRad="278130" dist="0" dir="0">
              <a:srgbClr val="333333">
                <a:alpha val="10000"/>
              </a:srgbClr>
            </a:outerShdw>
          </a:effectLst>
        </p:spPr>
      </p:sp>
      <p:pic>
        <p:nvPicPr>
          <p:cNvPr id="5" name="Image 0" descr="preencoded.png">    </p:cNvPr>
          <p:cNvPicPr>
            <a:picLocks noChangeAspect="1"/>
          </p:cNvPicPr>
          <p:nvPr/>
        </p:nvPicPr>
        <p:blipFill>
          <a:blip r:embed="rId1"/>
          <a:stretch>
            <a:fillRect/>
          </a:stretch>
        </p:blipFill>
        <p:spPr>
          <a:xfrm>
            <a:off x="938689" y="2194917"/>
            <a:ext cx="558641" cy="558641"/>
          </a:xfrm>
          <a:prstGeom prst="rect">
            <a:avLst/>
          </a:prstGeom>
        </p:spPr>
      </p:pic>
      <p:sp>
        <p:nvSpPr>
          <p:cNvPr id="6" name="Text 3"/>
          <p:cNvSpPr/>
          <p:nvPr/>
        </p:nvSpPr>
        <p:spPr>
          <a:xfrm>
            <a:off x="938689" y="2939772"/>
            <a:ext cx="6089571" cy="297894"/>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key</a:t>
            </a:r>
            <a:endParaRPr lang="en-US" sz="1450" dirty="0"/>
          </a:p>
        </p:txBody>
      </p:sp>
      <p:sp>
        <p:nvSpPr>
          <p:cNvPr id="7" name="Text 4"/>
          <p:cNvSpPr/>
          <p:nvPr/>
        </p:nvSpPr>
        <p:spPr>
          <a:xfrm>
            <a:off x="938689" y="3349347"/>
            <a:ext cx="2434471" cy="290870"/>
          </a:xfrm>
          <a:prstGeom prst="rect">
            <a:avLst/>
          </a:prstGeom>
          <a:noFill/>
          <a:ln/>
        </p:spPr>
        <p:txBody>
          <a:bodyPr wrap="none" lIns="0" tIns="0" rIns="0" bIns="0" rtlCol="0" anchor="t"/>
          <a:lstStyle/>
          <a:p>
            <a:pPr algn="l" indent="0" marL="0">
              <a:lnSpc>
                <a:spcPts val="2250"/>
              </a:lnSpc>
              <a:buNone/>
            </a:pPr>
            <a:r>
              <a:rPr lang="en-US" sz="1800" dirty="0">
                <a:solidFill>
                  <a:srgbClr val="000000"/>
                </a:solidFill>
                <a:latin typeface="Readex Pro" pitchFamily="34" charset="0"/>
                <a:ea typeface="Readex Pro" pitchFamily="34" charset="-122"/>
                <a:cs typeface="Readex Pro" pitchFamily="34" charset="-120"/>
              </a:rPr>
              <a:t>API Key Management</a:t>
            </a:r>
            <a:endParaRPr lang="en-US" sz="1800" dirty="0"/>
          </a:p>
        </p:txBody>
      </p:sp>
      <p:sp>
        <p:nvSpPr>
          <p:cNvPr id="8" name="Text 5"/>
          <p:cNvSpPr/>
          <p:nvPr/>
        </p:nvSpPr>
        <p:spPr>
          <a:xfrm>
            <a:off x="938689" y="3751898"/>
            <a:ext cx="6089571" cy="893683"/>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Using environment variables for API keys is good, but these should NEVER be exposed in client-side code. Move API calls to a backend proxy to keep keys secure.</a:t>
            </a:r>
            <a:endParaRPr lang="en-US" sz="1450" dirty="0"/>
          </a:p>
        </p:txBody>
      </p:sp>
      <p:sp>
        <p:nvSpPr>
          <p:cNvPr id="9" name="Shape 6"/>
          <p:cNvSpPr/>
          <p:nvPr/>
        </p:nvSpPr>
        <p:spPr>
          <a:xfrm>
            <a:off x="7408307" y="2001083"/>
            <a:ext cx="6477238" cy="2838331"/>
          </a:xfrm>
          <a:prstGeom prst="roundRect">
            <a:avLst>
              <a:gd name="adj" fmla="val 5905"/>
            </a:avLst>
          </a:prstGeom>
          <a:solidFill>
            <a:srgbClr val="F3F3F3"/>
          </a:solidFill>
          <a:ln w="7620">
            <a:solidFill>
              <a:srgbClr val="CCCCCC"/>
            </a:solidFill>
            <a:prstDash val="solid"/>
          </a:ln>
          <a:effectLst>
            <a:outerShdw sx="100000" sy="100000" kx="0" ky="0" algn="bl" rotWithShape="0" blurRad="278130" dist="0" dir="0">
              <a:srgbClr val="333333">
                <a:alpha val="10000"/>
              </a:srgbClr>
            </a:outerShdw>
          </a:effectLst>
        </p:spPr>
      </p:sp>
      <p:pic>
        <p:nvPicPr>
          <p:cNvPr id="10" name="Image 1" descr="preencoded.png">    </p:cNvPr>
          <p:cNvPicPr>
            <a:picLocks noChangeAspect="1"/>
          </p:cNvPicPr>
          <p:nvPr/>
        </p:nvPicPr>
        <p:blipFill>
          <a:blip r:embed="rId2"/>
          <a:stretch>
            <a:fillRect/>
          </a:stretch>
        </p:blipFill>
        <p:spPr>
          <a:xfrm>
            <a:off x="7602141" y="2194917"/>
            <a:ext cx="558641" cy="558641"/>
          </a:xfrm>
          <a:prstGeom prst="rect">
            <a:avLst/>
          </a:prstGeom>
        </p:spPr>
      </p:pic>
      <p:sp>
        <p:nvSpPr>
          <p:cNvPr id="11" name="Text 7"/>
          <p:cNvSpPr/>
          <p:nvPr/>
        </p:nvSpPr>
        <p:spPr>
          <a:xfrm>
            <a:off x="7602141" y="2939772"/>
            <a:ext cx="6089571" cy="297894"/>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shield</a:t>
            </a:r>
            <a:endParaRPr lang="en-US" sz="1450" dirty="0"/>
          </a:p>
        </p:txBody>
      </p:sp>
      <p:sp>
        <p:nvSpPr>
          <p:cNvPr id="12" name="Text 8"/>
          <p:cNvSpPr/>
          <p:nvPr/>
        </p:nvSpPr>
        <p:spPr>
          <a:xfrm>
            <a:off x="7602141" y="3349347"/>
            <a:ext cx="2327791" cy="290870"/>
          </a:xfrm>
          <a:prstGeom prst="rect">
            <a:avLst/>
          </a:prstGeom>
          <a:noFill/>
          <a:ln/>
        </p:spPr>
        <p:txBody>
          <a:bodyPr wrap="none" lIns="0" tIns="0" rIns="0" bIns="0" rtlCol="0" anchor="t"/>
          <a:lstStyle/>
          <a:p>
            <a:pPr algn="l" indent="0" marL="0">
              <a:lnSpc>
                <a:spcPts val="2250"/>
              </a:lnSpc>
              <a:buNone/>
            </a:pPr>
            <a:r>
              <a:rPr lang="en-US" sz="1800" dirty="0">
                <a:solidFill>
                  <a:srgbClr val="000000"/>
                </a:solidFill>
                <a:latin typeface="Readex Pro" pitchFamily="34" charset="0"/>
                <a:ea typeface="Readex Pro" pitchFamily="34" charset="-122"/>
                <a:cs typeface="Readex Pro" pitchFamily="34" charset="-120"/>
              </a:rPr>
              <a:t>Input Sanitization</a:t>
            </a:r>
            <a:endParaRPr lang="en-US" sz="1800" dirty="0"/>
          </a:p>
        </p:txBody>
      </p:sp>
      <p:sp>
        <p:nvSpPr>
          <p:cNvPr id="13" name="Text 9"/>
          <p:cNvSpPr/>
          <p:nvPr/>
        </p:nvSpPr>
        <p:spPr>
          <a:xfrm>
            <a:off x="7602141" y="3751898"/>
            <a:ext cx="6089571" cy="893683"/>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While the markdown parser is relatively safe, be cautious with user content. Consider using a library like DOMPurify for HTML sanitization if expanding markdown support.</a:t>
            </a:r>
            <a:endParaRPr lang="en-US" sz="1450" dirty="0"/>
          </a:p>
        </p:txBody>
      </p:sp>
      <p:sp>
        <p:nvSpPr>
          <p:cNvPr id="14" name="Shape 10"/>
          <p:cNvSpPr/>
          <p:nvPr/>
        </p:nvSpPr>
        <p:spPr>
          <a:xfrm>
            <a:off x="744855" y="5025628"/>
            <a:ext cx="6477238" cy="2548057"/>
          </a:xfrm>
          <a:prstGeom prst="roundRect">
            <a:avLst>
              <a:gd name="adj" fmla="val 6578"/>
            </a:avLst>
          </a:prstGeom>
          <a:solidFill>
            <a:srgbClr val="F3F3F3"/>
          </a:solidFill>
          <a:ln w="7620">
            <a:solidFill>
              <a:srgbClr val="CCCCCC"/>
            </a:solidFill>
            <a:prstDash val="solid"/>
          </a:ln>
          <a:effectLst>
            <a:outerShdw sx="100000" sy="100000" kx="0" ky="0" algn="bl" rotWithShape="0" blurRad="278130" dist="0" dir="0">
              <a:srgbClr val="333333">
                <a:alpha val="10000"/>
              </a:srgbClr>
            </a:outerShdw>
          </a:effectLst>
        </p:spPr>
      </p:sp>
      <p:pic>
        <p:nvPicPr>
          <p:cNvPr id="15" name="Image 2" descr="preencoded.png">    </p:cNvPr>
          <p:cNvPicPr>
            <a:picLocks noChangeAspect="1"/>
          </p:cNvPicPr>
          <p:nvPr/>
        </p:nvPicPr>
        <p:blipFill>
          <a:blip r:embed="rId3"/>
          <a:stretch>
            <a:fillRect/>
          </a:stretch>
        </p:blipFill>
        <p:spPr>
          <a:xfrm>
            <a:off x="938689" y="5219462"/>
            <a:ext cx="558641" cy="558641"/>
          </a:xfrm>
          <a:prstGeom prst="rect">
            <a:avLst/>
          </a:prstGeom>
        </p:spPr>
      </p:pic>
      <p:sp>
        <p:nvSpPr>
          <p:cNvPr id="16" name="Text 11"/>
          <p:cNvSpPr/>
          <p:nvPr/>
        </p:nvSpPr>
        <p:spPr>
          <a:xfrm>
            <a:off x="938689" y="5964317"/>
            <a:ext cx="6089571" cy="297894"/>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link</a:t>
            </a:r>
            <a:endParaRPr lang="en-US" sz="1450" dirty="0"/>
          </a:p>
        </p:txBody>
      </p:sp>
      <p:sp>
        <p:nvSpPr>
          <p:cNvPr id="17" name="Text 12"/>
          <p:cNvSpPr/>
          <p:nvPr/>
        </p:nvSpPr>
        <p:spPr>
          <a:xfrm>
            <a:off x="938689" y="6373892"/>
            <a:ext cx="2327791" cy="290870"/>
          </a:xfrm>
          <a:prstGeom prst="rect">
            <a:avLst/>
          </a:prstGeom>
          <a:noFill/>
          <a:ln/>
        </p:spPr>
        <p:txBody>
          <a:bodyPr wrap="none" lIns="0" tIns="0" rIns="0" bIns="0" rtlCol="0" anchor="t"/>
          <a:lstStyle/>
          <a:p>
            <a:pPr algn="l" indent="0" marL="0">
              <a:lnSpc>
                <a:spcPts val="2250"/>
              </a:lnSpc>
              <a:buNone/>
            </a:pPr>
            <a:r>
              <a:rPr lang="en-US" sz="1800" dirty="0">
                <a:solidFill>
                  <a:srgbClr val="000000"/>
                </a:solidFill>
                <a:latin typeface="Readex Pro" pitchFamily="34" charset="0"/>
                <a:ea typeface="Readex Pro" pitchFamily="34" charset="-122"/>
                <a:cs typeface="Readex Pro" pitchFamily="34" charset="-120"/>
              </a:rPr>
              <a:t>Link Security</a:t>
            </a:r>
            <a:endParaRPr lang="en-US" sz="1800" dirty="0"/>
          </a:p>
        </p:txBody>
      </p:sp>
      <p:sp>
        <p:nvSpPr>
          <p:cNvPr id="18" name="Text 13"/>
          <p:cNvSpPr/>
          <p:nvPr/>
        </p:nvSpPr>
        <p:spPr>
          <a:xfrm>
            <a:off x="938689" y="6776442"/>
            <a:ext cx="6089571" cy="603409"/>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External links use </a:t>
            </a:r>
            <a:pPr algn="l" indent="0" marL="0">
              <a:lnSpc>
                <a:spcPts val="23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rel="noopener noreferrer"</a:t>
            </a:r>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 preventing tabnabbing attacks. This is correct implementation for user security.</a:t>
            </a:r>
            <a:endParaRPr lang="en-US" sz="1450" dirty="0"/>
          </a:p>
        </p:txBody>
      </p:sp>
      <p:sp>
        <p:nvSpPr>
          <p:cNvPr id="19" name="Shape 14"/>
          <p:cNvSpPr/>
          <p:nvPr/>
        </p:nvSpPr>
        <p:spPr>
          <a:xfrm>
            <a:off x="7408307" y="5025628"/>
            <a:ext cx="6477238" cy="2548057"/>
          </a:xfrm>
          <a:prstGeom prst="roundRect">
            <a:avLst>
              <a:gd name="adj" fmla="val 6578"/>
            </a:avLst>
          </a:prstGeom>
          <a:solidFill>
            <a:srgbClr val="F3F3F3"/>
          </a:solidFill>
          <a:ln w="7620">
            <a:solidFill>
              <a:srgbClr val="CCCCCC"/>
            </a:solidFill>
            <a:prstDash val="solid"/>
          </a:ln>
          <a:effectLst>
            <a:outerShdw sx="100000" sy="100000" kx="0" ky="0" algn="bl" rotWithShape="0" blurRad="278130" dist="0" dir="0">
              <a:srgbClr val="333333">
                <a:alpha val="10000"/>
              </a:srgbClr>
            </a:outerShdw>
          </a:effectLst>
        </p:spPr>
      </p:sp>
      <p:pic>
        <p:nvPicPr>
          <p:cNvPr id="20" name="Image 3" descr="preencoded.png">    </p:cNvPr>
          <p:cNvPicPr>
            <a:picLocks noChangeAspect="1"/>
          </p:cNvPicPr>
          <p:nvPr/>
        </p:nvPicPr>
        <p:blipFill>
          <a:blip r:embed="rId4"/>
          <a:stretch>
            <a:fillRect/>
          </a:stretch>
        </p:blipFill>
        <p:spPr>
          <a:xfrm>
            <a:off x="7602141" y="5219462"/>
            <a:ext cx="558641" cy="558641"/>
          </a:xfrm>
          <a:prstGeom prst="rect">
            <a:avLst/>
          </a:prstGeom>
        </p:spPr>
      </p:pic>
      <p:sp>
        <p:nvSpPr>
          <p:cNvPr id="21" name="Text 15"/>
          <p:cNvSpPr/>
          <p:nvPr/>
        </p:nvSpPr>
        <p:spPr>
          <a:xfrm>
            <a:off x="7602141" y="5964317"/>
            <a:ext cx="6089571" cy="297894"/>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lock</a:t>
            </a:r>
            <a:endParaRPr lang="en-US" sz="1450" dirty="0"/>
          </a:p>
        </p:txBody>
      </p:sp>
      <p:sp>
        <p:nvSpPr>
          <p:cNvPr id="22" name="Text 16"/>
          <p:cNvSpPr/>
          <p:nvPr/>
        </p:nvSpPr>
        <p:spPr>
          <a:xfrm>
            <a:off x="7602141" y="6373892"/>
            <a:ext cx="2327791" cy="290870"/>
          </a:xfrm>
          <a:prstGeom prst="rect">
            <a:avLst/>
          </a:prstGeom>
          <a:noFill/>
          <a:ln/>
        </p:spPr>
        <p:txBody>
          <a:bodyPr wrap="none" lIns="0" tIns="0" rIns="0" bIns="0" rtlCol="0" anchor="t"/>
          <a:lstStyle/>
          <a:p>
            <a:pPr algn="l" indent="0" marL="0">
              <a:lnSpc>
                <a:spcPts val="2250"/>
              </a:lnSpc>
              <a:buNone/>
            </a:pPr>
            <a:r>
              <a:rPr lang="en-US" sz="1800" dirty="0">
                <a:solidFill>
                  <a:srgbClr val="000000"/>
                </a:solidFill>
                <a:latin typeface="Readex Pro" pitchFamily="34" charset="0"/>
                <a:ea typeface="Readex Pro" pitchFamily="34" charset="-122"/>
                <a:cs typeface="Readex Pro" pitchFamily="34" charset="-120"/>
              </a:rPr>
              <a:t>Rate Limiting</a:t>
            </a:r>
            <a:endParaRPr lang="en-US" sz="1800" dirty="0"/>
          </a:p>
        </p:txBody>
      </p:sp>
      <p:sp>
        <p:nvSpPr>
          <p:cNvPr id="23" name="Text 17"/>
          <p:cNvSpPr/>
          <p:nvPr/>
        </p:nvSpPr>
        <p:spPr>
          <a:xfrm>
            <a:off x="7602141" y="6776442"/>
            <a:ext cx="6089571" cy="595789"/>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No rate limiting is implemented. Malicious users could spam the API. Implement client-side throttling and server-side rate limits.</a:t>
            </a:r>
            <a:endParaRPr lang="en-US" sz="14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793790" y="1154192"/>
            <a:ext cx="5471993"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Moving API Calls to Backend</a:t>
            </a:r>
            <a:endParaRPr lang="en-US" sz="3100" dirty="0"/>
          </a:p>
        </p:txBody>
      </p:sp>
      <p:sp>
        <p:nvSpPr>
          <p:cNvPr id="3" name="Text 1"/>
          <p:cNvSpPr/>
          <p:nvPr/>
        </p:nvSpPr>
        <p:spPr>
          <a:xfrm>
            <a:off x="793790" y="2047161"/>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For production applications, API calls should go through your backend rather than directly from the client. This architectural change provides multiple benefits:</a:t>
            </a:r>
            <a:endParaRPr lang="en-US" sz="1550" dirty="0"/>
          </a:p>
        </p:txBody>
      </p:sp>
      <p:sp>
        <p:nvSpPr>
          <p:cNvPr id="4" name="Text 2"/>
          <p:cNvSpPr/>
          <p:nvPr/>
        </p:nvSpPr>
        <p:spPr>
          <a:xfrm>
            <a:off x="793790" y="310384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Security Benefits</a:t>
            </a:r>
            <a:endParaRPr lang="en-US" sz="1950" dirty="0"/>
          </a:p>
        </p:txBody>
      </p:sp>
      <p:sp>
        <p:nvSpPr>
          <p:cNvPr id="5" name="Text 3"/>
          <p:cNvSpPr/>
          <p:nvPr/>
        </p:nvSpPr>
        <p:spPr>
          <a:xfrm>
            <a:off x="793790" y="3612356"/>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API keys stay on the server, never exposed to clients</a:t>
            </a:r>
            <a:endParaRPr lang="en-US" sz="1550" dirty="0"/>
          </a:p>
        </p:txBody>
      </p:sp>
      <p:sp>
        <p:nvSpPr>
          <p:cNvPr id="6" name="Text 4"/>
          <p:cNvSpPr/>
          <p:nvPr/>
        </p:nvSpPr>
        <p:spPr>
          <a:xfrm>
            <a:off x="793790" y="3999309"/>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Implement authentication and authorization</a:t>
            </a:r>
            <a:endParaRPr lang="en-US" sz="1550" dirty="0"/>
          </a:p>
        </p:txBody>
      </p:sp>
      <p:sp>
        <p:nvSpPr>
          <p:cNvPr id="7" name="Text 5"/>
          <p:cNvSpPr/>
          <p:nvPr/>
        </p:nvSpPr>
        <p:spPr>
          <a:xfrm>
            <a:off x="793790" y="438626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Rate limiting per user or IP address</a:t>
            </a:r>
            <a:endParaRPr lang="en-US" sz="1550" dirty="0"/>
          </a:p>
        </p:txBody>
      </p:sp>
      <p:sp>
        <p:nvSpPr>
          <p:cNvPr id="8" name="Text 6"/>
          <p:cNvSpPr/>
          <p:nvPr/>
        </p:nvSpPr>
        <p:spPr>
          <a:xfrm>
            <a:off x="793790" y="4773216"/>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Request logging and monitoring</a:t>
            </a:r>
            <a:endParaRPr lang="en-US" sz="1550" dirty="0"/>
          </a:p>
        </p:txBody>
      </p:sp>
      <p:sp>
        <p:nvSpPr>
          <p:cNvPr id="9" name="Text 7"/>
          <p:cNvSpPr/>
          <p:nvPr/>
        </p:nvSpPr>
        <p:spPr>
          <a:xfrm>
            <a:off x="793790" y="5160169"/>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Content filtering and moderation</a:t>
            </a:r>
            <a:endParaRPr lang="en-US" sz="1550" dirty="0"/>
          </a:p>
        </p:txBody>
      </p:sp>
      <p:sp>
        <p:nvSpPr>
          <p:cNvPr id="10" name="Text 8"/>
          <p:cNvSpPr/>
          <p:nvPr/>
        </p:nvSpPr>
        <p:spPr>
          <a:xfrm>
            <a:off x="7564874" y="3103840"/>
            <a:ext cx="2859286"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Implementation Pattern</a:t>
            </a:r>
            <a:endParaRPr lang="en-US" sz="1950" dirty="0"/>
          </a:p>
        </p:txBody>
      </p:sp>
      <p:sp>
        <p:nvSpPr>
          <p:cNvPr id="11" name="Text 9"/>
          <p:cNvSpPr/>
          <p:nvPr/>
        </p:nvSpPr>
        <p:spPr>
          <a:xfrm>
            <a:off x="7564874" y="3612356"/>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Replace direct SDK calls with fetch requests to your backend:</a:t>
            </a:r>
            <a:endParaRPr lang="en-US" sz="1550" dirty="0"/>
          </a:p>
        </p:txBody>
      </p:sp>
      <p:sp>
        <p:nvSpPr>
          <p:cNvPr id="12" name="Shape 10"/>
          <p:cNvSpPr/>
          <p:nvPr/>
        </p:nvSpPr>
        <p:spPr>
          <a:xfrm>
            <a:off x="7564874" y="4153138"/>
            <a:ext cx="6279356" cy="1885355"/>
          </a:xfrm>
          <a:prstGeom prst="roundRect">
            <a:avLst>
              <a:gd name="adj" fmla="val 9474"/>
            </a:avLst>
          </a:prstGeom>
          <a:solidFill>
            <a:srgbClr val="F2F2F2"/>
          </a:solidFill>
          <a:ln/>
        </p:spPr>
      </p:sp>
      <p:sp>
        <p:nvSpPr>
          <p:cNvPr id="13" name="Shape 11"/>
          <p:cNvSpPr/>
          <p:nvPr/>
        </p:nvSpPr>
        <p:spPr>
          <a:xfrm>
            <a:off x="7554992" y="4153138"/>
            <a:ext cx="6299121" cy="1885355"/>
          </a:xfrm>
          <a:prstGeom prst="roundRect">
            <a:avLst>
              <a:gd name="adj" fmla="val 1579"/>
            </a:avLst>
          </a:prstGeom>
          <a:solidFill>
            <a:srgbClr val="F2F2F2"/>
          </a:solidFill>
          <a:ln/>
        </p:spPr>
      </p:sp>
      <p:sp>
        <p:nvSpPr>
          <p:cNvPr id="14" name="Text 12"/>
          <p:cNvSpPr/>
          <p:nvPr/>
        </p:nvSpPr>
        <p:spPr>
          <a:xfrm>
            <a:off x="7753350" y="4301966"/>
            <a:ext cx="5902404" cy="1587698"/>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const response = await fetch('/api/chat', {  method: 'POST',  body: JSON.stringify({ message: input }),  headers: { 'Content-Type': 'application/json' }});</a:t>
            </a:r>
            <a:endParaRPr lang="en-US" sz="1550" dirty="0"/>
          </a:p>
        </p:txBody>
      </p:sp>
      <p:sp>
        <p:nvSpPr>
          <p:cNvPr id="15" name="Text 13"/>
          <p:cNvSpPr/>
          <p:nvPr/>
        </p:nvSpPr>
        <p:spPr>
          <a:xfrm>
            <a:off x="7564874" y="6261735"/>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backend proxies to Gemini and streams responses back to the client using Server-Sent Events or WebSockets.</a:t>
            </a:r>
            <a:endParaRPr lang="en-US" sz="15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793790" y="1626394"/>
            <a:ext cx="3969425"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Testing Strategies</a:t>
            </a:r>
            <a:endParaRPr lang="en-US" sz="3100" dirty="0"/>
          </a:p>
        </p:txBody>
      </p:sp>
      <p:sp>
        <p:nvSpPr>
          <p:cNvPr id="3" name="Text 1"/>
          <p:cNvSpPr/>
          <p:nvPr/>
        </p:nvSpPr>
        <p:spPr>
          <a:xfrm>
            <a:off x="793790" y="2519363"/>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 component this complex requires thorough testing. Consider implementing these test categories:</a:t>
            </a:r>
            <a:endParaRPr lang="en-US" sz="1550" dirty="0"/>
          </a:p>
        </p:txBody>
      </p:sp>
      <p:sp>
        <p:nvSpPr>
          <p:cNvPr id="4" name="Text 2"/>
          <p:cNvSpPr/>
          <p:nvPr/>
        </p:nvSpPr>
        <p:spPr>
          <a:xfrm>
            <a:off x="793790" y="3060144"/>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01</a:t>
            </a:r>
            <a:endParaRPr lang="en-US" sz="1550" dirty="0"/>
          </a:p>
        </p:txBody>
      </p:sp>
      <p:pic>
        <p:nvPicPr>
          <p:cNvPr id="5" name="Image 0" descr="preencoded.png">    </p:cNvPr>
          <p:cNvPicPr>
            <a:picLocks noChangeAspect="1"/>
          </p:cNvPicPr>
          <p:nvPr/>
        </p:nvPicPr>
        <p:blipFill>
          <a:blip r:embed="rId1"/>
          <a:stretch>
            <a:fillRect/>
          </a:stretch>
        </p:blipFill>
        <p:spPr>
          <a:xfrm>
            <a:off x="793790" y="3374469"/>
            <a:ext cx="6422231" cy="22860"/>
          </a:xfrm>
          <a:prstGeom prst="rect">
            <a:avLst/>
          </a:prstGeom>
        </p:spPr>
      </p:pic>
      <p:sp>
        <p:nvSpPr>
          <p:cNvPr id="6" name="Text 3"/>
          <p:cNvSpPr/>
          <p:nvPr/>
        </p:nvSpPr>
        <p:spPr>
          <a:xfrm>
            <a:off x="793790" y="351936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Unit Tests</a:t>
            </a:r>
            <a:endParaRPr lang="en-US" sz="1950" dirty="0"/>
          </a:p>
        </p:txBody>
      </p:sp>
      <p:sp>
        <p:nvSpPr>
          <p:cNvPr id="7" name="Text 4"/>
          <p:cNvSpPr/>
          <p:nvPr/>
        </p:nvSpPr>
        <p:spPr>
          <a:xfrm>
            <a:off x="793790" y="3948589"/>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Test individual functions like SimpleMarkdown rendering, message filtering, and state update logic in isolation</a:t>
            </a:r>
            <a:endParaRPr lang="en-US" sz="1550" dirty="0"/>
          </a:p>
        </p:txBody>
      </p:sp>
      <p:sp>
        <p:nvSpPr>
          <p:cNvPr id="8" name="Text 5"/>
          <p:cNvSpPr/>
          <p:nvPr/>
        </p:nvSpPr>
        <p:spPr>
          <a:xfrm>
            <a:off x="7414379" y="3060144"/>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02</a:t>
            </a:r>
            <a:endParaRPr lang="en-US" sz="1550" dirty="0"/>
          </a:p>
        </p:txBody>
      </p:sp>
      <p:pic>
        <p:nvPicPr>
          <p:cNvPr id="9" name="Image 1" descr="preencoded.png">    </p:cNvPr>
          <p:cNvPicPr>
            <a:picLocks noChangeAspect="1"/>
          </p:cNvPicPr>
          <p:nvPr/>
        </p:nvPicPr>
        <p:blipFill>
          <a:blip r:embed="rId2"/>
          <a:stretch>
            <a:fillRect/>
          </a:stretch>
        </p:blipFill>
        <p:spPr>
          <a:xfrm>
            <a:off x="7414379" y="3374469"/>
            <a:ext cx="6422231" cy="22860"/>
          </a:xfrm>
          <a:prstGeom prst="rect">
            <a:avLst/>
          </a:prstGeom>
        </p:spPr>
      </p:pic>
      <p:sp>
        <p:nvSpPr>
          <p:cNvPr id="10" name="Text 6"/>
          <p:cNvSpPr/>
          <p:nvPr/>
        </p:nvSpPr>
        <p:spPr>
          <a:xfrm>
            <a:off x="7414379" y="351936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Integration Tests</a:t>
            </a:r>
            <a:endParaRPr lang="en-US" sz="1950" dirty="0"/>
          </a:p>
        </p:txBody>
      </p:sp>
      <p:sp>
        <p:nvSpPr>
          <p:cNvPr id="11" name="Text 7"/>
          <p:cNvSpPr/>
          <p:nvPr/>
        </p:nvSpPr>
        <p:spPr>
          <a:xfrm>
            <a:off x="7414379" y="3948589"/>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Test component behavior with mocked API responses, verifying message display, error handling, and loading states</a:t>
            </a:r>
            <a:endParaRPr lang="en-US" sz="1550" dirty="0"/>
          </a:p>
        </p:txBody>
      </p:sp>
      <p:sp>
        <p:nvSpPr>
          <p:cNvPr id="12" name="Text 8"/>
          <p:cNvSpPr/>
          <p:nvPr/>
        </p:nvSpPr>
        <p:spPr>
          <a:xfrm>
            <a:off x="793790" y="4930854"/>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03</a:t>
            </a:r>
            <a:endParaRPr lang="en-US" sz="1550" dirty="0"/>
          </a:p>
        </p:txBody>
      </p:sp>
      <p:pic>
        <p:nvPicPr>
          <p:cNvPr id="13" name="Image 2" descr="preencoded.png">    </p:cNvPr>
          <p:cNvPicPr>
            <a:picLocks noChangeAspect="1"/>
          </p:cNvPicPr>
          <p:nvPr/>
        </p:nvPicPr>
        <p:blipFill>
          <a:blip r:embed="rId3"/>
          <a:stretch>
            <a:fillRect/>
          </a:stretch>
        </p:blipFill>
        <p:spPr>
          <a:xfrm>
            <a:off x="793790" y="5225296"/>
            <a:ext cx="6422231" cy="22860"/>
          </a:xfrm>
          <a:prstGeom prst="rect">
            <a:avLst/>
          </a:prstGeom>
        </p:spPr>
      </p:pic>
      <p:sp>
        <p:nvSpPr>
          <p:cNvPr id="14" name="Text 9"/>
          <p:cNvSpPr/>
          <p:nvPr/>
        </p:nvSpPr>
        <p:spPr>
          <a:xfrm>
            <a:off x="793790" y="539007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End-to-End Tests</a:t>
            </a:r>
            <a:endParaRPr lang="en-US" sz="1950" dirty="0"/>
          </a:p>
        </p:txBody>
      </p:sp>
      <p:sp>
        <p:nvSpPr>
          <p:cNvPr id="15" name="Text 10"/>
          <p:cNvSpPr/>
          <p:nvPr/>
        </p:nvSpPr>
        <p:spPr>
          <a:xfrm>
            <a:off x="793790" y="5819299"/>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Use Playwright or Cypress to test real user flows: sending messages, receiving responses, clicking links</a:t>
            </a:r>
            <a:endParaRPr lang="en-US" sz="1550" dirty="0"/>
          </a:p>
        </p:txBody>
      </p:sp>
      <p:sp>
        <p:nvSpPr>
          <p:cNvPr id="16" name="Text 11"/>
          <p:cNvSpPr/>
          <p:nvPr/>
        </p:nvSpPr>
        <p:spPr>
          <a:xfrm>
            <a:off x="7414379" y="4930854"/>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04</a:t>
            </a:r>
            <a:endParaRPr lang="en-US" sz="1550" dirty="0"/>
          </a:p>
        </p:txBody>
      </p:sp>
      <p:pic>
        <p:nvPicPr>
          <p:cNvPr id="17" name="Image 3" descr="preencoded.png">    </p:cNvPr>
          <p:cNvPicPr>
            <a:picLocks noChangeAspect="1"/>
          </p:cNvPicPr>
          <p:nvPr/>
        </p:nvPicPr>
        <p:blipFill>
          <a:blip r:embed="rId4"/>
          <a:stretch>
            <a:fillRect/>
          </a:stretch>
        </p:blipFill>
        <p:spPr>
          <a:xfrm>
            <a:off x="7414379" y="5225296"/>
            <a:ext cx="6422231" cy="22860"/>
          </a:xfrm>
          <a:prstGeom prst="rect">
            <a:avLst/>
          </a:prstGeom>
        </p:spPr>
      </p:pic>
      <p:sp>
        <p:nvSpPr>
          <p:cNvPr id="18" name="Text 12"/>
          <p:cNvSpPr/>
          <p:nvPr/>
        </p:nvSpPr>
        <p:spPr>
          <a:xfrm>
            <a:off x="7414379" y="539007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Accessibility Tests</a:t>
            </a:r>
            <a:endParaRPr lang="en-US" sz="1950" dirty="0"/>
          </a:p>
        </p:txBody>
      </p:sp>
      <p:sp>
        <p:nvSpPr>
          <p:cNvPr id="19" name="Text 13"/>
          <p:cNvSpPr/>
          <p:nvPr/>
        </p:nvSpPr>
        <p:spPr>
          <a:xfrm>
            <a:off x="7414379" y="5819299"/>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Use tools like axe-core to automatically detect accessibility issues and test with screen readers</a:t>
            </a:r>
            <a:endParaRPr lang="en-US" sz="15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631150" y="434935"/>
            <a:ext cx="4061341" cy="394454"/>
          </a:xfrm>
          <a:prstGeom prst="rect">
            <a:avLst/>
          </a:prstGeom>
          <a:noFill/>
          <a:ln/>
        </p:spPr>
        <p:txBody>
          <a:bodyPr wrap="none" lIns="0" tIns="0" rIns="0" bIns="0" rtlCol="0" anchor="t"/>
          <a:lstStyle/>
          <a:p>
            <a:pPr algn="l" indent="0" marL="0">
              <a:lnSpc>
                <a:spcPts val="3100"/>
              </a:lnSpc>
              <a:buNone/>
            </a:pPr>
            <a:r>
              <a:rPr lang="en-US" sz="2450" dirty="0">
                <a:solidFill>
                  <a:srgbClr val="111111"/>
                </a:solidFill>
                <a:latin typeface="Readex Pro" pitchFamily="34" charset="0"/>
                <a:ea typeface="Readex Pro" pitchFamily="34" charset="-122"/>
                <a:cs typeface="Readex Pro" pitchFamily="34" charset="-120"/>
              </a:rPr>
              <a:t>Mocking Strategy for Tests</a:t>
            </a:r>
            <a:endParaRPr lang="en-US" sz="2450" dirty="0"/>
          </a:p>
        </p:txBody>
      </p:sp>
      <p:sp>
        <p:nvSpPr>
          <p:cNvPr id="3" name="Text 1"/>
          <p:cNvSpPr/>
          <p:nvPr/>
        </p:nvSpPr>
        <p:spPr>
          <a:xfrm>
            <a:off x="631150" y="1144905"/>
            <a:ext cx="13368099" cy="252413"/>
          </a:xfrm>
          <a:prstGeom prst="rect">
            <a:avLst/>
          </a:prstGeom>
          <a:noFill/>
          <a:ln/>
        </p:spPr>
        <p:txBody>
          <a:bodyPr wrap="none" lIns="0" tIns="0" rIns="0" bIns="0" rtlCol="0" anchor="t"/>
          <a:lstStyle/>
          <a:p>
            <a:pPr algn="l" indent="0" marL="0">
              <a:lnSpc>
                <a:spcPts val="1950"/>
              </a:lnSpc>
              <a:buNone/>
            </a:pPr>
            <a:r>
              <a:rPr lang="en-US" sz="1200" dirty="0">
                <a:solidFill>
                  <a:srgbClr val="000000"/>
                </a:solidFill>
                <a:latin typeface="Readex Pro Light" pitchFamily="34" charset="0"/>
                <a:ea typeface="Readex Pro Light" pitchFamily="34" charset="-122"/>
                <a:cs typeface="Readex Pro Light" pitchFamily="34" charset="-120"/>
              </a:rPr>
              <a:t>Testing conversational interfaces requires careful mocking of streaming APIs and asynchronous behavior. Here's an approach using Jest and React Testing Library:</a:t>
            </a:r>
            <a:endParaRPr lang="en-US" sz="1200" dirty="0"/>
          </a:p>
        </p:txBody>
      </p:sp>
      <p:sp>
        <p:nvSpPr>
          <p:cNvPr id="4" name="Shape 2"/>
          <p:cNvSpPr/>
          <p:nvPr/>
        </p:nvSpPr>
        <p:spPr>
          <a:xfrm>
            <a:off x="631150" y="1574840"/>
            <a:ext cx="13368099" cy="5789771"/>
          </a:xfrm>
          <a:prstGeom prst="roundRect">
            <a:avLst>
              <a:gd name="adj" fmla="val 2453"/>
            </a:avLst>
          </a:prstGeom>
          <a:solidFill>
            <a:srgbClr val="F2F2F2"/>
          </a:solidFill>
          <a:ln/>
        </p:spPr>
      </p:sp>
      <p:sp>
        <p:nvSpPr>
          <p:cNvPr id="5" name="Shape 3"/>
          <p:cNvSpPr/>
          <p:nvPr/>
        </p:nvSpPr>
        <p:spPr>
          <a:xfrm>
            <a:off x="623292" y="1574840"/>
            <a:ext cx="13383816" cy="5789771"/>
          </a:xfrm>
          <a:prstGeom prst="roundRect">
            <a:avLst>
              <a:gd name="adj" fmla="val 409"/>
            </a:avLst>
          </a:prstGeom>
          <a:solidFill>
            <a:srgbClr val="F2F2F2"/>
          </a:solidFill>
          <a:ln/>
        </p:spPr>
      </p:sp>
      <p:sp>
        <p:nvSpPr>
          <p:cNvPr id="6" name="Text 4"/>
          <p:cNvSpPr/>
          <p:nvPr/>
        </p:nvSpPr>
        <p:spPr>
          <a:xfrm>
            <a:off x="781050" y="1693188"/>
            <a:ext cx="13068300" cy="5553075"/>
          </a:xfrm>
          <a:prstGeom prst="rect">
            <a:avLst/>
          </a:prstGeom>
          <a:noFill/>
          <a:ln/>
        </p:spPr>
        <p:txBody>
          <a:bodyPr wrap="square" lIns="0" tIns="0" rIns="0" bIns="0" rtlCol="0" anchor="t"/>
          <a:lstStyle/>
          <a:p>
            <a:pPr algn="l" indent="0" marL="0">
              <a:lnSpc>
                <a:spcPts val="1950"/>
              </a:lnSpc>
              <a:buNone/>
            </a:pPr>
            <a:r>
              <a:rPr lang="en-US" sz="1200" dirty="0">
                <a:solidFill>
                  <a:srgbClr val="000000"/>
                </a:solidFill>
                <a:highlight>
                  <a:srgbClr val="F2F2F2"/>
                </a:highlight>
                <a:latin typeface="Consolas Light" pitchFamily="34" charset="0"/>
                <a:ea typeface="Consolas Light" pitchFamily="34" charset="-122"/>
                <a:cs typeface="Consolas Light" pitchFamily="34" charset="-120"/>
              </a:rPr>
              <a:t>const mockStream = async function* () {  yield { text: 'Hello ' };  yield { text: 'world' };  yield {     text: '!',    candidates: [{      groundingMetadata: {        groundingChunks: [{ web: { uri: 'https://example.com', title: 'Example' } }]      }    }]  };};jest.mock('@google/genai', () =&gt; ({  GoogleGenAI: jest.fn().mockImplementation(() =&gt; ({    chats: {      create: jest.fn().mockReturnValue({        sendMessageStream: jest.fn().mockReturnValue(mockStream())      })    }  }))}));</a:t>
            </a:r>
            <a:endParaRPr lang="en-US" sz="1200" dirty="0"/>
          </a:p>
        </p:txBody>
      </p:sp>
      <p:sp>
        <p:nvSpPr>
          <p:cNvPr id="7" name="Text 5"/>
          <p:cNvSpPr/>
          <p:nvPr/>
        </p:nvSpPr>
        <p:spPr>
          <a:xfrm>
            <a:off x="631150" y="7542133"/>
            <a:ext cx="13368099" cy="252413"/>
          </a:xfrm>
          <a:prstGeom prst="rect">
            <a:avLst/>
          </a:prstGeom>
          <a:noFill/>
          <a:ln/>
        </p:spPr>
        <p:txBody>
          <a:bodyPr wrap="none" lIns="0" tIns="0" rIns="0" bIns="0" rtlCol="0" anchor="t"/>
          <a:lstStyle/>
          <a:p>
            <a:pPr algn="l" indent="0" marL="0">
              <a:lnSpc>
                <a:spcPts val="1950"/>
              </a:lnSpc>
              <a:buNone/>
            </a:pPr>
            <a:r>
              <a:rPr lang="en-US" sz="1200" dirty="0">
                <a:solidFill>
                  <a:srgbClr val="000000"/>
                </a:solidFill>
                <a:latin typeface="Readex Pro Light" pitchFamily="34" charset="0"/>
                <a:ea typeface="Readex Pro Light" pitchFamily="34" charset="-122"/>
                <a:cs typeface="Readex Pro Light" pitchFamily="34" charset="-120"/>
              </a:rPr>
              <a:t>This mock simulates the streaming API, allowing you to test how the component handles chunks, grounding metadata, and response completion.</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793790" y="1099661"/>
            <a:ext cx="5162907"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Environment Configuration</a:t>
            </a:r>
            <a:endParaRPr lang="en-US" sz="3100" dirty="0"/>
          </a:p>
        </p:txBody>
      </p:sp>
      <p:sp>
        <p:nvSpPr>
          <p:cNvPr id="3" name="Text 1"/>
          <p:cNvSpPr/>
          <p:nvPr/>
        </p:nvSpPr>
        <p:spPr>
          <a:xfrm>
            <a:off x="793790" y="1992630"/>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component references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process.env.API_KEY</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which requires proper build configuration. Different frameworks handle environment variables differently:</a:t>
            </a:r>
            <a:endParaRPr lang="en-US" sz="1550" dirty="0"/>
          </a:p>
        </p:txBody>
      </p:sp>
      <p:sp>
        <p:nvSpPr>
          <p:cNvPr id="4" name="Text 2"/>
          <p:cNvSpPr/>
          <p:nvPr/>
        </p:nvSpPr>
        <p:spPr>
          <a:xfrm>
            <a:off x="793790" y="304931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Vite</a:t>
            </a:r>
            <a:endParaRPr lang="en-US" sz="1950" dirty="0"/>
          </a:p>
        </p:txBody>
      </p:sp>
      <p:sp>
        <p:nvSpPr>
          <p:cNvPr id="5" name="Text 3"/>
          <p:cNvSpPr/>
          <p:nvPr/>
        </p:nvSpPr>
        <p:spPr>
          <a:xfrm>
            <a:off x="793790" y="3557826"/>
            <a:ext cx="3979664"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Create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.env.local</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t>
            </a:r>
            <a:endParaRPr lang="en-US" sz="1550" dirty="0"/>
          </a:p>
        </p:txBody>
      </p:sp>
      <p:sp>
        <p:nvSpPr>
          <p:cNvPr id="6" name="Shape 4"/>
          <p:cNvSpPr/>
          <p:nvPr/>
        </p:nvSpPr>
        <p:spPr>
          <a:xfrm>
            <a:off x="793790" y="4098608"/>
            <a:ext cx="3979664" cy="615196"/>
          </a:xfrm>
          <a:prstGeom prst="roundRect">
            <a:avLst>
              <a:gd name="adj" fmla="val 29036"/>
            </a:avLst>
          </a:prstGeom>
          <a:solidFill>
            <a:srgbClr val="F2F2F2"/>
          </a:solidFill>
          <a:ln/>
        </p:spPr>
      </p:sp>
      <p:sp>
        <p:nvSpPr>
          <p:cNvPr id="7" name="Shape 5"/>
          <p:cNvSpPr/>
          <p:nvPr/>
        </p:nvSpPr>
        <p:spPr>
          <a:xfrm>
            <a:off x="783908" y="4098608"/>
            <a:ext cx="3999428" cy="615196"/>
          </a:xfrm>
          <a:prstGeom prst="roundRect">
            <a:avLst>
              <a:gd name="adj" fmla="val 4839"/>
            </a:avLst>
          </a:prstGeom>
          <a:solidFill>
            <a:srgbClr val="F2F2F2"/>
          </a:solidFill>
          <a:ln/>
        </p:spPr>
      </p:sp>
      <p:sp>
        <p:nvSpPr>
          <p:cNvPr id="8" name="Text 6"/>
          <p:cNvSpPr/>
          <p:nvPr/>
        </p:nvSpPr>
        <p:spPr>
          <a:xfrm>
            <a:off x="982266" y="4247436"/>
            <a:ext cx="3602712"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VITE_API_KEY=your_key</a:t>
            </a:r>
            <a:endParaRPr lang="en-US" sz="1550" dirty="0"/>
          </a:p>
        </p:txBody>
      </p:sp>
      <p:sp>
        <p:nvSpPr>
          <p:cNvPr id="9" name="Text 7"/>
          <p:cNvSpPr/>
          <p:nvPr/>
        </p:nvSpPr>
        <p:spPr>
          <a:xfrm>
            <a:off x="793790" y="4937046"/>
            <a:ext cx="3979664"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Access with:</a:t>
            </a:r>
            <a:endParaRPr lang="en-US" sz="1550" dirty="0"/>
          </a:p>
        </p:txBody>
      </p:sp>
      <p:sp>
        <p:nvSpPr>
          <p:cNvPr id="10" name="Shape 8"/>
          <p:cNvSpPr/>
          <p:nvPr/>
        </p:nvSpPr>
        <p:spPr>
          <a:xfrm>
            <a:off x="793790" y="5477828"/>
            <a:ext cx="3979664" cy="615196"/>
          </a:xfrm>
          <a:prstGeom prst="roundRect">
            <a:avLst>
              <a:gd name="adj" fmla="val 29036"/>
            </a:avLst>
          </a:prstGeom>
          <a:solidFill>
            <a:srgbClr val="F2F2F2"/>
          </a:solidFill>
          <a:ln/>
        </p:spPr>
      </p:sp>
      <p:sp>
        <p:nvSpPr>
          <p:cNvPr id="11" name="Shape 9"/>
          <p:cNvSpPr/>
          <p:nvPr/>
        </p:nvSpPr>
        <p:spPr>
          <a:xfrm>
            <a:off x="783908" y="5477828"/>
            <a:ext cx="3999428" cy="615196"/>
          </a:xfrm>
          <a:prstGeom prst="roundRect">
            <a:avLst>
              <a:gd name="adj" fmla="val 4839"/>
            </a:avLst>
          </a:prstGeom>
          <a:solidFill>
            <a:srgbClr val="F2F2F2"/>
          </a:solidFill>
          <a:ln/>
        </p:spPr>
      </p:sp>
      <p:sp>
        <p:nvSpPr>
          <p:cNvPr id="12" name="Text 10"/>
          <p:cNvSpPr/>
          <p:nvPr/>
        </p:nvSpPr>
        <p:spPr>
          <a:xfrm>
            <a:off x="982266" y="5626656"/>
            <a:ext cx="3602712"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import.meta.env.VITE_API_KEY</a:t>
            </a:r>
            <a:endParaRPr lang="en-US" sz="1550" dirty="0"/>
          </a:p>
        </p:txBody>
      </p:sp>
      <p:sp>
        <p:nvSpPr>
          <p:cNvPr id="13" name="Text 11"/>
          <p:cNvSpPr/>
          <p:nvPr/>
        </p:nvSpPr>
        <p:spPr>
          <a:xfrm>
            <a:off x="793790" y="6316266"/>
            <a:ext cx="3979664"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Vite only exposes variables prefixed with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VITE_</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to prevent accidental key exposure.</a:t>
            </a:r>
            <a:endParaRPr lang="en-US" sz="1550" dirty="0"/>
          </a:p>
        </p:txBody>
      </p:sp>
      <p:sp>
        <p:nvSpPr>
          <p:cNvPr id="14" name="Text 12"/>
          <p:cNvSpPr/>
          <p:nvPr/>
        </p:nvSpPr>
        <p:spPr>
          <a:xfrm>
            <a:off x="5265182" y="304931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Create React App</a:t>
            </a:r>
            <a:endParaRPr lang="en-US" sz="1950" dirty="0"/>
          </a:p>
        </p:txBody>
      </p:sp>
      <p:sp>
        <p:nvSpPr>
          <p:cNvPr id="15" name="Text 13"/>
          <p:cNvSpPr/>
          <p:nvPr/>
        </p:nvSpPr>
        <p:spPr>
          <a:xfrm>
            <a:off x="5265182" y="3557826"/>
            <a:ext cx="3979664"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Create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.env.local</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t>
            </a:r>
            <a:endParaRPr lang="en-US" sz="1550" dirty="0"/>
          </a:p>
        </p:txBody>
      </p:sp>
      <p:sp>
        <p:nvSpPr>
          <p:cNvPr id="16" name="Shape 14"/>
          <p:cNvSpPr/>
          <p:nvPr/>
        </p:nvSpPr>
        <p:spPr>
          <a:xfrm>
            <a:off x="5265182" y="4098608"/>
            <a:ext cx="3979664" cy="615196"/>
          </a:xfrm>
          <a:prstGeom prst="roundRect">
            <a:avLst>
              <a:gd name="adj" fmla="val 29036"/>
            </a:avLst>
          </a:prstGeom>
          <a:solidFill>
            <a:srgbClr val="F2F2F2"/>
          </a:solidFill>
          <a:ln/>
        </p:spPr>
      </p:sp>
      <p:sp>
        <p:nvSpPr>
          <p:cNvPr id="17" name="Shape 15"/>
          <p:cNvSpPr/>
          <p:nvPr/>
        </p:nvSpPr>
        <p:spPr>
          <a:xfrm>
            <a:off x="5255300" y="4098608"/>
            <a:ext cx="3999428" cy="615196"/>
          </a:xfrm>
          <a:prstGeom prst="roundRect">
            <a:avLst>
              <a:gd name="adj" fmla="val 4839"/>
            </a:avLst>
          </a:prstGeom>
          <a:solidFill>
            <a:srgbClr val="F2F2F2"/>
          </a:solidFill>
          <a:ln/>
        </p:spPr>
      </p:sp>
      <p:sp>
        <p:nvSpPr>
          <p:cNvPr id="18" name="Text 16"/>
          <p:cNvSpPr/>
          <p:nvPr/>
        </p:nvSpPr>
        <p:spPr>
          <a:xfrm>
            <a:off x="5453658" y="4247436"/>
            <a:ext cx="3602712"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REACT_APP_API_KEY=your_key</a:t>
            </a:r>
            <a:endParaRPr lang="en-US" sz="1550" dirty="0"/>
          </a:p>
        </p:txBody>
      </p:sp>
      <p:sp>
        <p:nvSpPr>
          <p:cNvPr id="19" name="Text 17"/>
          <p:cNvSpPr/>
          <p:nvPr/>
        </p:nvSpPr>
        <p:spPr>
          <a:xfrm>
            <a:off x="5265182" y="4937046"/>
            <a:ext cx="3979664"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Access with:</a:t>
            </a:r>
            <a:endParaRPr lang="en-US" sz="1550" dirty="0"/>
          </a:p>
        </p:txBody>
      </p:sp>
      <p:sp>
        <p:nvSpPr>
          <p:cNvPr id="20" name="Shape 18"/>
          <p:cNvSpPr/>
          <p:nvPr/>
        </p:nvSpPr>
        <p:spPr>
          <a:xfrm>
            <a:off x="5265182" y="5477828"/>
            <a:ext cx="3979664" cy="615196"/>
          </a:xfrm>
          <a:prstGeom prst="roundRect">
            <a:avLst>
              <a:gd name="adj" fmla="val 29036"/>
            </a:avLst>
          </a:prstGeom>
          <a:solidFill>
            <a:srgbClr val="F2F2F2"/>
          </a:solidFill>
          <a:ln/>
        </p:spPr>
      </p:sp>
      <p:sp>
        <p:nvSpPr>
          <p:cNvPr id="21" name="Shape 19"/>
          <p:cNvSpPr/>
          <p:nvPr/>
        </p:nvSpPr>
        <p:spPr>
          <a:xfrm>
            <a:off x="5255300" y="5477828"/>
            <a:ext cx="3999428" cy="615196"/>
          </a:xfrm>
          <a:prstGeom prst="roundRect">
            <a:avLst>
              <a:gd name="adj" fmla="val 4839"/>
            </a:avLst>
          </a:prstGeom>
          <a:solidFill>
            <a:srgbClr val="F2F2F2"/>
          </a:solidFill>
          <a:ln/>
        </p:spPr>
      </p:sp>
      <p:sp>
        <p:nvSpPr>
          <p:cNvPr id="22" name="Text 20"/>
          <p:cNvSpPr/>
          <p:nvPr/>
        </p:nvSpPr>
        <p:spPr>
          <a:xfrm>
            <a:off x="5453658" y="5626656"/>
            <a:ext cx="3602712"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process.env.REACT_APP_API_KEY</a:t>
            </a:r>
            <a:endParaRPr lang="en-US" sz="1550" dirty="0"/>
          </a:p>
        </p:txBody>
      </p:sp>
      <p:sp>
        <p:nvSpPr>
          <p:cNvPr id="23" name="Text 21"/>
          <p:cNvSpPr/>
          <p:nvPr/>
        </p:nvSpPr>
        <p:spPr>
          <a:xfrm>
            <a:off x="5265182" y="6316266"/>
            <a:ext cx="3979664"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CRA requires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REACT_APP_</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prefix for client-side variables.</a:t>
            </a:r>
            <a:endParaRPr lang="en-US" sz="1550" dirty="0"/>
          </a:p>
        </p:txBody>
      </p:sp>
      <p:sp>
        <p:nvSpPr>
          <p:cNvPr id="24" name="Text 22"/>
          <p:cNvSpPr/>
          <p:nvPr/>
        </p:nvSpPr>
        <p:spPr>
          <a:xfrm>
            <a:off x="9736574" y="304931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Next.js</a:t>
            </a:r>
            <a:endParaRPr lang="en-US" sz="1950" dirty="0"/>
          </a:p>
        </p:txBody>
      </p:sp>
      <p:sp>
        <p:nvSpPr>
          <p:cNvPr id="25" name="Text 23"/>
          <p:cNvSpPr/>
          <p:nvPr/>
        </p:nvSpPr>
        <p:spPr>
          <a:xfrm>
            <a:off x="9736574" y="3557826"/>
            <a:ext cx="4115038"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Create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.env.local</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t>
            </a:r>
            <a:endParaRPr lang="en-US" sz="1550" dirty="0"/>
          </a:p>
        </p:txBody>
      </p:sp>
      <p:sp>
        <p:nvSpPr>
          <p:cNvPr id="26" name="Shape 24"/>
          <p:cNvSpPr/>
          <p:nvPr/>
        </p:nvSpPr>
        <p:spPr>
          <a:xfrm>
            <a:off x="9736574" y="4098608"/>
            <a:ext cx="4115038" cy="615196"/>
          </a:xfrm>
          <a:prstGeom prst="roundRect">
            <a:avLst>
              <a:gd name="adj" fmla="val 29036"/>
            </a:avLst>
          </a:prstGeom>
          <a:solidFill>
            <a:srgbClr val="F2F2F2"/>
          </a:solidFill>
          <a:ln/>
        </p:spPr>
      </p:sp>
      <p:sp>
        <p:nvSpPr>
          <p:cNvPr id="27" name="Shape 25"/>
          <p:cNvSpPr/>
          <p:nvPr/>
        </p:nvSpPr>
        <p:spPr>
          <a:xfrm>
            <a:off x="9726692" y="4098608"/>
            <a:ext cx="4134802" cy="615196"/>
          </a:xfrm>
          <a:prstGeom prst="roundRect">
            <a:avLst>
              <a:gd name="adj" fmla="val 4839"/>
            </a:avLst>
          </a:prstGeom>
          <a:solidFill>
            <a:srgbClr val="F2F2F2"/>
          </a:solidFill>
          <a:ln/>
        </p:spPr>
      </p:sp>
      <p:sp>
        <p:nvSpPr>
          <p:cNvPr id="28" name="Text 26"/>
          <p:cNvSpPr/>
          <p:nvPr/>
        </p:nvSpPr>
        <p:spPr>
          <a:xfrm>
            <a:off x="9925050" y="4247436"/>
            <a:ext cx="3738086"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NEXT_PUBLIC_API_KEY=your_key</a:t>
            </a:r>
            <a:endParaRPr lang="en-US" sz="1550" dirty="0"/>
          </a:p>
        </p:txBody>
      </p:sp>
      <p:sp>
        <p:nvSpPr>
          <p:cNvPr id="29" name="Text 27"/>
          <p:cNvSpPr/>
          <p:nvPr/>
        </p:nvSpPr>
        <p:spPr>
          <a:xfrm>
            <a:off x="9736574" y="4937046"/>
            <a:ext cx="4115038"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Access with:</a:t>
            </a:r>
            <a:endParaRPr lang="en-US" sz="1550" dirty="0"/>
          </a:p>
        </p:txBody>
      </p:sp>
      <p:sp>
        <p:nvSpPr>
          <p:cNvPr id="30" name="Shape 28"/>
          <p:cNvSpPr/>
          <p:nvPr/>
        </p:nvSpPr>
        <p:spPr>
          <a:xfrm>
            <a:off x="9736574" y="5477828"/>
            <a:ext cx="4115038" cy="615196"/>
          </a:xfrm>
          <a:prstGeom prst="roundRect">
            <a:avLst>
              <a:gd name="adj" fmla="val 29036"/>
            </a:avLst>
          </a:prstGeom>
          <a:solidFill>
            <a:srgbClr val="F2F2F2"/>
          </a:solidFill>
          <a:ln/>
        </p:spPr>
      </p:sp>
      <p:sp>
        <p:nvSpPr>
          <p:cNvPr id="31" name="Shape 29"/>
          <p:cNvSpPr/>
          <p:nvPr/>
        </p:nvSpPr>
        <p:spPr>
          <a:xfrm>
            <a:off x="9726692" y="5477828"/>
            <a:ext cx="4134802" cy="615196"/>
          </a:xfrm>
          <a:prstGeom prst="roundRect">
            <a:avLst>
              <a:gd name="adj" fmla="val 4839"/>
            </a:avLst>
          </a:prstGeom>
          <a:solidFill>
            <a:srgbClr val="F2F2F2"/>
          </a:solidFill>
          <a:ln/>
        </p:spPr>
      </p:sp>
      <p:sp>
        <p:nvSpPr>
          <p:cNvPr id="32" name="Text 30"/>
          <p:cNvSpPr/>
          <p:nvPr/>
        </p:nvSpPr>
        <p:spPr>
          <a:xfrm>
            <a:off x="9925050" y="5626656"/>
            <a:ext cx="3738086"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highlight>
                  <a:srgbClr val="F2F2F2"/>
                </a:highlight>
                <a:latin typeface="Consolas Light" pitchFamily="34" charset="0"/>
                <a:ea typeface="Consolas Light" pitchFamily="34" charset="-122"/>
                <a:cs typeface="Consolas Light" pitchFamily="34" charset="-120"/>
              </a:rPr>
              <a:t>process.env.NEXT_PUBLIC_API_KEY</a:t>
            </a:r>
            <a:endParaRPr lang="en-US" sz="1550" dirty="0"/>
          </a:p>
        </p:txBody>
      </p:sp>
      <p:sp>
        <p:nvSpPr>
          <p:cNvPr id="33" name="Text 31"/>
          <p:cNvSpPr/>
          <p:nvPr/>
        </p:nvSpPr>
        <p:spPr>
          <a:xfrm>
            <a:off x="9736574" y="6316266"/>
            <a:ext cx="4115038"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Next.js uses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NEXT_PUBLIC_</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for browser-accessible variables.</a:t>
            </a:r>
            <a:endParaRPr lang="en-US" sz="15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793790" y="1504950"/>
            <a:ext cx="5270063"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Deployment Considerations</a:t>
            </a:r>
            <a:endParaRPr lang="en-US" sz="3100" dirty="0"/>
          </a:p>
        </p:txBody>
      </p:sp>
      <p:sp>
        <p:nvSpPr>
          <p:cNvPr id="3" name="Text 1"/>
          <p:cNvSpPr/>
          <p:nvPr/>
        </p:nvSpPr>
        <p:spPr>
          <a:xfrm>
            <a:off x="793790" y="2397919"/>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Deploying conversational interfaces requires careful attention to several production concerns beyond basic hosting:</a:t>
            </a:r>
            <a:endParaRPr lang="en-US" sz="1550" dirty="0"/>
          </a:p>
        </p:txBody>
      </p:sp>
      <p:sp>
        <p:nvSpPr>
          <p:cNvPr id="4" name="Shape 2"/>
          <p:cNvSpPr/>
          <p:nvPr/>
        </p:nvSpPr>
        <p:spPr>
          <a:xfrm>
            <a:off x="793790" y="2938701"/>
            <a:ext cx="6422231" cy="1793796"/>
          </a:xfrm>
          <a:prstGeom prst="roundRect">
            <a:avLst>
              <a:gd name="adj" fmla="val 995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5" name="Text 3"/>
          <p:cNvSpPr/>
          <p:nvPr/>
        </p:nvSpPr>
        <p:spPr>
          <a:xfrm>
            <a:off x="999768" y="3144679"/>
            <a:ext cx="2483048"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Environment Secrets</a:t>
            </a:r>
            <a:endParaRPr lang="en-US" sz="1950" dirty="0"/>
          </a:p>
        </p:txBody>
      </p:sp>
      <p:sp>
        <p:nvSpPr>
          <p:cNvPr id="6" name="Text 4"/>
          <p:cNvSpPr/>
          <p:nvPr/>
        </p:nvSpPr>
        <p:spPr>
          <a:xfrm>
            <a:off x="999768" y="3573899"/>
            <a:ext cx="6010275"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Never commit API keys to version control. Use your hosting provider's secrets management (Vercel Environment Variables, Netlify Environment Variables, etc.)</a:t>
            </a:r>
            <a:endParaRPr lang="en-US" sz="1550" dirty="0"/>
          </a:p>
        </p:txBody>
      </p:sp>
      <p:sp>
        <p:nvSpPr>
          <p:cNvPr id="7" name="Shape 5"/>
          <p:cNvSpPr/>
          <p:nvPr/>
        </p:nvSpPr>
        <p:spPr>
          <a:xfrm>
            <a:off x="7414379" y="2938701"/>
            <a:ext cx="6422231" cy="1793796"/>
          </a:xfrm>
          <a:prstGeom prst="roundRect">
            <a:avLst>
              <a:gd name="adj" fmla="val 995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8" name="Text 6"/>
          <p:cNvSpPr/>
          <p:nvPr/>
        </p:nvSpPr>
        <p:spPr>
          <a:xfrm>
            <a:off x="7620357" y="314467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CORS Configuration</a:t>
            </a:r>
            <a:endParaRPr lang="en-US" sz="1950" dirty="0"/>
          </a:p>
        </p:txBody>
      </p:sp>
      <p:sp>
        <p:nvSpPr>
          <p:cNvPr id="9" name="Text 7"/>
          <p:cNvSpPr/>
          <p:nvPr/>
        </p:nvSpPr>
        <p:spPr>
          <a:xfrm>
            <a:off x="7620357" y="3573899"/>
            <a:ext cx="6010275"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If proxying through a backend, ensure CORS headers allow your frontend domain. Misconfigured CORS is a common deployment issue.</a:t>
            </a:r>
            <a:endParaRPr lang="en-US" sz="1550" dirty="0"/>
          </a:p>
        </p:txBody>
      </p:sp>
      <p:sp>
        <p:nvSpPr>
          <p:cNvPr id="10" name="Shape 8"/>
          <p:cNvSpPr/>
          <p:nvPr/>
        </p:nvSpPr>
        <p:spPr>
          <a:xfrm>
            <a:off x="793790" y="4930854"/>
            <a:ext cx="6422231" cy="1793796"/>
          </a:xfrm>
          <a:prstGeom prst="roundRect">
            <a:avLst>
              <a:gd name="adj" fmla="val 995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1" name="Text 9"/>
          <p:cNvSpPr/>
          <p:nvPr/>
        </p:nvSpPr>
        <p:spPr>
          <a:xfrm>
            <a:off x="999768" y="513683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Error Monitoring</a:t>
            </a:r>
            <a:endParaRPr lang="en-US" sz="1950" dirty="0"/>
          </a:p>
        </p:txBody>
      </p:sp>
      <p:sp>
        <p:nvSpPr>
          <p:cNvPr id="12" name="Text 10"/>
          <p:cNvSpPr/>
          <p:nvPr/>
        </p:nvSpPr>
        <p:spPr>
          <a:xfrm>
            <a:off x="999768" y="5566053"/>
            <a:ext cx="6010275"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Integrate tools like Sentry or LogRocket to capture client-side errors. Conversational interfaces have many failure modes that need tracking.</a:t>
            </a:r>
            <a:endParaRPr lang="en-US" sz="1550" dirty="0"/>
          </a:p>
        </p:txBody>
      </p:sp>
      <p:sp>
        <p:nvSpPr>
          <p:cNvPr id="13" name="Shape 11"/>
          <p:cNvSpPr/>
          <p:nvPr/>
        </p:nvSpPr>
        <p:spPr>
          <a:xfrm>
            <a:off x="7414379" y="4930854"/>
            <a:ext cx="6422231" cy="1793796"/>
          </a:xfrm>
          <a:prstGeom prst="roundRect">
            <a:avLst>
              <a:gd name="adj" fmla="val 995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4" name="Text 12"/>
          <p:cNvSpPr/>
          <p:nvPr/>
        </p:nvSpPr>
        <p:spPr>
          <a:xfrm>
            <a:off x="7620357" y="5136833"/>
            <a:ext cx="2908221"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Performance Monitoring</a:t>
            </a:r>
            <a:endParaRPr lang="en-US" sz="1950" dirty="0"/>
          </a:p>
        </p:txBody>
      </p:sp>
      <p:sp>
        <p:nvSpPr>
          <p:cNvPr id="15" name="Text 13"/>
          <p:cNvSpPr/>
          <p:nvPr/>
        </p:nvSpPr>
        <p:spPr>
          <a:xfrm>
            <a:off x="7620357" y="5566053"/>
            <a:ext cx="601027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Track metrics like time-to-first-token, streaming latency, and error rates to understand real-world performance.</a:t>
            </a:r>
            <a:endParaRPr lang="en-US" sz="15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742236" y="659725"/>
            <a:ext cx="4690229" cy="463868"/>
          </a:xfrm>
          <a:prstGeom prst="rect">
            <a:avLst/>
          </a:prstGeom>
          <a:noFill/>
          <a:ln/>
        </p:spPr>
        <p:txBody>
          <a:bodyPr wrap="none" lIns="0" tIns="0" rIns="0" bIns="0" rtlCol="0" anchor="t"/>
          <a:lstStyle/>
          <a:p>
            <a:pPr algn="l" indent="0" marL="0">
              <a:lnSpc>
                <a:spcPts val="3650"/>
              </a:lnSpc>
              <a:buNone/>
            </a:pPr>
            <a:r>
              <a:rPr lang="en-US" sz="2900" dirty="0">
                <a:solidFill>
                  <a:srgbClr val="111111"/>
                </a:solidFill>
                <a:latin typeface="Readex Pro" pitchFamily="34" charset="0"/>
                <a:ea typeface="Readex Pro" pitchFamily="34" charset="-122"/>
                <a:cs typeface="Readex Pro" pitchFamily="34" charset="-120"/>
              </a:rPr>
              <a:t>Extending the Component</a:t>
            </a:r>
            <a:endParaRPr lang="en-US" sz="2900" dirty="0"/>
          </a:p>
        </p:txBody>
      </p:sp>
      <p:sp>
        <p:nvSpPr>
          <p:cNvPr id="3" name="Text 1"/>
          <p:cNvSpPr/>
          <p:nvPr/>
        </p:nvSpPr>
        <p:spPr>
          <a:xfrm>
            <a:off x="742236" y="1494711"/>
            <a:ext cx="13145929" cy="296942"/>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This component provides a solid foundation that can be extended in numerous directions. Consider these enhancement opportunities:</a:t>
            </a:r>
            <a:endParaRPr lang="en-US" sz="1450" dirty="0"/>
          </a:p>
        </p:txBody>
      </p:sp>
      <p:sp>
        <p:nvSpPr>
          <p:cNvPr id="4" name="Shape 2"/>
          <p:cNvSpPr/>
          <p:nvPr/>
        </p:nvSpPr>
        <p:spPr>
          <a:xfrm>
            <a:off x="765453" y="1991082"/>
            <a:ext cx="417433" cy="482441"/>
          </a:xfrm>
          <a:prstGeom prst="roundRect">
            <a:avLst>
              <a:gd name="adj" fmla="val 13143"/>
            </a:avLst>
          </a:prstGeom>
          <a:solidFill>
            <a:srgbClr val="DFDFE0"/>
          </a:solidFill>
          <a:ln/>
        </p:spPr>
      </p:sp>
      <p:pic>
        <p:nvPicPr>
          <p:cNvPr id="5" name="Image 0" descr="preencoded.png">    </p:cNvPr>
          <p:cNvPicPr>
            <a:picLocks noChangeAspect="1"/>
          </p:cNvPicPr>
          <p:nvPr/>
        </p:nvPicPr>
        <p:blipFill>
          <a:blip r:embed="rId1"/>
          <a:stretch>
            <a:fillRect/>
          </a:stretch>
        </p:blipFill>
        <p:spPr>
          <a:xfrm>
            <a:off x="858203" y="2134791"/>
            <a:ext cx="231934" cy="185499"/>
          </a:xfrm>
          <a:prstGeom prst="rect">
            <a:avLst/>
          </a:prstGeom>
        </p:spPr>
      </p:pic>
      <p:sp>
        <p:nvSpPr>
          <p:cNvPr id="6" name="Text 3"/>
          <p:cNvSpPr/>
          <p:nvPr/>
        </p:nvSpPr>
        <p:spPr>
          <a:xfrm>
            <a:off x="1438037" y="2107049"/>
            <a:ext cx="5761196" cy="296942"/>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image</a:t>
            </a:r>
            <a:endParaRPr lang="en-US" sz="1450" dirty="0"/>
          </a:p>
        </p:txBody>
      </p:sp>
      <p:sp>
        <p:nvSpPr>
          <p:cNvPr id="7" name="Text 4"/>
          <p:cNvSpPr/>
          <p:nvPr/>
        </p:nvSpPr>
        <p:spPr>
          <a:xfrm>
            <a:off x="1438037" y="2515314"/>
            <a:ext cx="2319814" cy="289917"/>
          </a:xfrm>
          <a:prstGeom prst="rect">
            <a:avLst/>
          </a:prstGeom>
          <a:noFill/>
          <a:ln/>
        </p:spPr>
        <p:txBody>
          <a:bodyPr wrap="none" lIns="0" tIns="0" rIns="0" bIns="0" rtlCol="0" anchor="t"/>
          <a:lstStyle/>
          <a:p>
            <a:pPr algn="l" indent="0" marL="0">
              <a:lnSpc>
                <a:spcPts val="2250"/>
              </a:lnSpc>
              <a:buNone/>
            </a:pPr>
            <a:r>
              <a:rPr lang="en-US" sz="1800" dirty="0">
                <a:solidFill>
                  <a:srgbClr val="000000"/>
                </a:solidFill>
                <a:latin typeface="Readex Pro" pitchFamily="34" charset="0"/>
                <a:ea typeface="Readex Pro" pitchFamily="34" charset="-122"/>
                <a:cs typeface="Readex Pro" pitchFamily="34" charset="-120"/>
              </a:rPr>
              <a:t>Multimodal Support</a:t>
            </a:r>
            <a:endParaRPr lang="en-US" sz="1800" dirty="0"/>
          </a:p>
        </p:txBody>
      </p:sp>
      <p:sp>
        <p:nvSpPr>
          <p:cNvPr id="8" name="Text 5"/>
          <p:cNvSpPr/>
          <p:nvPr/>
        </p:nvSpPr>
        <p:spPr>
          <a:xfrm>
            <a:off x="1438037" y="2916555"/>
            <a:ext cx="5761196" cy="890826"/>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Add support for image uploads, allowing users to ask questions about images. Gemini models support vision capabilities through multimodal inputs.</a:t>
            </a:r>
            <a:endParaRPr lang="en-US" sz="1450" dirty="0"/>
          </a:p>
        </p:txBody>
      </p:sp>
      <p:sp>
        <p:nvSpPr>
          <p:cNvPr id="9" name="Shape 6"/>
          <p:cNvSpPr/>
          <p:nvPr/>
        </p:nvSpPr>
        <p:spPr>
          <a:xfrm>
            <a:off x="7454384" y="1991082"/>
            <a:ext cx="417433" cy="482441"/>
          </a:xfrm>
          <a:prstGeom prst="roundRect">
            <a:avLst>
              <a:gd name="adj" fmla="val 13143"/>
            </a:avLst>
          </a:prstGeom>
          <a:solidFill>
            <a:srgbClr val="DFDFE0"/>
          </a:solidFill>
          <a:ln/>
        </p:spPr>
      </p:sp>
      <p:pic>
        <p:nvPicPr>
          <p:cNvPr id="10" name="Image 1" descr="preencoded.png">    </p:cNvPr>
          <p:cNvPicPr>
            <a:picLocks noChangeAspect="1"/>
          </p:cNvPicPr>
          <p:nvPr/>
        </p:nvPicPr>
        <p:blipFill>
          <a:blip r:embed="rId2"/>
          <a:stretch>
            <a:fillRect/>
          </a:stretch>
        </p:blipFill>
        <p:spPr>
          <a:xfrm>
            <a:off x="7547134" y="2134791"/>
            <a:ext cx="231934" cy="185499"/>
          </a:xfrm>
          <a:prstGeom prst="rect">
            <a:avLst/>
          </a:prstGeom>
        </p:spPr>
      </p:pic>
      <p:sp>
        <p:nvSpPr>
          <p:cNvPr id="11" name="Text 7"/>
          <p:cNvSpPr/>
          <p:nvPr/>
        </p:nvSpPr>
        <p:spPr>
          <a:xfrm>
            <a:off x="8126968" y="2107049"/>
            <a:ext cx="5761196" cy="296942"/>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mic</a:t>
            </a:r>
            <a:endParaRPr lang="en-US" sz="1450" dirty="0"/>
          </a:p>
        </p:txBody>
      </p:sp>
      <p:sp>
        <p:nvSpPr>
          <p:cNvPr id="12" name="Text 8"/>
          <p:cNvSpPr/>
          <p:nvPr/>
        </p:nvSpPr>
        <p:spPr>
          <a:xfrm>
            <a:off x="8126968" y="2515314"/>
            <a:ext cx="2319814" cy="289917"/>
          </a:xfrm>
          <a:prstGeom prst="rect">
            <a:avLst/>
          </a:prstGeom>
          <a:noFill/>
          <a:ln/>
        </p:spPr>
        <p:txBody>
          <a:bodyPr wrap="none" lIns="0" tIns="0" rIns="0" bIns="0" rtlCol="0" anchor="t"/>
          <a:lstStyle/>
          <a:p>
            <a:pPr algn="l" indent="0" marL="0">
              <a:lnSpc>
                <a:spcPts val="2250"/>
              </a:lnSpc>
              <a:buNone/>
            </a:pPr>
            <a:r>
              <a:rPr lang="en-US" sz="1800" dirty="0">
                <a:solidFill>
                  <a:srgbClr val="000000"/>
                </a:solidFill>
                <a:latin typeface="Readex Pro" pitchFamily="34" charset="0"/>
                <a:ea typeface="Readex Pro" pitchFamily="34" charset="-122"/>
                <a:cs typeface="Readex Pro" pitchFamily="34" charset="-120"/>
              </a:rPr>
              <a:t>Voice Input</a:t>
            </a:r>
            <a:endParaRPr lang="en-US" sz="1800" dirty="0"/>
          </a:p>
        </p:txBody>
      </p:sp>
      <p:sp>
        <p:nvSpPr>
          <p:cNvPr id="13" name="Text 9"/>
          <p:cNvSpPr/>
          <p:nvPr/>
        </p:nvSpPr>
        <p:spPr>
          <a:xfrm>
            <a:off x="8126968" y="2916555"/>
            <a:ext cx="5761196" cy="593884"/>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Integrate Web Speech API for voice input, enabling hands-free interaction. Particularly valuable for accessibility and mobile users.</a:t>
            </a:r>
            <a:endParaRPr lang="en-US" sz="1450" dirty="0"/>
          </a:p>
        </p:txBody>
      </p:sp>
      <p:sp>
        <p:nvSpPr>
          <p:cNvPr id="14" name="Shape 10"/>
          <p:cNvSpPr/>
          <p:nvPr/>
        </p:nvSpPr>
        <p:spPr>
          <a:xfrm>
            <a:off x="765453" y="4169212"/>
            <a:ext cx="417433" cy="482441"/>
          </a:xfrm>
          <a:prstGeom prst="roundRect">
            <a:avLst>
              <a:gd name="adj" fmla="val 13143"/>
            </a:avLst>
          </a:prstGeom>
          <a:solidFill>
            <a:srgbClr val="DFDFE0"/>
          </a:solidFill>
          <a:ln/>
        </p:spPr>
      </p:sp>
      <p:pic>
        <p:nvPicPr>
          <p:cNvPr id="15" name="Image 2" descr="preencoded.png">    </p:cNvPr>
          <p:cNvPicPr>
            <a:picLocks noChangeAspect="1"/>
          </p:cNvPicPr>
          <p:nvPr/>
        </p:nvPicPr>
        <p:blipFill>
          <a:blip r:embed="rId3"/>
          <a:stretch>
            <a:fillRect/>
          </a:stretch>
        </p:blipFill>
        <p:spPr>
          <a:xfrm>
            <a:off x="858203" y="4312920"/>
            <a:ext cx="231934" cy="185499"/>
          </a:xfrm>
          <a:prstGeom prst="rect">
            <a:avLst/>
          </a:prstGeom>
        </p:spPr>
      </p:pic>
      <p:sp>
        <p:nvSpPr>
          <p:cNvPr id="16" name="Text 11"/>
          <p:cNvSpPr/>
          <p:nvPr/>
        </p:nvSpPr>
        <p:spPr>
          <a:xfrm>
            <a:off x="1438037" y="4285178"/>
            <a:ext cx="5761196" cy="296942"/>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code</a:t>
            </a:r>
            <a:endParaRPr lang="en-US" sz="1450" dirty="0"/>
          </a:p>
        </p:txBody>
      </p:sp>
      <p:sp>
        <p:nvSpPr>
          <p:cNvPr id="17" name="Text 12"/>
          <p:cNvSpPr/>
          <p:nvPr/>
        </p:nvSpPr>
        <p:spPr>
          <a:xfrm>
            <a:off x="1438037" y="4693444"/>
            <a:ext cx="2319814" cy="289917"/>
          </a:xfrm>
          <a:prstGeom prst="rect">
            <a:avLst/>
          </a:prstGeom>
          <a:noFill/>
          <a:ln/>
        </p:spPr>
        <p:txBody>
          <a:bodyPr wrap="none" lIns="0" tIns="0" rIns="0" bIns="0" rtlCol="0" anchor="t"/>
          <a:lstStyle/>
          <a:p>
            <a:pPr algn="l" indent="0" marL="0">
              <a:lnSpc>
                <a:spcPts val="2250"/>
              </a:lnSpc>
              <a:buNone/>
            </a:pPr>
            <a:r>
              <a:rPr lang="en-US" sz="1800" dirty="0">
                <a:solidFill>
                  <a:srgbClr val="000000"/>
                </a:solidFill>
                <a:latin typeface="Readex Pro" pitchFamily="34" charset="0"/>
                <a:ea typeface="Readex Pro" pitchFamily="34" charset="-122"/>
                <a:cs typeface="Readex Pro" pitchFamily="34" charset="-120"/>
              </a:rPr>
              <a:t>Code Formatting</a:t>
            </a:r>
            <a:endParaRPr lang="en-US" sz="1800" dirty="0"/>
          </a:p>
        </p:txBody>
      </p:sp>
      <p:sp>
        <p:nvSpPr>
          <p:cNvPr id="18" name="Text 13"/>
          <p:cNvSpPr/>
          <p:nvPr/>
        </p:nvSpPr>
        <p:spPr>
          <a:xfrm>
            <a:off x="1438037" y="5094684"/>
            <a:ext cx="5761196" cy="593884"/>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Add syntax highlighting for code blocks using libraries like Prism or highlight.js, making technical discussions more readable.</a:t>
            </a:r>
            <a:endParaRPr lang="en-US" sz="1450" dirty="0"/>
          </a:p>
        </p:txBody>
      </p:sp>
      <p:sp>
        <p:nvSpPr>
          <p:cNvPr id="19" name="Shape 14"/>
          <p:cNvSpPr/>
          <p:nvPr/>
        </p:nvSpPr>
        <p:spPr>
          <a:xfrm>
            <a:off x="7454384" y="4169212"/>
            <a:ext cx="417433" cy="482441"/>
          </a:xfrm>
          <a:prstGeom prst="roundRect">
            <a:avLst>
              <a:gd name="adj" fmla="val 13143"/>
            </a:avLst>
          </a:prstGeom>
          <a:solidFill>
            <a:srgbClr val="DFDFE0"/>
          </a:solidFill>
          <a:ln/>
        </p:spPr>
      </p:sp>
      <p:pic>
        <p:nvPicPr>
          <p:cNvPr id="20" name="Image 3" descr="preencoded.png">    </p:cNvPr>
          <p:cNvPicPr>
            <a:picLocks noChangeAspect="1"/>
          </p:cNvPicPr>
          <p:nvPr/>
        </p:nvPicPr>
        <p:blipFill>
          <a:blip r:embed="rId4"/>
          <a:stretch>
            <a:fillRect/>
          </a:stretch>
        </p:blipFill>
        <p:spPr>
          <a:xfrm>
            <a:off x="7547134" y="4312920"/>
            <a:ext cx="231934" cy="185499"/>
          </a:xfrm>
          <a:prstGeom prst="rect">
            <a:avLst/>
          </a:prstGeom>
        </p:spPr>
      </p:pic>
      <p:sp>
        <p:nvSpPr>
          <p:cNvPr id="21" name="Text 15"/>
          <p:cNvSpPr/>
          <p:nvPr/>
        </p:nvSpPr>
        <p:spPr>
          <a:xfrm>
            <a:off x="8126968" y="4285178"/>
            <a:ext cx="5761196" cy="296942"/>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save</a:t>
            </a:r>
            <a:endParaRPr lang="en-US" sz="1450" dirty="0"/>
          </a:p>
        </p:txBody>
      </p:sp>
      <p:sp>
        <p:nvSpPr>
          <p:cNvPr id="22" name="Text 16"/>
          <p:cNvSpPr/>
          <p:nvPr/>
        </p:nvSpPr>
        <p:spPr>
          <a:xfrm>
            <a:off x="8126968" y="4693444"/>
            <a:ext cx="2813685" cy="289917"/>
          </a:xfrm>
          <a:prstGeom prst="rect">
            <a:avLst/>
          </a:prstGeom>
          <a:noFill/>
          <a:ln/>
        </p:spPr>
        <p:txBody>
          <a:bodyPr wrap="none" lIns="0" tIns="0" rIns="0" bIns="0" rtlCol="0" anchor="t"/>
          <a:lstStyle/>
          <a:p>
            <a:pPr algn="l" indent="0" marL="0">
              <a:lnSpc>
                <a:spcPts val="2250"/>
              </a:lnSpc>
              <a:buNone/>
            </a:pPr>
            <a:r>
              <a:rPr lang="en-US" sz="1800" dirty="0">
                <a:solidFill>
                  <a:srgbClr val="000000"/>
                </a:solidFill>
                <a:latin typeface="Readex Pro" pitchFamily="34" charset="0"/>
                <a:ea typeface="Readex Pro" pitchFamily="34" charset="-122"/>
                <a:cs typeface="Readex Pro" pitchFamily="34" charset="-120"/>
              </a:rPr>
              <a:t>Conversation Persistence</a:t>
            </a:r>
            <a:endParaRPr lang="en-US" sz="1800" dirty="0"/>
          </a:p>
        </p:txBody>
      </p:sp>
      <p:sp>
        <p:nvSpPr>
          <p:cNvPr id="23" name="Text 17"/>
          <p:cNvSpPr/>
          <p:nvPr/>
        </p:nvSpPr>
        <p:spPr>
          <a:xfrm>
            <a:off x="8126968" y="5094684"/>
            <a:ext cx="5761196" cy="593884"/>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Store conversations in localStorage or a database, allowing users to continue conversations across sessions or devices.</a:t>
            </a:r>
            <a:endParaRPr lang="en-US" sz="1450" dirty="0"/>
          </a:p>
        </p:txBody>
      </p:sp>
      <p:sp>
        <p:nvSpPr>
          <p:cNvPr id="24" name="Shape 18"/>
          <p:cNvSpPr/>
          <p:nvPr/>
        </p:nvSpPr>
        <p:spPr>
          <a:xfrm>
            <a:off x="765453" y="6050399"/>
            <a:ext cx="417433" cy="482441"/>
          </a:xfrm>
          <a:prstGeom prst="roundRect">
            <a:avLst>
              <a:gd name="adj" fmla="val 13143"/>
            </a:avLst>
          </a:prstGeom>
          <a:solidFill>
            <a:srgbClr val="DFDFE0"/>
          </a:solidFill>
          <a:ln/>
        </p:spPr>
      </p:sp>
      <p:pic>
        <p:nvPicPr>
          <p:cNvPr id="25" name="Image 4" descr="preencoded.png">    </p:cNvPr>
          <p:cNvPicPr>
            <a:picLocks noChangeAspect="1"/>
          </p:cNvPicPr>
          <p:nvPr/>
        </p:nvPicPr>
        <p:blipFill>
          <a:blip r:embed="rId5"/>
          <a:stretch>
            <a:fillRect/>
          </a:stretch>
        </p:blipFill>
        <p:spPr>
          <a:xfrm>
            <a:off x="858203" y="6194108"/>
            <a:ext cx="231934" cy="185499"/>
          </a:xfrm>
          <a:prstGeom prst="rect">
            <a:avLst/>
          </a:prstGeom>
        </p:spPr>
      </p:pic>
      <p:sp>
        <p:nvSpPr>
          <p:cNvPr id="26" name="Text 19"/>
          <p:cNvSpPr/>
          <p:nvPr/>
        </p:nvSpPr>
        <p:spPr>
          <a:xfrm>
            <a:off x="1438037" y="6166366"/>
            <a:ext cx="5761196" cy="296942"/>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share</a:t>
            </a:r>
            <a:endParaRPr lang="en-US" sz="1450" dirty="0"/>
          </a:p>
        </p:txBody>
      </p:sp>
      <p:sp>
        <p:nvSpPr>
          <p:cNvPr id="27" name="Text 20"/>
          <p:cNvSpPr/>
          <p:nvPr/>
        </p:nvSpPr>
        <p:spPr>
          <a:xfrm>
            <a:off x="1438037" y="6574631"/>
            <a:ext cx="2319814" cy="289917"/>
          </a:xfrm>
          <a:prstGeom prst="rect">
            <a:avLst/>
          </a:prstGeom>
          <a:noFill/>
          <a:ln/>
        </p:spPr>
        <p:txBody>
          <a:bodyPr wrap="none" lIns="0" tIns="0" rIns="0" bIns="0" rtlCol="0" anchor="t"/>
          <a:lstStyle/>
          <a:p>
            <a:pPr algn="l" indent="0" marL="0">
              <a:lnSpc>
                <a:spcPts val="2250"/>
              </a:lnSpc>
              <a:buNone/>
            </a:pPr>
            <a:r>
              <a:rPr lang="en-US" sz="1800" dirty="0">
                <a:solidFill>
                  <a:srgbClr val="000000"/>
                </a:solidFill>
                <a:latin typeface="Readex Pro" pitchFamily="34" charset="0"/>
                <a:ea typeface="Readex Pro" pitchFamily="34" charset="-122"/>
                <a:cs typeface="Readex Pro" pitchFamily="34" charset="-120"/>
              </a:rPr>
              <a:t>Share Functionality</a:t>
            </a:r>
            <a:endParaRPr lang="en-US" sz="1800" dirty="0"/>
          </a:p>
        </p:txBody>
      </p:sp>
      <p:sp>
        <p:nvSpPr>
          <p:cNvPr id="28" name="Text 21"/>
          <p:cNvSpPr/>
          <p:nvPr/>
        </p:nvSpPr>
        <p:spPr>
          <a:xfrm>
            <a:off x="1438037" y="6975872"/>
            <a:ext cx="5761196" cy="593884"/>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Enable sharing conversation links or exporting as text/PDF, useful for collaboration or documentation.</a:t>
            </a:r>
            <a:endParaRPr lang="en-US" sz="1450" dirty="0"/>
          </a:p>
        </p:txBody>
      </p:sp>
      <p:sp>
        <p:nvSpPr>
          <p:cNvPr id="29" name="Shape 22"/>
          <p:cNvSpPr/>
          <p:nvPr/>
        </p:nvSpPr>
        <p:spPr>
          <a:xfrm>
            <a:off x="7454384" y="6050399"/>
            <a:ext cx="417433" cy="482441"/>
          </a:xfrm>
          <a:prstGeom prst="roundRect">
            <a:avLst>
              <a:gd name="adj" fmla="val 13143"/>
            </a:avLst>
          </a:prstGeom>
          <a:solidFill>
            <a:srgbClr val="DFDFE0"/>
          </a:solidFill>
          <a:ln/>
        </p:spPr>
      </p:sp>
      <p:pic>
        <p:nvPicPr>
          <p:cNvPr id="30" name="Image 5" descr="preencoded.png">    </p:cNvPr>
          <p:cNvPicPr>
            <a:picLocks noChangeAspect="1"/>
          </p:cNvPicPr>
          <p:nvPr/>
        </p:nvPicPr>
        <p:blipFill>
          <a:blip r:embed="rId6"/>
          <a:stretch>
            <a:fillRect/>
          </a:stretch>
        </p:blipFill>
        <p:spPr>
          <a:xfrm>
            <a:off x="7547134" y="6194108"/>
            <a:ext cx="231934" cy="185499"/>
          </a:xfrm>
          <a:prstGeom prst="rect">
            <a:avLst/>
          </a:prstGeom>
        </p:spPr>
      </p:pic>
      <p:sp>
        <p:nvSpPr>
          <p:cNvPr id="31" name="Text 23"/>
          <p:cNvSpPr/>
          <p:nvPr/>
        </p:nvSpPr>
        <p:spPr>
          <a:xfrm>
            <a:off x="8126968" y="6166366"/>
            <a:ext cx="5761196" cy="296942"/>
          </a:xfrm>
          <a:prstGeom prst="rect">
            <a:avLst/>
          </a:prstGeom>
          <a:noFill/>
          <a:ln/>
        </p:spPr>
        <p:txBody>
          <a:bodyPr wrap="non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settings</a:t>
            </a:r>
            <a:endParaRPr lang="en-US" sz="1450" dirty="0"/>
          </a:p>
        </p:txBody>
      </p:sp>
      <p:sp>
        <p:nvSpPr>
          <p:cNvPr id="32" name="Text 24"/>
          <p:cNvSpPr/>
          <p:nvPr/>
        </p:nvSpPr>
        <p:spPr>
          <a:xfrm>
            <a:off x="8126968" y="6574631"/>
            <a:ext cx="2467094" cy="289917"/>
          </a:xfrm>
          <a:prstGeom prst="rect">
            <a:avLst/>
          </a:prstGeom>
          <a:noFill/>
          <a:ln/>
        </p:spPr>
        <p:txBody>
          <a:bodyPr wrap="none" lIns="0" tIns="0" rIns="0" bIns="0" rtlCol="0" anchor="t"/>
          <a:lstStyle/>
          <a:p>
            <a:pPr algn="l" indent="0" marL="0">
              <a:lnSpc>
                <a:spcPts val="2250"/>
              </a:lnSpc>
              <a:buNone/>
            </a:pPr>
            <a:r>
              <a:rPr lang="en-US" sz="1800" dirty="0">
                <a:solidFill>
                  <a:srgbClr val="000000"/>
                </a:solidFill>
                <a:latin typeface="Readex Pro" pitchFamily="34" charset="0"/>
                <a:ea typeface="Readex Pro" pitchFamily="34" charset="-122"/>
                <a:cs typeface="Readex Pro" pitchFamily="34" charset="-120"/>
              </a:rPr>
              <a:t>Configuration Options</a:t>
            </a:r>
            <a:endParaRPr lang="en-US" sz="1800" dirty="0"/>
          </a:p>
        </p:txBody>
      </p:sp>
      <p:sp>
        <p:nvSpPr>
          <p:cNvPr id="33" name="Text 25"/>
          <p:cNvSpPr/>
          <p:nvPr/>
        </p:nvSpPr>
        <p:spPr>
          <a:xfrm>
            <a:off x="8126968" y="6975872"/>
            <a:ext cx="5761196" cy="593884"/>
          </a:xfrm>
          <a:prstGeom prst="rect">
            <a:avLst/>
          </a:prstGeom>
          <a:noFill/>
          <a:ln/>
        </p:spPr>
        <p:txBody>
          <a:bodyPr wrap="square" lIns="0" tIns="0" rIns="0" bIns="0" rtlCol="0" anchor="t"/>
          <a:lstStyle/>
          <a:p>
            <a:pPr algn="l" indent="0" marL="0">
              <a:lnSpc>
                <a:spcPts val="2300"/>
              </a:lnSpc>
              <a:buNone/>
            </a:pPr>
            <a:r>
              <a:rPr lang="en-US" sz="1450" dirty="0">
                <a:solidFill>
                  <a:srgbClr val="000000"/>
                </a:solidFill>
                <a:latin typeface="Readex Pro Light" pitchFamily="34" charset="0"/>
                <a:ea typeface="Readex Pro Light" pitchFamily="34" charset="-122"/>
                <a:cs typeface="Readex Pro Light" pitchFamily="34" charset="-120"/>
              </a:rPr>
              <a:t>Allow users to adjust model parameters like temperature, select different models, or customize the system prompt.</a:t>
            </a:r>
            <a:endParaRPr lang="en-US" sz="14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793790" y="1913215"/>
            <a:ext cx="6160889"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Code Quality and Maintainability</a:t>
            </a:r>
            <a:endParaRPr lang="en-US" sz="3100" dirty="0"/>
          </a:p>
        </p:txBody>
      </p:sp>
      <p:sp>
        <p:nvSpPr>
          <p:cNvPr id="3" name="Text 1"/>
          <p:cNvSpPr/>
          <p:nvPr/>
        </p:nvSpPr>
        <p:spPr>
          <a:xfrm>
            <a:off x="793790" y="2806184"/>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implementation demonstrates several software engineering best practices that contribute to long-term maintainability:</a:t>
            </a:r>
            <a:endParaRPr lang="en-US" sz="1550" dirty="0"/>
          </a:p>
        </p:txBody>
      </p:sp>
      <p:sp>
        <p:nvSpPr>
          <p:cNvPr id="4" name="Text 2"/>
          <p:cNvSpPr/>
          <p:nvPr/>
        </p:nvSpPr>
        <p:spPr>
          <a:xfrm>
            <a:off x="793790" y="354532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Single Responsibility</a:t>
            </a:r>
            <a:endParaRPr lang="en-US" sz="1950" dirty="0"/>
          </a:p>
        </p:txBody>
      </p:sp>
      <p:sp>
        <p:nvSpPr>
          <p:cNvPr id="5" name="Text 3"/>
          <p:cNvSpPr/>
          <p:nvPr/>
        </p:nvSpPr>
        <p:spPr>
          <a:xfrm>
            <a:off x="793790" y="4053840"/>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Each function has a clear, focused purpose.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handleSend</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manages message submission,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scrollToBottom</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handles scrolling, and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SimpleMarkdown</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renders formatted text.</a:t>
            </a:r>
            <a:endParaRPr lang="en-US" sz="1550" dirty="0"/>
          </a:p>
        </p:txBody>
      </p:sp>
      <p:sp>
        <p:nvSpPr>
          <p:cNvPr id="6" name="Text 4"/>
          <p:cNvSpPr/>
          <p:nvPr/>
        </p:nvSpPr>
        <p:spPr>
          <a:xfrm>
            <a:off x="793790" y="5185053"/>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This separation makes the code easier to understand, test, and modify. You can change scrolling behavior without touching message handling logic.</a:t>
            </a:r>
            <a:endParaRPr lang="en-US" sz="1550" dirty="0"/>
          </a:p>
        </p:txBody>
      </p:sp>
      <p:sp>
        <p:nvSpPr>
          <p:cNvPr id="7" name="Text 5"/>
          <p:cNvSpPr/>
          <p:nvPr/>
        </p:nvSpPr>
        <p:spPr>
          <a:xfrm>
            <a:off x="7564874" y="354532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DRY Principle</a:t>
            </a:r>
            <a:endParaRPr lang="en-US" sz="1950" dirty="0"/>
          </a:p>
        </p:txBody>
      </p:sp>
      <p:sp>
        <p:nvSpPr>
          <p:cNvPr id="8" name="Text 6"/>
          <p:cNvSpPr/>
          <p:nvPr/>
        </p:nvSpPr>
        <p:spPr>
          <a:xfrm>
            <a:off x="7564874" y="4053840"/>
            <a:ext cx="6279356"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Common patterns like message styling are abstracted into reusable classes. The conditional styling for user vs model messages avoids duplicating the entire message component structure.</a:t>
            </a:r>
            <a:endParaRPr lang="en-US" sz="1550" dirty="0"/>
          </a:p>
        </p:txBody>
      </p:sp>
      <p:sp>
        <p:nvSpPr>
          <p:cNvPr id="9" name="Text 7"/>
          <p:cNvSpPr/>
          <p:nvPr/>
        </p:nvSpPr>
        <p:spPr>
          <a:xfrm>
            <a:off x="7564874" y="5185053"/>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Helper components like SimpleMarkdown eliminate repetition of rendering logic, making updates centralized.</a:t>
            </a:r>
            <a:endParaRPr lang="en-US" sz="15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793790" y="1806416"/>
            <a:ext cx="5773579"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Common Pitfalls and Solutions</a:t>
            </a:r>
            <a:endParaRPr lang="en-US" sz="3100" dirty="0"/>
          </a:p>
        </p:txBody>
      </p:sp>
      <p:sp>
        <p:nvSpPr>
          <p:cNvPr id="3" name="Text 1"/>
          <p:cNvSpPr/>
          <p:nvPr/>
        </p:nvSpPr>
        <p:spPr>
          <a:xfrm>
            <a:off x="793790" y="269938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Based on this implementation, here are common issues developers face when building conversational interfaces and their solutions:</a:t>
            </a:r>
            <a:endParaRPr lang="en-US" sz="1550" dirty="0"/>
          </a:p>
        </p:txBody>
      </p:sp>
      <p:sp>
        <p:nvSpPr>
          <p:cNvPr id="4" name="Shape 2"/>
          <p:cNvSpPr/>
          <p:nvPr/>
        </p:nvSpPr>
        <p:spPr>
          <a:xfrm>
            <a:off x="793790" y="3240167"/>
            <a:ext cx="13042821" cy="3183017"/>
          </a:xfrm>
          <a:prstGeom prst="roundRect">
            <a:avLst>
              <a:gd name="adj" fmla="val 5612"/>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5" name="Shape 3"/>
          <p:cNvSpPr/>
          <p:nvPr/>
        </p:nvSpPr>
        <p:spPr>
          <a:xfrm>
            <a:off x="801410" y="3247787"/>
            <a:ext cx="4342448" cy="3167777"/>
          </a:xfrm>
          <a:prstGeom prst="roundRect">
            <a:avLst>
              <a:gd name="adj" fmla="val 5639"/>
            </a:avLst>
          </a:prstGeom>
          <a:solidFill>
            <a:srgbClr val="F3F3F3"/>
          </a:solidFill>
          <a:ln/>
        </p:spPr>
      </p:sp>
      <p:sp>
        <p:nvSpPr>
          <p:cNvPr id="6" name="Text 4"/>
          <p:cNvSpPr/>
          <p:nvPr/>
        </p:nvSpPr>
        <p:spPr>
          <a:xfrm>
            <a:off x="999768" y="344614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Race Conditions</a:t>
            </a:r>
            <a:endParaRPr lang="en-US" sz="1950" dirty="0"/>
          </a:p>
        </p:txBody>
      </p:sp>
      <p:sp>
        <p:nvSpPr>
          <p:cNvPr id="7" name="Text 5"/>
          <p:cNvSpPr/>
          <p:nvPr/>
        </p:nvSpPr>
        <p:spPr>
          <a:xfrm>
            <a:off x="999768" y="3875365"/>
            <a:ext cx="3945731" cy="952619"/>
          </a:xfrm>
          <a:prstGeom prst="rect">
            <a:avLst/>
          </a:prstGeom>
          <a:noFill/>
          <a:ln/>
        </p:spPr>
        <p:txBody>
          <a:bodyPr wrap="square" lIns="0" tIns="0" rIns="0" bIns="0" rtlCol="0" anchor="t"/>
          <a:lstStyle/>
          <a:p>
            <a:pPr algn="l" indent="0" marL="0">
              <a:lnSpc>
                <a:spcPts val="2500"/>
              </a:lnSpc>
              <a:buNone/>
            </a:pPr>
            <a:r>
              <a:rPr lang="en-US" sz="1550" b="1" dirty="0">
                <a:solidFill>
                  <a:srgbClr val="000000"/>
                </a:solidFill>
                <a:latin typeface="Readex Pro Light" pitchFamily="34" charset="0"/>
                <a:ea typeface="Readex Pro Light" pitchFamily="34" charset="-122"/>
                <a:cs typeface="Readex Pro Light" pitchFamily="34" charset="-120"/>
              </a:rPr>
              <a:t>Problem:</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Multiple rapid message sends can cause responses to appear out of order</a:t>
            </a:r>
            <a:endParaRPr lang="en-US" sz="1550" dirty="0"/>
          </a:p>
        </p:txBody>
      </p:sp>
      <p:sp>
        <p:nvSpPr>
          <p:cNvPr id="8" name="Text 6"/>
          <p:cNvSpPr/>
          <p:nvPr/>
        </p:nvSpPr>
        <p:spPr>
          <a:xfrm>
            <a:off x="999768" y="4947047"/>
            <a:ext cx="3945731" cy="1270159"/>
          </a:xfrm>
          <a:prstGeom prst="rect">
            <a:avLst/>
          </a:prstGeom>
          <a:noFill/>
          <a:ln/>
        </p:spPr>
        <p:txBody>
          <a:bodyPr wrap="square" lIns="0" tIns="0" rIns="0" bIns="0" rtlCol="0" anchor="t"/>
          <a:lstStyle/>
          <a:p>
            <a:pPr algn="l" indent="0" marL="0">
              <a:lnSpc>
                <a:spcPts val="2500"/>
              </a:lnSpc>
              <a:buNone/>
            </a:pPr>
            <a:r>
              <a:rPr lang="en-US" sz="1550" b="1" dirty="0">
                <a:solidFill>
                  <a:srgbClr val="000000"/>
                </a:solidFill>
                <a:latin typeface="Readex Pro Light" pitchFamily="34" charset="0"/>
                <a:ea typeface="Readex Pro Light" pitchFamily="34" charset="-122"/>
                <a:cs typeface="Readex Pro Light" pitchFamily="34" charset="-120"/>
              </a:rPr>
              <a:t>Solution:</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The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isLoading</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flag prevents sending while processing. For more complex scenarios, assign sequence numbers to requests.</a:t>
            </a:r>
            <a:endParaRPr lang="en-US" sz="1550" dirty="0"/>
          </a:p>
        </p:txBody>
      </p:sp>
      <p:sp>
        <p:nvSpPr>
          <p:cNvPr id="9" name="Shape 7"/>
          <p:cNvSpPr/>
          <p:nvPr/>
        </p:nvSpPr>
        <p:spPr>
          <a:xfrm>
            <a:off x="5143857" y="3247787"/>
            <a:ext cx="4342567" cy="3167777"/>
          </a:xfrm>
          <a:prstGeom prst="rect">
            <a:avLst/>
          </a:prstGeom>
          <a:solidFill>
            <a:srgbClr val="F3F3F3"/>
          </a:solidFill>
          <a:ln/>
        </p:spPr>
      </p:sp>
      <p:sp>
        <p:nvSpPr>
          <p:cNvPr id="10" name="Shape 8"/>
          <p:cNvSpPr/>
          <p:nvPr/>
        </p:nvSpPr>
        <p:spPr>
          <a:xfrm>
            <a:off x="5143857" y="3247787"/>
            <a:ext cx="22860" cy="3167777"/>
          </a:xfrm>
          <a:prstGeom prst="roundRect">
            <a:avLst>
              <a:gd name="adj" fmla="val 781396"/>
            </a:avLst>
          </a:prstGeom>
          <a:solidFill>
            <a:srgbClr val="CCCCCC"/>
          </a:solidFill>
          <a:ln/>
        </p:spPr>
      </p:sp>
      <p:sp>
        <p:nvSpPr>
          <p:cNvPr id="11" name="Text 9"/>
          <p:cNvSpPr/>
          <p:nvPr/>
        </p:nvSpPr>
        <p:spPr>
          <a:xfrm>
            <a:off x="5342215" y="344614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Memory Leaks</a:t>
            </a:r>
            <a:endParaRPr lang="en-US" sz="1950" dirty="0"/>
          </a:p>
        </p:txBody>
      </p:sp>
      <p:sp>
        <p:nvSpPr>
          <p:cNvPr id="12" name="Text 10"/>
          <p:cNvSpPr/>
          <p:nvPr/>
        </p:nvSpPr>
        <p:spPr>
          <a:xfrm>
            <a:off x="5342215" y="3875365"/>
            <a:ext cx="3945850" cy="635079"/>
          </a:xfrm>
          <a:prstGeom prst="rect">
            <a:avLst/>
          </a:prstGeom>
          <a:noFill/>
          <a:ln/>
        </p:spPr>
        <p:txBody>
          <a:bodyPr wrap="square" lIns="0" tIns="0" rIns="0" bIns="0" rtlCol="0" anchor="t"/>
          <a:lstStyle/>
          <a:p>
            <a:pPr algn="l" indent="0" marL="0">
              <a:lnSpc>
                <a:spcPts val="2500"/>
              </a:lnSpc>
              <a:buNone/>
            </a:pPr>
            <a:r>
              <a:rPr lang="en-US" sz="1550" b="1" dirty="0">
                <a:solidFill>
                  <a:srgbClr val="000000"/>
                </a:solidFill>
                <a:latin typeface="Readex Pro Light" pitchFamily="34" charset="0"/>
                <a:ea typeface="Readex Pro Light" pitchFamily="34" charset="-122"/>
                <a:cs typeface="Readex Pro Light" pitchFamily="34" charset="-120"/>
              </a:rPr>
              <a:t>Problem:</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Stream subscriptions not cleaned up on component unmount</a:t>
            </a:r>
            <a:endParaRPr lang="en-US" sz="1550" dirty="0"/>
          </a:p>
        </p:txBody>
      </p:sp>
      <p:sp>
        <p:nvSpPr>
          <p:cNvPr id="13" name="Text 11"/>
          <p:cNvSpPr/>
          <p:nvPr/>
        </p:nvSpPr>
        <p:spPr>
          <a:xfrm>
            <a:off x="5342215" y="4629507"/>
            <a:ext cx="3945850" cy="1270159"/>
          </a:xfrm>
          <a:prstGeom prst="rect">
            <a:avLst/>
          </a:prstGeom>
          <a:noFill/>
          <a:ln/>
        </p:spPr>
        <p:txBody>
          <a:bodyPr wrap="square" lIns="0" tIns="0" rIns="0" bIns="0" rtlCol="0" anchor="t"/>
          <a:lstStyle/>
          <a:p>
            <a:pPr algn="l" indent="0" marL="0">
              <a:lnSpc>
                <a:spcPts val="2500"/>
              </a:lnSpc>
              <a:buNone/>
            </a:pPr>
            <a:r>
              <a:rPr lang="en-US" sz="1550" b="1" dirty="0">
                <a:solidFill>
                  <a:srgbClr val="000000"/>
                </a:solidFill>
                <a:latin typeface="Readex Pro Light" pitchFamily="34" charset="0"/>
                <a:ea typeface="Readex Pro Light" pitchFamily="34" charset="-122"/>
                <a:cs typeface="Readex Pro Light" pitchFamily="34" charset="-120"/>
              </a:rPr>
              <a:t>Solution:</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Add useEffect cleanup that cancels active streams. Store abort controller in ref and call abort() on unmount.</a:t>
            </a:r>
            <a:endParaRPr lang="en-US" sz="1550" dirty="0"/>
          </a:p>
        </p:txBody>
      </p:sp>
      <p:sp>
        <p:nvSpPr>
          <p:cNvPr id="14" name="Shape 12"/>
          <p:cNvSpPr/>
          <p:nvPr/>
        </p:nvSpPr>
        <p:spPr>
          <a:xfrm>
            <a:off x="9486424" y="3247787"/>
            <a:ext cx="4342567" cy="3167777"/>
          </a:xfrm>
          <a:prstGeom prst="rect">
            <a:avLst/>
          </a:prstGeom>
          <a:solidFill>
            <a:srgbClr val="F3F3F3"/>
          </a:solidFill>
          <a:ln/>
        </p:spPr>
      </p:sp>
      <p:sp>
        <p:nvSpPr>
          <p:cNvPr id="15" name="Shape 13"/>
          <p:cNvSpPr/>
          <p:nvPr/>
        </p:nvSpPr>
        <p:spPr>
          <a:xfrm>
            <a:off x="9486424" y="3247787"/>
            <a:ext cx="22860" cy="3167777"/>
          </a:xfrm>
          <a:prstGeom prst="roundRect">
            <a:avLst>
              <a:gd name="adj" fmla="val 781396"/>
            </a:avLst>
          </a:prstGeom>
          <a:solidFill>
            <a:srgbClr val="CCCCCC"/>
          </a:solidFill>
          <a:ln/>
        </p:spPr>
      </p:sp>
      <p:sp>
        <p:nvSpPr>
          <p:cNvPr id="16" name="Text 14"/>
          <p:cNvSpPr/>
          <p:nvPr/>
        </p:nvSpPr>
        <p:spPr>
          <a:xfrm>
            <a:off x="9684782" y="344614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Stale Closures</a:t>
            </a:r>
            <a:endParaRPr lang="en-US" sz="1950" dirty="0"/>
          </a:p>
        </p:txBody>
      </p:sp>
      <p:sp>
        <p:nvSpPr>
          <p:cNvPr id="17" name="Text 15"/>
          <p:cNvSpPr/>
          <p:nvPr/>
        </p:nvSpPr>
        <p:spPr>
          <a:xfrm>
            <a:off x="9684782" y="3875365"/>
            <a:ext cx="3945850" cy="635079"/>
          </a:xfrm>
          <a:prstGeom prst="rect">
            <a:avLst/>
          </a:prstGeom>
          <a:noFill/>
          <a:ln/>
        </p:spPr>
        <p:txBody>
          <a:bodyPr wrap="square" lIns="0" tIns="0" rIns="0" bIns="0" rtlCol="0" anchor="t"/>
          <a:lstStyle/>
          <a:p>
            <a:pPr algn="l" indent="0" marL="0">
              <a:lnSpc>
                <a:spcPts val="2500"/>
              </a:lnSpc>
              <a:buNone/>
            </a:pPr>
            <a:r>
              <a:rPr lang="en-US" sz="1550" b="1" dirty="0">
                <a:solidFill>
                  <a:srgbClr val="000000"/>
                </a:solidFill>
                <a:latin typeface="Readex Pro Light" pitchFamily="34" charset="0"/>
                <a:ea typeface="Readex Pro Light" pitchFamily="34" charset="-122"/>
                <a:cs typeface="Readex Pro Light" pitchFamily="34" charset="-120"/>
              </a:rPr>
              <a:t>Problem:</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Callbacks capture old state values in async operations</a:t>
            </a:r>
            <a:endParaRPr lang="en-US" sz="1550" dirty="0"/>
          </a:p>
        </p:txBody>
      </p:sp>
      <p:sp>
        <p:nvSpPr>
          <p:cNvPr id="18" name="Text 16"/>
          <p:cNvSpPr/>
          <p:nvPr/>
        </p:nvSpPr>
        <p:spPr>
          <a:xfrm>
            <a:off x="9684782" y="4629507"/>
            <a:ext cx="3945850" cy="952619"/>
          </a:xfrm>
          <a:prstGeom prst="rect">
            <a:avLst/>
          </a:prstGeom>
          <a:noFill/>
          <a:ln/>
        </p:spPr>
        <p:txBody>
          <a:bodyPr wrap="square" lIns="0" tIns="0" rIns="0" bIns="0" rtlCol="0" anchor="t"/>
          <a:lstStyle/>
          <a:p>
            <a:pPr algn="l" indent="0" marL="0">
              <a:lnSpc>
                <a:spcPts val="2500"/>
              </a:lnSpc>
              <a:buNone/>
            </a:pPr>
            <a:r>
              <a:rPr lang="en-US" sz="1550" b="1" dirty="0">
                <a:solidFill>
                  <a:srgbClr val="000000"/>
                </a:solidFill>
                <a:latin typeface="Readex Pro Light" pitchFamily="34" charset="0"/>
                <a:ea typeface="Readex Pro Light" pitchFamily="34" charset="-122"/>
                <a:cs typeface="Readex Pro Light" pitchFamily="34" charset="-120"/>
              </a:rPr>
              <a:t>Solution:</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Use functional state updates (</a:t>
            </a:r>
            <a:pPr algn="l" indent="0" marL="0">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prev =&gt; ...</a:t>
            </a:r>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 instead of direct state references in async callbacks.</a:t>
            </a:r>
            <a:endParaRPr lang="en-US" sz="15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793790" y="1754505"/>
            <a:ext cx="6682383"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Progressive Enhancement Strategy</a:t>
            </a:r>
            <a:endParaRPr lang="en-US" sz="3100" dirty="0"/>
          </a:p>
        </p:txBody>
      </p:sp>
      <p:sp>
        <p:nvSpPr>
          <p:cNvPr id="3" name="Text 1"/>
          <p:cNvSpPr/>
          <p:nvPr/>
        </p:nvSpPr>
        <p:spPr>
          <a:xfrm>
            <a:off x="793790" y="264747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component demonstrates progressive enhancement: core functionality works everywhere, with enhanced features layered on when available. This approach ensures broad compatibility while providing optimal experiences on capable devices.</a:t>
            </a:r>
            <a:endParaRPr lang="en-US" sz="1550" dirty="0"/>
          </a:p>
        </p:txBody>
      </p:sp>
      <p:pic>
        <p:nvPicPr>
          <p:cNvPr id="4" name="Image 0" descr="preencoded.png">    </p:cNvPr>
          <p:cNvPicPr>
            <a:picLocks noChangeAspect="1"/>
          </p:cNvPicPr>
          <p:nvPr/>
        </p:nvPicPr>
        <p:blipFill>
          <a:blip r:embed="rId1"/>
          <a:stretch>
            <a:fillRect/>
          </a:stretch>
        </p:blipFill>
        <p:spPr>
          <a:xfrm>
            <a:off x="793790" y="4101108"/>
            <a:ext cx="4215289" cy="1143000"/>
          </a:xfrm>
          <a:prstGeom prst="rect">
            <a:avLst/>
          </a:prstGeom>
        </p:spPr>
      </p:pic>
      <p:sp>
        <p:nvSpPr>
          <p:cNvPr id="5" name="Text 2"/>
          <p:cNvSpPr/>
          <p:nvPr/>
        </p:nvSpPr>
        <p:spPr>
          <a:xfrm>
            <a:off x="992148" y="489477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Base Experience</a:t>
            </a:r>
            <a:endParaRPr lang="en-US" sz="1950" dirty="0"/>
          </a:p>
        </p:txBody>
      </p:sp>
      <p:sp>
        <p:nvSpPr>
          <p:cNvPr id="6" name="Text 3"/>
          <p:cNvSpPr/>
          <p:nvPr/>
        </p:nvSpPr>
        <p:spPr>
          <a:xfrm>
            <a:off x="992148" y="5323999"/>
            <a:ext cx="3818573"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Text-based chat works without geolocation, JavaScript animations, or modern CSS features</a:t>
            </a:r>
            <a:endParaRPr lang="en-US" sz="1550" dirty="0"/>
          </a:p>
        </p:txBody>
      </p:sp>
      <p:pic>
        <p:nvPicPr>
          <p:cNvPr id="7" name="Image 1" descr="preencoded.png">    </p:cNvPr>
          <p:cNvPicPr>
            <a:picLocks noChangeAspect="1"/>
          </p:cNvPicPr>
          <p:nvPr/>
        </p:nvPicPr>
        <p:blipFill>
          <a:blip r:embed="rId2"/>
          <a:stretch>
            <a:fillRect/>
          </a:stretch>
        </p:blipFill>
        <p:spPr>
          <a:xfrm>
            <a:off x="5207437" y="3803452"/>
            <a:ext cx="4215408" cy="1143000"/>
          </a:xfrm>
          <a:prstGeom prst="rect">
            <a:avLst/>
          </a:prstGeom>
        </p:spPr>
      </p:pic>
      <p:sp>
        <p:nvSpPr>
          <p:cNvPr id="8" name="Text 4"/>
          <p:cNvSpPr/>
          <p:nvPr/>
        </p:nvSpPr>
        <p:spPr>
          <a:xfrm>
            <a:off x="5405795" y="4597122"/>
            <a:ext cx="2565440"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Enhanced Experience</a:t>
            </a:r>
            <a:endParaRPr lang="en-US" sz="1950" dirty="0"/>
          </a:p>
        </p:txBody>
      </p:sp>
      <p:sp>
        <p:nvSpPr>
          <p:cNvPr id="9" name="Text 5"/>
          <p:cNvSpPr/>
          <p:nvPr/>
        </p:nvSpPr>
        <p:spPr>
          <a:xfrm>
            <a:off x="5405795" y="5026343"/>
            <a:ext cx="3818692"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Location-aware responses, smooth animations, and glassmorphism effects on modern browsers</a:t>
            </a:r>
            <a:endParaRPr lang="en-US" sz="1550" dirty="0"/>
          </a:p>
        </p:txBody>
      </p:sp>
      <p:pic>
        <p:nvPicPr>
          <p:cNvPr id="10" name="Image 2" descr="preencoded.png">    </p:cNvPr>
          <p:cNvPicPr>
            <a:picLocks noChangeAspect="1"/>
          </p:cNvPicPr>
          <p:nvPr/>
        </p:nvPicPr>
        <p:blipFill>
          <a:blip r:embed="rId3"/>
          <a:stretch>
            <a:fillRect/>
          </a:stretch>
        </p:blipFill>
        <p:spPr>
          <a:xfrm>
            <a:off x="9621203" y="3505795"/>
            <a:ext cx="4215289" cy="1143000"/>
          </a:xfrm>
          <a:prstGeom prst="rect">
            <a:avLst/>
          </a:prstGeom>
        </p:spPr>
      </p:pic>
      <p:sp>
        <p:nvSpPr>
          <p:cNvPr id="11" name="Text 6"/>
          <p:cNvSpPr/>
          <p:nvPr/>
        </p:nvSpPr>
        <p:spPr>
          <a:xfrm>
            <a:off x="9819561" y="429946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Premium Experience</a:t>
            </a:r>
            <a:endParaRPr lang="en-US" sz="1950" dirty="0"/>
          </a:p>
        </p:txBody>
      </p:sp>
      <p:sp>
        <p:nvSpPr>
          <p:cNvPr id="12" name="Text 7"/>
          <p:cNvSpPr/>
          <p:nvPr/>
        </p:nvSpPr>
        <p:spPr>
          <a:xfrm>
            <a:off x="9819561" y="4728686"/>
            <a:ext cx="3818573"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Streaming responses, real-time updates, and advanced visual effects on high-performance devices</a:t>
            </a:r>
            <a:endParaRPr lang="en-US" sz="15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793790" y="1754505"/>
            <a:ext cx="5357693"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Real-World Usage Scenarios</a:t>
            </a:r>
            <a:endParaRPr lang="en-US" sz="3100" dirty="0"/>
          </a:p>
        </p:txBody>
      </p:sp>
      <p:sp>
        <p:nvSpPr>
          <p:cNvPr id="3" name="Text 1"/>
          <p:cNvSpPr/>
          <p:nvPr/>
        </p:nvSpPr>
        <p:spPr>
          <a:xfrm>
            <a:off x="793790" y="264747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This conversational interface pattern applies to numerous real-world applications. Understanding these use cases helps identify which features to prioritize and how to customize the implementation:</a:t>
            </a:r>
            <a:endParaRPr lang="en-US" sz="1550" dirty="0"/>
          </a:p>
        </p:txBody>
      </p:sp>
      <p:sp>
        <p:nvSpPr>
          <p:cNvPr id="4" name="Text 2"/>
          <p:cNvSpPr/>
          <p:nvPr/>
        </p:nvSpPr>
        <p:spPr>
          <a:xfrm>
            <a:off x="793790" y="370415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Customer Support</a:t>
            </a:r>
            <a:endParaRPr lang="en-US" sz="1950" dirty="0"/>
          </a:p>
        </p:txBody>
      </p:sp>
      <p:sp>
        <p:nvSpPr>
          <p:cNvPr id="5" name="Text 3"/>
          <p:cNvSpPr/>
          <p:nvPr/>
        </p:nvSpPr>
        <p:spPr>
          <a:xfrm>
            <a:off x="793790" y="4212669"/>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Replace or augment traditional support tickets with conversational AI that can search documentation, check order status, and escalate to humans when needed. The grounding features ensure responses are based on your knowledge base.</a:t>
            </a:r>
            <a:endParaRPr lang="en-US" sz="1550" dirty="0"/>
          </a:p>
        </p:txBody>
      </p:sp>
      <p:sp>
        <p:nvSpPr>
          <p:cNvPr id="6" name="Text 4"/>
          <p:cNvSpPr/>
          <p:nvPr/>
        </p:nvSpPr>
        <p:spPr>
          <a:xfrm>
            <a:off x="793790" y="5661422"/>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Add features like sentiment detection, canned responses, and handoff to human agents for production support bots.</a:t>
            </a:r>
            <a:endParaRPr lang="en-US" sz="1550" dirty="0"/>
          </a:p>
        </p:txBody>
      </p:sp>
      <p:sp>
        <p:nvSpPr>
          <p:cNvPr id="7" name="Text 5"/>
          <p:cNvSpPr/>
          <p:nvPr/>
        </p:nvSpPr>
        <p:spPr>
          <a:xfrm>
            <a:off x="7564874" y="3704153"/>
            <a:ext cx="2647831"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Educational Assistants</a:t>
            </a:r>
            <a:endParaRPr lang="en-US" sz="1950" dirty="0"/>
          </a:p>
        </p:txBody>
      </p:sp>
      <p:sp>
        <p:nvSpPr>
          <p:cNvPr id="8" name="Text 6"/>
          <p:cNvSpPr/>
          <p:nvPr/>
        </p:nvSpPr>
        <p:spPr>
          <a:xfrm>
            <a:off x="7564874" y="4212669"/>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Create tutoring interfaces that explain concepts, answer questions, and provide personalized learning paths. The context-aware nature enables building on previous questions and tracking student understanding.</a:t>
            </a:r>
            <a:endParaRPr lang="en-US" sz="1550" dirty="0"/>
          </a:p>
        </p:txBody>
      </p:sp>
      <p:sp>
        <p:nvSpPr>
          <p:cNvPr id="9" name="Text 7"/>
          <p:cNvSpPr/>
          <p:nvPr/>
        </p:nvSpPr>
        <p:spPr>
          <a:xfrm>
            <a:off x="7564874" y="5661422"/>
            <a:ext cx="6279356"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Enhance with features like progress tracking, quiz generation, and adaptive difficulty based on student performance.</a:t>
            </a:r>
            <a:endParaRPr lang="en-US" sz="15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793790" y="789384"/>
            <a:ext cx="6758107"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Future of Conversational Interfaces</a:t>
            </a:r>
            <a:endParaRPr lang="en-US" sz="3100" dirty="0"/>
          </a:p>
        </p:txBody>
      </p:sp>
      <p:sp>
        <p:nvSpPr>
          <p:cNvPr id="3" name="Text 1"/>
          <p:cNvSpPr/>
          <p:nvPr/>
        </p:nvSpPr>
        <p:spPr>
          <a:xfrm>
            <a:off x="793790" y="168235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conversational interface pattern is evolving rapidly as AI capabilities improve. Understanding emerging trends helps future-proof your implementation:</a:t>
            </a:r>
            <a:endParaRPr lang="en-US" sz="1550" dirty="0"/>
          </a:p>
        </p:txBody>
      </p:sp>
      <p:sp>
        <p:nvSpPr>
          <p:cNvPr id="4" name="Shape 2"/>
          <p:cNvSpPr/>
          <p:nvPr/>
        </p:nvSpPr>
        <p:spPr>
          <a:xfrm>
            <a:off x="7303770" y="2540675"/>
            <a:ext cx="22860" cy="4899422"/>
          </a:xfrm>
          <a:prstGeom prst="roundRect">
            <a:avLst>
              <a:gd name="adj" fmla="val 781396"/>
            </a:avLst>
          </a:prstGeom>
          <a:solidFill>
            <a:srgbClr val="CCCCCC"/>
          </a:solidFill>
          <a:ln/>
        </p:spPr>
      </p:sp>
      <p:sp>
        <p:nvSpPr>
          <p:cNvPr id="5" name="Shape 3"/>
          <p:cNvSpPr/>
          <p:nvPr/>
        </p:nvSpPr>
        <p:spPr>
          <a:xfrm>
            <a:off x="6519505" y="2752487"/>
            <a:ext cx="595313" cy="22860"/>
          </a:xfrm>
          <a:prstGeom prst="roundRect">
            <a:avLst>
              <a:gd name="adj" fmla="val 781396"/>
            </a:avLst>
          </a:prstGeom>
          <a:solidFill>
            <a:srgbClr val="CCCCCC"/>
          </a:solidFill>
          <a:ln/>
        </p:spPr>
      </p:sp>
      <p:sp>
        <p:nvSpPr>
          <p:cNvPr id="6" name="Shape 4"/>
          <p:cNvSpPr/>
          <p:nvPr/>
        </p:nvSpPr>
        <p:spPr>
          <a:xfrm>
            <a:off x="7091958" y="2540675"/>
            <a:ext cx="446484" cy="446484"/>
          </a:xfrm>
          <a:prstGeom prst="roundRect">
            <a:avLst>
              <a:gd name="adj" fmla="val 4000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7" name="Text 5"/>
          <p:cNvSpPr/>
          <p:nvPr/>
        </p:nvSpPr>
        <p:spPr>
          <a:xfrm>
            <a:off x="7166372" y="2577882"/>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000000"/>
                </a:solidFill>
                <a:latin typeface="Readex Pro" pitchFamily="34" charset="0"/>
                <a:ea typeface="Readex Pro" pitchFamily="34" charset="-122"/>
                <a:cs typeface="Readex Pro" pitchFamily="34" charset="-120"/>
              </a:rPr>
              <a:t>1</a:t>
            </a:r>
            <a:endParaRPr lang="en-US" sz="2300" dirty="0"/>
          </a:p>
        </p:txBody>
      </p:sp>
      <p:sp>
        <p:nvSpPr>
          <p:cNvPr id="8" name="Text 6"/>
          <p:cNvSpPr/>
          <p:nvPr/>
        </p:nvSpPr>
        <p:spPr>
          <a:xfrm>
            <a:off x="3574256" y="2608898"/>
            <a:ext cx="2748677" cy="310158"/>
          </a:xfrm>
          <a:prstGeom prst="rect">
            <a:avLst/>
          </a:prstGeom>
          <a:noFill/>
          <a:ln/>
        </p:spPr>
        <p:txBody>
          <a:bodyPr wrap="none" lIns="0" tIns="0" rIns="0" bIns="0" rtlCol="0" anchor="t"/>
          <a:lstStyle/>
          <a:p>
            <a:pPr algn="r"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Multimodal Integration</a:t>
            </a:r>
            <a:endParaRPr lang="en-US" sz="1950" dirty="0"/>
          </a:p>
        </p:txBody>
      </p:sp>
      <p:sp>
        <p:nvSpPr>
          <p:cNvPr id="9" name="Text 7"/>
          <p:cNvSpPr/>
          <p:nvPr/>
        </p:nvSpPr>
        <p:spPr>
          <a:xfrm>
            <a:off x="793790" y="3038118"/>
            <a:ext cx="5529143" cy="952619"/>
          </a:xfrm>
          <a:prstGeom prst="rect">
            <a:avLst/>
          </a:prstGeom>
          <a:noFill/>
          <a:ln/>
        </p:spPr>
        <p:txBody>
          <a:bodyPr wrap="square" lIns="0" tIns="0" rIns="0" bIns="0" rtlCol="0" anchor="t"/>
          <a:lstStyle/>
          <a:p>
            <a:pPr algn="r"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Next-generation interfaces will seamlessly blend text, voice, images, and video in conversations, enabling richer expression and understanding.</a:t>
            </a:r>
            <a:endParaRPr lang="en-US" sz="1550" dirty="0"/>
          </a:p>
        </p:txBody>
      </p:sp>
      <p:sp>
        <p:nvSpPr>
          <p:cNvPr id="10" name="Shape 8"/>
          <p:cNvSpPr/>
          <p:nvPr/>
        </p:nvSpPr>
        <p:spPr>
          <a:xfrm>
            <a:off x="7515582" y="3943112"/>
            <a:ext cx="595313" cy="22860"/>
          </a:xfrm>
          <a:prstGeom prst="roundRect">
            <a:avLst>
              <a:gd name="adj" fmla="val 781396"/>
            </a:avLst>
          </a:prstGeom>
          <a:solidFill>
            <a:srgbClr val="CCCCCC"/>
          </a:solidFill>
          <a:ln/>
        </p:spPr>
      </p:sp>
      <p:sp>
        <p:nvSpPr>
          <p:cNvPr id="11" name="Shape 9"/>
          <p:cNvSpPr/>
          <p:nvPr/>
        </p:nvSpPr>
        <p:spPr>
          <a:xfrm>
            <a:off x="7091958" y="3731300"/>
            <a:ext cx="446484" cy="446484"/>
          </a:xfrm>
          <a:prstGeom prst="roundRect">
            <a:avLst>
              <a:gd name="adj" fmla="val 4000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2" name="Text 10"/>
          <p:cNvSpPr/>
          <p:nvPr/>
        </p:nvSpPr>
        <p:spPr>
          <a:xfrm>
            <a:off x="7166372" y="3768507"/>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000000"/>
                </a:solidFill>
                <a:latin typeface="Readex Pro" pitchFamily="34" charset="0"/>
                <a:ea typeface="Readex Pro" pitchFamily="34" charset="-122"/>
                <a:cs typeface="Readex Pro" pitchFamily="34" charset="-120"/>
              </a:rPr>
              <a:t>2</a:t>
            </a:r>
            <a:endParaRPr lang="en-US" sz="2300" dirty="0"/>
          </a:p>
        </p:txBody>
      </p:sp>
      <p:sp>
        <p:nvSpPr>
          <p:cNvPr id="13" name="Text 11"/>
          <p:cNvSpPr/>
          <p:nvPr/>
        </p:nvSpPr>
        <p:spPr>
          <a:xfrm>
            <a:off x="8307467" y="379952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Personalization</a:t>
            </a:r>
            <a:endParaRPr lang="en-US" sz="1950" dirty="0"/>
          </a:p>
        </p:txBody>
      </p:sp>
      <p:sp>
        <p:nvSpPr>
          <p:cNvPr id="14" name="Text 12"/>
          <p:cNvSpPr/>
          <p:nvPr/>
        </p:nvSpPr>
        <p:spPr>
          <a:xfrm>
            <a:off x="8307467" y="4228743"/>
            <a:ext cx="5529143"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AI assistants will learn user preferences, communication styles, and context over time, providing increasingly tailored responses and anticipating needs.</a:t>
            </a:r>
            <a:endParaRPr lang="en-US" sz="1550" dirty="0"/>
          </a:p>
        </p:txBody>
      </p:sp>
      <p:sp>
        <p:nvSpPr>
          <p:cNvPr id="15" name="Shape 13"/>
          <p:cNvSpPr/>
          <p:nvPr/>
        </p:nvSpPr>
        <p:spPr>
          <a:xfrm>
            <a:off x="6519505" y="4969431"/>
            <a:ext cx="595313" cy="22860"/>
          </a:xfrm>
          <a:prstGeom prst="roundRect">
            <a:avLst>
              <a:gd name="adj" fmla="val 781396"/>
            </a:avLst>
          </a:prstGeom>
          <a:solidFill>
            <a:srgbClr val="CCCCCC"/>
          </a:solidFill>
          <a:ln/>
        </p:spPr>
      </p:sp>
      <p:sp>
        <p:nvSpPr>
          <p:cNvPr id="16" name="Shape 14"/>
          <p:cNvSpPr/>
          <p:nvPr/>
        </p:nvSpPr>
        <p:spPr>
          <a:xfrm>
            <a:off x="7091958" y="4757618"/>
            <a:ext cx="446484" cy="446484"/>
          </a:xfrm>
          <a:prstGeom prst="roundRect">
            <a:avLst>
              <a:gd name="adj" fmla="val 4000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7" name="Text 15"/>
          <p:cNvSpPr/>
          <p:nvPr/>
        </p:nvSpPr>
        <p:spPr>
          <a:xfrm>
            <a:off x="7166372" y="4794825"/>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000000"/>
                </a:solidFill>
                <a:latin typeface="Readex Pro" pitchFamily="34" charset="0"/>
                <a:ea typeface="Readex Pro" pitchFamily="34" charset="-122"/>
                <a:cs typeface="Readex Pro" pitchFamily="34" charset="-120"/>
              </a:rPr>
              <a:t>3</a:t>
            </a:r>
            <a:endParaRPr lang="en-US" sz="2300" dirty="0"/>
          </a:p>
        </p:txBody>
      </p:sp>
      <p:sp>
        <p:nvSpPr>
          <p:cNvPr id="18" name="Text 16"/>
          <p:cNvSpPr/>
          <p:nvPr/>
        </p:nvSpPr>
        <p:spPr>
          <a:xfrm>
            <a:off x="3487460" y="4825841"/>
            <a:ext cx="2835473" cy="310158"/>
          </a:xfrm>
          <a:prstGeom prst="rect">
            <a:avLst/>
          </a:prstGeom>
          <a:noFill/>
          <a:ln/>
        </p:spPr>
        <p:txBody>
          <a:bodyPr wrap="none" lIns="0" tIns="0" rIns="0" bIns="0" rtlCol="0" anchor="t"/>
          <a:lstStyle/>
          <a:p>
            <a:pPr algn="r"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Real-Time Collaboration</a:t>
            </a:r>
            <a:endParaRPr lang="en-US" sz="1950" dirty="0"/>
          </a:p>
        </p:txBody>
      </p:sp>
      <p:sp>
        <p:nvSpPr>
          <p:cNvPr id="19" name="Text 17"/>
          <p:cNvSpPr/>
          <p:nvPr/>
        </p:nvSpPr>
        <p:spPr>
          <a:xfrm>
            <a:off x="793790" y="5255062"/>
            <a:ext cx="5529143" cy="952619"/>
          </a:xfrm>
          <a:prstGeom prst="rect">
            <a:avLst/>
          </a:prstGeom>
          <a:noFill/>
          <a:ln/>
        </p:spPr>
        <p:txBody>
          <a:bodyPr wrap="square" lIns="0" tIns="0" rIns="0" bIns="0" rtlCol="0" anchor="t"/>
          <a:lstStyle/>
          <a:p>
            <a:pPr algn="r"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Conversational interfaces will facilitate multi-user collaboration, with AI acting as mediator, note-taker, and contributor in group discussions.</a:t>
            </a:r>
            <a:endParaRPr lang="en-US" sz="1550" dirty="0"/>
          </a:p>
        </p:txBody>
      </p:sp>
      <p:sp>
        <p:nvSpPr>
          <p:cNvPr id="20" name="Shape 18"/>
          <p:cNvSpPr/>
          <p:nvPr/>
        </p:nvSpPr>
        <p:spPr>
          <a:xfrm>
            <a:off x="7515582" y="5995868"/>
            <a:ext cx="595313" cy="22860"/>
          </a:xfrm>
          <a:prstGeom prst="roundRect">
            <a:avLst>
              <a:gd name="adj" fmla="val 781396"/>
            </a:avLst>
          </a:prstGeom>
          <a:solidFill>
            <a:srgbClr val="CCCCCC"/>
          </a:solidFill>
          <a:ln/>
        </p:spPr>
      </p:sp>
      <p:sp>
        <p:nvSpPr>
          <p:cNvPr id="21" name="Shape 19"/>
          <p:cNvSpPr/>
          <p:nvPr/>
        </p:nvSpPr>
        <p:spPr>
          <a:xfrm>
            <a:off x="7091958" y="5784056"/>
            <a:ext cx="446484" cy="446484"/>
          </a:xfrm>
          <a:prstGeom prst="roundRect">
            <a:avLst>
              <a:gd name="adj" fmla="val 40008"/>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22" name="Text 20"/>
          <p:cNvSpPr/>
          <p:nvPr/>
        </p:nvSpPr>
        <p:spPr>
          <a:xfrm>
            <a:off x="7166372" y="5821263"/>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000000"/>
                </a:solidFill>
                <a:latin typeface="Readex Pro" pitchFamily="34" charset="0"/>
                <a:ea typeface="Readex Pro" pitchFamily="34" charset="-122"/>
                <a:cs typeface="Readex Pro" pitchFamily="34" charset="-120"/>
              </a:rPr>
              <a:t>4</a:t>
            </a:r>
            <a:endParaRPr lang="en-US" sz="2300" dirty="0"/>
          </a:p>
        </p:txBody>
      </p:sp>
      <p:sp>
        <p:nvSpPr>
          <p:cNvPr id="23" name="Text 21"/>
          <p:cNvSpPr/>
          <p:nvPr/>
        </p:nvSpPr>
        <p:spPr>
          <a:xfrm>
            <a:off x="8307467" y="5852279"/>
            <a:ext cx="2799517"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Embedded Intelligence</a:t>
            </a:r>
            <a:endParaRPr lang="en-US" sz="1950" dirty="0"/>
          </a:p>
        </p:txBody>
      </p:sp>
      <p:sp>
        <p:nvSpPr>
          <p:cNvPr id="24" name="Text 22"/>
          <p:cNvSpPr/>
          <p:nvPr/>
        </p:nvSpPr>
        <p:spPr>
          <a:xfrm>
            <a:off x="8307467" y="6281499"/>
            <a:ext cx="5529143"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Rather than standalone chatbots, conversational AI will be embedded throughout applications, providing contextual help wherever users need it.</a:t>
            </a:r>
            <a:endParaRPr lang="en-US" sz="15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793790" y="937974"/>
            <a:ext cx="3969425"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Key Takeaways</a:t>
            </a:r>
            <a:endParaRPr lang="en-US" sz="3100" dirty="0"/>
          </a:p>
        </p:txBody>
      </p:sp>
      <p:sp>
        <p:nvSpPr>
          <p:cNvPr id="3" name="Shape 1"/>
          <p:cNvSpPr/>
          <p:nvPr/>
        </p:nvSpPr>
        <p:spPr>
          <a:xfrm>
            <a:off x="793790" y="1830943"/>
            <a:ext cx="6422231" cy="1793796"/>
          </a:xfrm>
          <a:prstGeom prst="roundRect">
            <a:avLst>
              <a:gd name="adj" fmla="val 26555"/>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4" name="Text 2"/>
          <p:cNvSpPr/>
          <p:nvPr/>
        </p:nvSpPr>
        <p:spPr>
          <a:xfrm>
            <a:off x="999768" y="2036921"/>
            <a:ext cx="2596396"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Streaming is Essential</a:t>
            </a:r>
            <a:endParaRPr lang="en-US" sz="1950" dirty="0"/>
          </a:p>
        </p:txBody>
      </p:sp>
      <p:sp>
        <p:nvSpPr>
          <p:cNvPr id="5" name="Text 3"/>
          <p:cNvSpPr/>
          <p:nvPr/>
        </p:nvSpPr>
        <p:spPr>
          <a:xfrm>
            <a:off x="999768" y="2466142"/>
            <a:ext cx="6010275"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Real-time response streaming dramatically improves perceived performance and user engagement compared to waiting for complete responses</a:t>
            </a:r>
            <a:endParaRPr lang="en-US" sz="1550" dirty="0"/>
          </a:p>
        </p:txBody>
      </p:sp>
      <p:sp>
        <p:nvSpPr>
          <p:cNvPr id="6" name="Shape 4"/>
          <p:cNvSpPr/>
          <p:nvPr/>
        </p:nvSpPr>
        <p:spPr>
          <a:xfrm>
            <a:off x="7414379" y="1830943"/>
            <a:ext cx="6422231" cy="1793796"/>
          </a:xfrm>
          <a:prstGeom prst="roundRect">
            <a:avLst>
              <a:gd name="adj" fmla="val 26555"/>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7" name="Text 5"/>
          <p:cNvSpPr/>
          <p:nvPr/>
        </p:nvSpPr>
        <p:spPr>
          <a:xfrm>
            <a:off x="7620357" y="2036921"/>
            <a:ext cx="3208973"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State Management Matters</a:t>
            </a:r>
            <a:endParaRPr lang="en-US" sz="1950" dirty="0"/>
          </a:p>
        </p:txBody>
      </p:sp>
      <p:sp>
        <p:nvSpPr>
          <p:cNvPr id="8" name="Text 6"/>
          <p:cNvSpPr/>
          <p:nvPr/>
        </p:nvSpPr>
        <p:spPr>
          <a:xfrm>
            <a:off x="7620357" y="2466142"/>
            <a:ext cx="6010275"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Careful state structure and update patterns prevent common bugs like race conditions, stale closures, and unnecessary re-renders</a:t>
            </a:r>
            <a:endParaRPr lang="en-US" sz="1550" dirty="0"/>
          </a:p>
        </p:txBody>
      </p:sp>
      <p:sp>
        <p:nvSpPr>
          <p:cNvPr id="9" name="Shape 7"/>
          <p:cNvSpPr/>
          <p:nvPr/>
        </p:nvSpPr>
        <p:spPr>
          <a:xfrm>
            <a:off x="793790" y="3823097"/>
            <a:ext cx="6422231" cy="1793796"/>
          </a:xfrm>
          <a:prstGeom prst="roundRect">
            <a:avLst>
              <a:gd name="adj" fmla="val 26555"/>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0" name="Text 8"/>
          <p:cNvSpPr/>
          <p:nvPr/>
        </p:nvSpPr>
        <p:spPr>
          <a:xfrm>
            <a:off x="999768" y="4029075"/>
            <a:ext cx="3303270"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Tool Integration Adds Value</a:t>
            </a:r>
            <a:endParaRPr lang="en-US" sz="1950" dirty="0"/>
          </a:p>
        </p:txBody>
      </p:sp>
      <p:sp>
        <p:nvSpPr>
          <p:cNvPr id="11" name="Text 9"/>
          <p:cNvSpPr/>
          <p:nvPr/>
        </p:nvSpPr>
        <p:spPr>
          <a:xfrm>
            <a:off x="999768" y="4458295"/>
            <a:ext cx="6010275"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Augmenting LLMs with tools like search and maps transforms simple chatbots into capable AI assistants with real-world knowledge</a:t>
            </a:r>
            <a:endParaRPr lang="en-US" sz="1550" dirty="0"/>
          </a:p>
        </p:txBody>
      </p:sp>
      <p:sp>
        <p:nvSpPr>
          <p:cNvPr id="12" name="Shape 10"/>
          <p:cNvSpPr/>
          <p:nvPr/>
        </p:nvSpPr>
        <p:spPr>
          <a:xfrm>
            <a:off x="7414379" y="3823097"/>
            <a:ext cx="6422231" cy="1793796"/>
          </a:xfrm>
          <a:prstGeom prst="roundRect">
            <a:avLst>
              <a:gd name="adj" fmla="val 26555"/>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3" name="Text 11"/>
          <p:cNvSpPr/>
          <p:nvPr/>
        </p:nvSpPr>
        <p:spPr>
          <a:xfrm>
            <a:off x="7620357" y="402907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UX Details Matter</a:t>
            </a:r>
            <a:endParaRPr lang="en-US" sz="1950" dirty="0"/>
          </a:p>
        </p:txBody>
      </p:sp>
      <p:sp>
        <p:nvSpPr>
          <p:cNvPr id="14" name="Text 12"/>
          <p:cNvSpPr/>
          <p:nvPr/>
        </p:nvSpPr>
        <p:spPr>
          <a:xfrm>
            <a:off x="7620357" y="4458295"/>
            <a:ext cx="6010275" cy="95261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Loading indicators, smooth scrolling, error handling, and accessibility features separate professional implementations from prototypes</a:t>
            </a:r>
            <a:endParaRPr lang="en-US" sz="1550" dirty="0"/>
          </a:p>
        </p:txBody>
      </p:sp>
      <p:sp>
        <p:nvSpPr>
          <p:cNvPr id="15" name="Shape 13"/>
          <p:cNvSpPr/>
          <p:nvPr/>
        </p:nvSpPr>
        <p:spPr>
          <a:xfrm>
            <a:off x="793790" y="5815251"/>
            <a:ext cx="6422231" cy="1476256"/>
          </a:xfrm>
          <a:prstGeom prst="roundRect">
            <a:avLst>
              <a:gd name="adj" fmla="val 32267"/>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6" name="Text 14"/>
          <p:cNvSpPr/>
          <p:nvPr/>
        </p:nvSpPr>
        <p:spPr>
          <a:xfrm>
            <a:off x="999768" y="6021229"/>
            <a:ext cx="3914894"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Security Cannot Be Afterthought</a:t>
            </a:r>
            <a:endParaRPr lang="en-US" sz="1950" dirty="0"/>
          </a:p>
        </p:txBody>
      </p:sp>
      <p:sp>
        <p:nvSpPr>
          <p:cNvPr id="17" name="Text 15"/>
          <p:cNvSpPr/>
          <p:nvPr/>
        </p:nvSpPr>
        <p:spPr>
          <a:xfrm>
            <a:off x="999768" y="6450449"/>
            <a:ext cx="601027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Production deployments require backend proxying, rate limiting, input sanitization, and proper secret management</a:t>
            </a:r>
            <a:endParaRPr lang="en-US" sz="1550" dirty="0"/>
          </a:p>
        </p:txBody>
      </p:sp>
      <p:sp>
        <p:nvSpPr>
          <p:cNvPr id="18" name="Shape 16"/>
          <p:cNvSpPr/>
          <p:nvPr/>
        </p:nvSpPr>
        <p:spPr>
          <a:xfrm>
            <a:off x="7414379" y="5815251"/>
            <a:ext cx="6422231" cy="1476256"/>
          </a:xfrm>
          <a:prstGeom prst="roundRect">
            <a:avLst>
              <a:gd name="adj" fmla="val 32267"/>
            </a:avLst>
          </a:prstGeom>
          <a:solidFill>
            <a:srgbClr val="F3F3F3"/>
          </a:solidFill>
          <a:ln w="7620">
            <a:solidFill>
              <a:srgbClr val="CCCCCC"/>
            </a:solidFill>
            <a:prstDash val="solid"/>
          </a:ln>
          <a:effectLst>
            <a:outerShdw sx="100000" sy="100000" kx="0" ky="0" algn="bl" rotWithShape="0" blurRad="297180" dist="0" dir="0">
              <a:srgbClr val="333333">
                <a:alpha val="10000"/>
              </a:srgbClr>
            </a:outerShdw>
          </a:effectLst>
        </p:spPr>
      </p:sp>
      <p:sp>
        <p:nvSpPr>
          <p:cNvPr id="19" name="Text 17"/>
          <p:cNvSpPr/>
          <p:nvPr/>
        </p:nvSpPr>
        <p:spPr>
          <a:xfrm>
            <a:off x="7620357" y="6021229"/>
            <a:ext cx="3738563"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Readex Pro" pitchFamily="34" charset="0"/>
                <a:ea typeface="Readex Pro" pitchFamily="34" charset="-122"/>
                <a:cs typeface="Readex Pro" pitchFamily="34" charset="-120"/>
              </a:rPr>
              <a:t>Progressive Enhancement Wins</a:t>
            </a:r>
            <a:endParaRPr lang="en-US" sz="1950" dirty="0"/>
          </a:p>
        </p:txBody>
      </p:sp>
      <p:sp>
        <p:nvSpPr>
          <p:cNvPr id="20" name="Text 18"/>
          <p:cNvSpPr/>
          <p:nvPr/>
        </p:nvSpPr>
        <p:spPr>
          <a:xfrm>
            <a:off x="7620357" y="6450449"/>
            <a:ext cx="6010275"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Layer capabilities so core functionality works everywhere while enhanced features activate when available</a:t>
            </a:r>
            <a:endParaRPr lang="en-US" sz="15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793790" y="1332786"/>
            <a:ext cx="3969425" cy="496133"/>
          </a:xfrm>
          <a:prstGeom prst="rect">
            <a:avLst/>
          </a:prstGeom>
          <a:noFill/>
          <a:ln/>
        </p:spPr>
        <p:txBody>
          <a:bodyPr wrap="none" lIns="0" tIns="0" rIns="0" bIns="0" rtlCol="0" anchor="t"/>
          <a:lstStyle/>
          <a:p>
            <a:pPr algn="l" indent="0" marL="0">
              <a:lnSpc>
                <a:spcPts val="3900"/>
              </a:lnSpc>
              <a:buNone/>
            </a:pPr>
            <a:r>
              <a:rPr lang="en-US" sz="3100" dirty="0">
                <a:solidFill>
                  <a:srgbClr val="111111"/>
                </a:solidFill>
                <a:latin typeface="Readex Pro" pitchFamily="34" charset="0"/>
                <a:ea typeface="Readex Pro" pitchFamily="34" charset="-122"/>
                <a:cs typeface="Readex Pro" pitchFamily="34" charset="-120"/>
              </a:rPr>
              <a:t>Start Building Today</a:t>
            </a:r>
            <a:endParaRPr lang="en-US" sz="3100" dirty="0"/>
          </a:p>
        </p:txBody>
      </p:sp>
      <p:sp>
        <p:nvSpPr>
          <p:cNvPr id="3" name="Text 1"/>
          <p:cNvSpPr/>
          <p:nvPr/>
        </p:nvSpPr>
        <p:spPr>
          <a:xfrm>
            <a:off x="793790" y="222575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You now have a comprehensive understanding of building production-ready conversational interfaces with React and Gemini AI. This implementation provides a solid foundation, but remember that the best interfaces emerge through iteration and user feedback.</a:t>
            </a:r>
            <a:endParaRPr lang="en-US" sz="1550" dirty="0"/>
          </a:p>
        </p:txBody>
      </p:sp>
      <p:sp>
        <p:nvSpPr>
          <p:cNvPr id="4" name="Text 2"/>
          <p:cNvSpPr/>
          <p:nvPr/>
        </p:nvSpPr>
        <p:spPr>
          <a:xfrm>
            <a:off x="793790" y="328243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Next Steps</a:t>
            </a:r>
            <a:endParaRPr lang="en-US" sz="1950" dirty="0"/>
          </a:p>
        </p:txBody>
      </p:sp>
      <p:sp>
        <p:nvSpPr>
          <p:cNvPr id="5" name="Text 3"/>
          <p:cNvSpPr/>
          <p:nvPr/>
        </p:nvSpPr>
        <p:spPr>
          <a:xfrm>
            <a:off x="793790" y="3790950"/>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1"/>
            </a:pPr>
            <a:r>
              <a:rPr lang="en-US" sz="1550" dirty="0">
                <a:solidFill>
                  <a:srgbClr val="000000"/>
                </a:solidFill>
                <a:latin typeface="Readex Pro Light" pitchFamily="34" charset="0"/>
                <a:ea typeface="Readex Pro Light" pitchFamily="34" charset="-122"/>
                <a:cs typeface="Readex Pro Light" pitchFamily="34" charset="-120"/>
              </a:rPr>
              <a:t>Clone the implementation and customize for your use case</a:t>
            </a:r>
            <a:endParaRPr lang="en-US" sz="1550" dirty="0"/>
          </a:p>
        </p:txBody>
      </p:sp>
      <p:sp>
        <p:nvSpPr>
          <p:cNvPr id="6" name="Text 4"/>
          <p:cNvSpPr/>
          <p:nvPr/>
        </p:nvSpPr>
        <p:spPr>
          <a:xfrm>
            <a:off x="793790" y="4177903"/>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2"/>
            </a:pPr>
            <a:r>
              <a:rPr lang="en-US" sz="1550" dirty="0">
                <a:solidFill>
                  <a:srgbClr val="000000"/>
                </a:solidFill>
                <a:latin typeface="Readex Pro Light" pitchFamily="34" charset="0"/>
                <a:ea typeface="Readex Pro Light" pitchFamily="34" charset="-122"/>
                <a:cs typeface="Readex Pro Light" pitchFamily="34" charset="-120"/>
              </a:rPr>
              <a:t>Move API calls to a backend proxy for production security</a:t>
            </a:r>
            <a:endParaRPr lang="en-US" sz="1550" dirty="0"/>
          </a:p>
        </p:txBody>
      </p:sp>
      <p:sp>
        <p:nvSpPr>
          <p:cNvPr id="7" name="Text 5"/>
          <p:cNvSpPr/>
          <p:nvPr/>
        </p:nvSpPr>
        <p:spPr>
          <a:xfrm>
            <a:off x="793790" y="4564856"/>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3"/>
            </a:pPr>
            <a:r>
              <a:rPr lang="en-US" sz="1550" dirty="0">
                <a:solidFill>
                  <a:srgbClr val="000000"/>
                </a:solidFill>
                <a:latin typeface="Readex Pro Light" pitchFamily="34" charset="0"/>
                <a:ea typeface="Readex Pro Light" pitchFamily="34" charset="-122"/>
                <a:cs typeface="Readex Pro Light" pitchFamily="34" charset="-120"/>
              </a:rPr>
              <a:t>Add comprehensive testing coverage</a:t>
            </a:r>
            <a:endParaRPr lang="en-US" sz="1550" dirty="0"/>
          </a:p>
        </p:txBody>
      </p:sp>
      <p:sp>
        <p:nvSpPr>
          <p:cNvPr id="8" name="Text 6"/>
          <p:cNvSpPr/>
          <p:nvPr/>
        </p:nvSpPr>
        <p:spPr>
          <a:xfrm>
            <a:off x="793790" y="4951809"/>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4"/>
            </a:pPr>
            <a:r>
              <a:rPr lang="en-US" sz="1550" dirty="0">
                <a:solidFill>
                  <a:srgbClr val="000000"/>
                </a:solidFill>
                <a:latin typeface="Readex Pro Light" pitchFamily="34" charset="0"/>
                <a:ea typeface="Readex Pro Light" pitchFamily="34" charset="-122"/>
                <a:cs typeface="Readex Pro Light" pitchFamily="34" charset="-120"/>
              </a:rPr>
              <a:t>Implement conversation persistence</a:t>
            </a:r>
            <a:endParaRPr lang="en-US" sz="1550" dirty="0"/>
          </a:p>
        </p:txBody>
      </p:sp>
      <p:sp>
        <p:nvSpPr>
          <p:cNvPr id="9" name="Text 7"/>
          <p:cNvSpPr/>
          <p:nvPr/>
        </p:nvSpPr>
        <p:spPr>
          <a:xfrm>
            <a:off x="793790" y="5338763"/>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5"/>
            </a:pPr>
            <a:r>
              <a:rPr lang="en-US" sz="1550" dirty="0">
                <a:solidFill>
                  <a:srgbClr val="000000"/>
                </a:solidFill>
                <a:latin typeface="Readex Pro Light" pitchFamily="34" charset="0"/>
                <a:ea typeface="Readex Pro Light" pitchFamily="34" charset="-122"/>
                <a:cs typeface="Readex Pro Light" pitchFamily="34" charset="-120"/>
              </a:rPr>
              <a:t>Monitor real-world usage and iterate based on data</a:t>
            </a:r>
            <a:endParaRPr lang="en-US" sz="1550" dirty="0"/>
          </a:p>
        </p:txBody>
      </p:sp>
      <p:sp>
        <p:nvSpPr>
          <p:cNvPr id="10" name="Text 8"/>
          <p:cNvSpPr/>
          <p:nvPr/>
        </p:nvSpPr>
        <p:spPr>
          <a:xfrm>
            <a:off x="793790" y="5725716"/>
            <a:ext cx="6279356" cy="317540"/>
          </a:xfrm>
          <a:prstGeom prst="rect">
            <a:avLst/>
          </a:prstGeom>
          <a:noFill/>
          <a:ln/>
        </p:spPr>
        <p:txBody>
          <a:bodyPr wrap="none" lIns="0" tIns="0" rIns="0" bIns="0" rtlCol="0" anchor="t"/>
          <a:lstStyle/>
          <a:p>
            <a:pPr algn="l" marL="342900" indent="-342900">
              <a:lnSpc>
                <a:spcPts val="2500"/>
              </a:lnSpc>
              <a:buSzPct val="100000"/>
              <a:buFont typeface="+mj-lt"/>
              <a:buAutoNum type="arabicPeriod" startAt="6"/>
            </a:pPr>
            <a:r>
              <a:rPr lang="en-US" sz="1550" dirty="0">
                <a:solidFill>
                  <a:srgbClr val="000000"/>
                </a:solidFill>
                <a:latin typeface="Readex Pro Light" pitchFamily="34" charset="0"/>
                <a:ea typeface="Readex Pro Light" pitchFamily="34" charset="-122"/>
                <a:cs typeface="Readex Pro Light" pitchFamily="34" charset="-120"/>
              </a:rPr>
              <a:t>Explore advanced features like multimodal input</a:t>
            </a:r>
            <a:endParaRPr lang="en-US" sz="1550" dirty="0"/>
          </a:p>
        </p:txBody>
      </p:sp>
      <p:sp>
        <p:nvSpPr>
          <p:cNvPr id="11" name="Text 9"/>
          <p:cNvSpPr/>
          <p:nvPr/>
        </p:nvSpPr>
        <p:spPr>
          <a:xfrm>
            <a:off x="7564874" y="328243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11111"/>
                </a:solidFill>
                <a:latin typeface="Readex Pro" pitchFamily="34" charset="0"/>
                <a:ea typeface="Readex Pro" pitchFamily="34" charset="-122"/>
                <a:cs typeface="Readex Pro" pitchFamily="34" charset="-120"/>
              </a:rPr>
              <a:t>Resources</a:t>
            </a:r>
            <a:endParaRPr lang="en-US" sz="1950" dirty="0"/>
          </a:p>
        </p:txBody>
      </p:sp>
      <p:sp>
        <p:nvSpPr>
          <p:cNvPr id="12" name="Text 10"/>
          <p:cNvSpPr/>
          <p:nvPr/>
        </p:nvSpPr>
        <p:spPr>
          <a:xfrm>
            <a:off x="7564874" y="379095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Google AI documentation for latest API features</a:t>
            </a:r>
            <a:endParaRPr lang="en-US" sz="1550" dirty="0"/>
          </a:p>
        </p:txBody>
      </p:sp>
      <p:sp>
        <p:nvSpPr>
          <p:cNvPr id="13" name="Text 11"/>
          <p:cNvSpPr/>
          <p:nvPr/>
        </p:nvSpPr>
        <p:spPr>
          <a:xfrm>
            <a:off x="7564874" y="417790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React documentation for hooks and patterns</a:t>
            </a:r>
            <a:endParaRPr lang="en-US" sz="1550" dirty="0"/>
          </a:p>
        </p:txBody>
      </p:sp>
      <p:sp>
        <p:nvSpPr>
          <p:cNvPr id="14" name="Text 12"/>
          <p:cNvSpPr/>
          <p:nvPr/>
        </p:nvSpPr>
        <p:spPr>
          <a:xfrm>
            <a:off x="7564874" y="4564856"/>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Web Accessibility Initiative (WAI) guidelines</a:t>
            </a:r>
            <a:endParaRPr lang="en-US" sz="1550" dirty="0"/>
          </a:p>
        </p:txBody>
      </p:sp>
      <p:sp>
        <p:nvSpPr>
          <p:cNvPr id="15" name="Text 13"/>
          <p:cNvSpPr/>
          <p:nvPr/>
        </p:nvSpPr>
        <p:spPr>
          <a:xfrm>
            <a:off x="7564874" y="4951809"/>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Readex Pro Light" pitchFamily="34" charset="0"/>
                <a:ea typeface="Readex Pro Light" pitchFamily="34" charset="-122"/>
                <a:cs typeface="Readex Pro Light" pitchFamily="34" charset="-120"/>
              </a:rPr>
              <a:t>Your users—their feedback is invaluable</a:t>
            </a:r>
            <a:endParaRPr lang="en-US" sz="1550" dirty="0"/>
          </a:p>
        </p:txBody>
      </p:sp>
      <p:sp>
        <p:nvSpPr>
          <p:cNvPr id="16" name="Text 14"/>
          <p:cNvSpPr/>
          <p:nvPr/>
        </p:nvSpPr>
        <p:spPr>
          <a:xfrm>
            <a:off x="7564874" y="5447943"/>
            <a:ext cx="6279356" cy="127015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Readex Pro Light" pitchFamily="34" charset="0"/>
                <a:ea typeface="Readex Pro Light" pitchFamily="34" charset="-122"/>
                <a:cs typeface="Readex Pro Light" pitchFamily="34" charset="-120"/>
              </a:rPr>
              <a:t>The future of user interfaces is conversational. Start building experiences that feel natural, intelligent, and delightfully human. The tools are ready—now it's your turn to create something amazing.</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2025-11-16T06:50:16Z</dcterms:created>
  <dcterms:modified xsi:type="dcterms:W3CDTF">2025-11-16T06:50:16Z</dcterms:modified>
</cp:coreProperties>
</file>